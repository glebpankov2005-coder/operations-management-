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93e9eb4-9a7a-e34c-cfee-d14f4cb0de58}">
          <p14:sldIdLst>
            <p14:sldId id="256"/>
            <p14:sldId id="257"/>
            <p14:sldId id="258"/>
          </p14:sldIdLst>
        </p14:section>
        <p14:section name="Why change" id="{7a977bfc-5303-5959-b058-e424c88a058c}">
          <p14:sldIdLst>
            <p14:sldId id="259"/>
            <p14:sldId id="260"/>
          </p14:sldIdLst>
        </p14:section>
        <p14:section name="Our design" id="{17338a6b-f9d3-4e94-a867-ab9fbba12edd}">
          <p14:sldIdLst>
            <p14:sldId id="261"/>
            <p14:sldId id="262"/>
          </p14:sldIdLst>
        </p14:section>
        <p14:section name="Processes" id="{b2c85a5e-6ca1-abc6-6b0f-eb1d849a9cc0}">
          <p14:sldIdLst>
            <p14:sldId id="263"/>
            <p14:sldId id="264"/>
            <p14:sldId id="265"/>
            <p14:sldId id="266"/>
          </p14:sldIdLst>
        </p14:section>
        <p14:section name="Performance" id="{12bea77b-e088-20d1-a5c6-bb42905f3b0e}">
          <p14:sldIdLst>
            <p14:sldId id="267"/>
            <p14:sldId id="268"/>
          </p14:sldIdLst>
        </p14:section>
        <p14:section name="Next steps" id="{94a25da0-7272-cd8e-e180-acf197ecc76d}">
          <p14:sldIdLst>
            <p14:sldId id="269"/>
            <p14:sldId id="270"/>
          </p14:sldIdLst>
        </p14:section>
        <p14:section name="Backup" id="{9e78a19f-a3a9-a110-410a-f3ddd94fd7f3}">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Orders arriving</c:v>
                </c:pt>
              </c:strCache>
            </c:strRef>
          </c:tx>
          <c:spPr>
            <a:solidFill>
              <a:srgbClr val="9AA5B1"/>
            </a:solidFill>
            <a:effectLst/>
          </c:spPr>
          <c:invertIfNegative val="0"/>
          <c:dLbls>
            <c:numFmt formatCode="#,##0" sourceLinked="0"/>
            <c:txPr>
              <a:bodyPr/>
              <a:lstStyle/>
              <a:p>
                <a:pPr>
                  <a:defRPr b="0" i="0" strike="noStrike" sz="1200" u="none">
                    <a:solidFill>
                      <a:srgbClr val="1F2933"/>
                    </a:solidFill>
                    <a:latin typeface="+mn-lt"/>
                  </a:defRPr>
                </a:pPr>
              </a:p>
            </c:txPr>
            <c:showLegendKey val="0"/>
            <c:showVal val="0"/>
            <c:showCatName val="0"/>
            <c:showSerName val="0"/>
            <c:showPercent val="0"/>
            <c:showBubbleSize val="0"/>
            <c:showLeaderLines val="0"/>
          </c:dLbls>
          <c:cat>
            <c:multiLvlStrRef>
              <c:f>Sheet1!$A$2:$A$14</c:f>
              <c:multiLvlStrCache>
                <c:ptCount val="13"/>
                <c:lvl>
                  <c:pt idx="0">
                    <c:v>06</c:v>
                  </c:pt>
                  <c:pt idx="1">
                    <c:v>07</c:v>
                  </c:pt>
                  <c:pt idx="2">
                    <c:v>08</c:v>
                  </c:pt>
                  <c:pt idx="3">
                    <c:v>09</c:v>
                  </c:pt>
                  <c:pt idx="4">
                    <c:v>10</c:v>
                  </c:pt>
                  <c:pt idx="5">
                    <c:v>11</c:v>
                  </c:pt>
                  <c:pt idx="6">
                    <c:v>12</c:v>
                  </c:pt>
                  <c:pt idx="7">
                    <c:v>13</c:v>
                  </c:pt>
                  <c:pt idx="8">
                    <c:v>14</c:v>
                  </c:pt>
                  <c:pt idx="9">
                    <c:v>15</c:v>
                  </c:pt>
                  <c:pt idx="10">
                    <c:v>16</c:v>
                  </c:pt>
                  <c:pt idx="11">
                    <c:v>17</c:v>
                  </c:pt>
                  <c:pt idx="12">
                    <c:v>18</c:v>
                  </c:pt>
                </c:lvl>
              </c:multiLvlStrCache>
            </c:multiLvlStrRef>
          </c:cat>
          <c:val>
            <c:numRef>
              <c:f>Sheet1!$B$2:$B$14</c:f>
              <c:numCache>
                <c:formatCode>General</c:formatCode>
                <c:ptCount val="13"/>
                <c:pt idx="0">
                  <c:v>0.5</c:v>
                </c:pt>
                <c:pt idx="1">
                  <c:v>0.7</c:v>
                </c:pt>
                <c:pt idx="2">
                  <c:v>6.7</c:v>
                </c:pt>
                <c:pt idx="3">
                  <c:v>7.6</c:v>
                </c:pt>
                <c:pt idx="4">
                  <c:v>8.8</c:v>
                </c:pt>
                <c:pt idx="5">
                  <c:v>7.6</c:v>
                </c:pt>
                <c:pt idx="6">
                  <c:v>5.3</c:v>
                </c:pt>
                <c:pt idx="7">
                  <c:v>1.9</c:v>
                </c:pt>
                <c:pt idx="8">
                  <c:v>5.3</c:v>
                </c:pt>
                <c:pt idx="9">
                  <c:v>19.8</c:v>
                </c:pt>
                <c:pt idx="10">
                  <c:v>35.3</c:v>
                </c:pt>
                <c:pt idx="11">
                  <c:v>0.2</c:v>
                </c:pt>
                <c:pt idx="12">
                  <c:v>0</c:v>
                </c:pt>
              </c:numCache>
            </c:numRef>
          </c:val>
        </c:ser>
        <c:dLbls>
          <c:numFmt formatCode="#,##0" sourceLinked="0"/>
          <c:txPr>
            <a:bodyPr/>
            <a:lstStyle/>
            <a:p>
              <a:pPr>
                <a:defRPr b="0" i="0" strike="noStrike" sz="1200" u="none">
                  <a:solidFill>
                    <a:srgbClr val="1F2933"/>
                  </a:solidFill>
                  <a:latin typeface="+mn-lt"/>
                </a:defRPr>
              </a:pPr>
            </a:p>
          </c:txPr>
          <c:showLegendKey val="0"/>
          <c:showVal val="0"/>
          <c:showCatName val="0"/>
          <c:showSerName val="0"/>
          <c:showPercent val="0"/>
          <c:showBubbleSize val="0"/>
          <c:showLeaderLines val="0"/>
        </c:dLbls>
        <c:gapWidth val="35"/>
        <c:overlap val="0"/>
        <c:axId val="2094734554"/>
        <c:axId val="2094734552"/>
        <c:axId val="2094734556"/>
      </c:barChart>
      <c:lineChart>
        <c:varyColors val="0"/>
        <c:ser>
          <c:idx val="1"/>
          <c:order val="1"/>
          <c:tx>
            <c:strRef>
              <c:f>Sheet1!$C$1</c:f>
              <c:strCache>
                <c:ptCount val="1"/>
                <c:pt idx="0">
                  <c:v>Lines picked</c:v>
                </c:pt>
              </c:strCache>
            </c:strRef>
          </c:tx>
          <c:spPr>
            <a:solidFill>
              <a:srgbClr val="00857C"/>
            </a:solidFill>
            <a:ln w="38100" cap="flat">
              <a:solidFill>
                <a:srgbClr val="00857C"/>
              </a:solidFill>
              <a:prstDash val="solid"/>
              <a:round/>
            </a:ln>
            <a:effectLst/>
          </c:spPr>
          <c:invertIfNegative val="0"/>
          <c:dLbls>
            <c:numFmt formatCode="#,##0" sourceLinked="0"/>
            <c:txPr>
              <a:bodyPr/>
              <a:lstStyle/>
              <a:p>
                <a:pPr>
                  <a:defRPr b="0" i="0" strike="noStrike" sz="1200" u="none">
                    <a:solidFill>
                      <a:srgbClr val="1F2933"/>
                    </a:solidFill>
                    <a:latin typeface="+mn-lt"/>
                  </a:defRPr>
                </a:pPr>
              </a:p>
            </c:txPr>
            <c:showLegendKey val="0"/>
            <c:showVal val="0"/>
            <c:showCatName val="0"/>
            <c:showSerName val="0"/>
            <c:showPercent val="0"/>
            <c:showBubbleSize val="0"/>
            <c:showLeaderLines val="0"/>
          </c:dLbls>
          <c:marker>
            <c:symbol val="circle"/>
            <c:size val="7"/>
            <c:spPr>
              <a:solidFill>
                <a:srgbClr val="00857C"/>
              </a:solidFill>
              <a:ln w="9525" cap="flat">
                <a:solidFill>
                  <a:srgbClr val="00857C"/>
                </a:solidFill>
                <a:prstDash val="solid"/>
                <a:round/>
              </a:ln>
              <a:effectLst/>
            </c:spPr>
          </c:marker>
          <c:cat>
            <c:multiLvlStrRef>
              <c:f>Sheet1!$A$2:$A$14</c:f>
              <c:multiLvlStrCache>
                <c:ptCount val="13"/>
                <c:lvl>
                  <c:pt idx="0">
                    <c:v>06</c:v>
                  </c:pt>
                  <c:pt idx="1">
                    <c:v>07</c:v>
                  </c:pt>
                  <c:pt idx="2">
                    <c:v>08</c:v>
                  </c:pt>
                  <c:pt idx="3">
                    <c:v>09</c:v>
                  </c:pt>
                  <c:pt idx="4">
                    <c:v>10</c:v>
                  </c:pt>
                  <c:pt idx="5">
                    <c:v>11</c:v>
                  </c:pt>
                  <c:pt idx="6">
                    <c:v>12</c:v>
                  </c:pt>
                  <c:pt idx="7">
                    <c:v>13</c:v>
                  </c:pt>
                  <c:pt idx="8">
                    <c:v>14</c:v>
                  </c:pt>
                  <c:pt idx="9">
                    <c:v>15</c:v>
                  </c:pt>
                  <c:pt idx="10">
                    <c:v>16</c:v>
                  </c:pt>
                  <c:pt idx="11">
                    <c:v>17</c:v>
                  </c:pt>
                  <c:pt idx="12">
                    <c:v>18</c:v>
                  </c:pt>
                </c:lvl>
              </c:multiLvlStrCache>
            </c:multiLvlStrRef>
          </c:cat>
          <c:val>
            <c:numRef>
              <c:f>Sheet1!$C$2:$C$14</c:f>
              <c:numCache>
                <c:formatCode>General</c:formatCode>
                <c:ptCount val="13"/>
                <c:pt idx="0">
                  <c:v>7.1</c:v>
                </c:pt>
                <c:pt idx="1">
                  <c:v>11</c:v>
                </c:pt>
                <c:pt idx="2">
                  <c:v>14</c:v>
                </c:pt>
                <c:pt idx="3">
                  <c:v>12.4</c:v>
                </c:pt>
                <c:pt idx="4">
                  <c:v>10.6</c:v>
                </c:pt>
                <c:pt idx="5">
                  <c:v>8.7</c:v>
                </c:pt>
                <c:pt idx="6">
                  <c:v>12.3</c:v>
                </c:pt>
                <c:pt idx="7">
                  <c:v>10.7</c:v>
                </c:pt>
                <c:pt idx="8">
                  <c:v>9.2</c:v>
                </c:pt>
                <c:pt idx="9">
                  <c:v>3.8</c:v>
                </c:pt>
                <c:pt idx="10">
                  <c:v>0.2</c:v>
                </c:pt>
                <c:pt idx="11">
                  <c:v>0</c:v>
                </c:pt>
                <c:pt idx="12">
                  <c:v>0</c:v>
                </c:pt>
              </c:numCache>
            </c:numRef>
          </c:val>
          <c:smooth val="0"/>
        </c:ser>
        <c:dLbls>
          <c:numFmt formatCode="#,##0" sourceLinked="0"/>
          <c:txPr>
            <a:bodyPr/>
            <a:lstStyle/>
            <a:p>
              <a:pPr>
                <a:defRPr b="0" i="0" strike="noStrike" sz="1200" u="none">
                  <a:solidFill>
                    <a:srgbClr val="1F29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4A5563"/>
                    </a:solidFill>
                    <a:latin typeface="+mn-lt"/>
                  </a:defRPr>
                </a:pPr>
                <a:r>
                  <a:rPr sz="1100" b="0" i="0" u="none" strike="noStrike">
                    <a:solidFill>
                      <a:srgbClr val="4A5563"/>
                    </a:solidFill>
                    <a:latin typeface="+mn-lt"/>
                  </a:rPr>
                  <a:t>hour of the day</a:t>
                </a:r>
              </a:p>
            </c:rich>
          </c:tx>
          <c:layout/>
          <c:overlay val="0"/>
        </c:title>
        <c:numFmt formatCode="General" sourceLinked="1"/>
        <c:majorTickMark val="out"/>
        <c:minorTickMark val="none"/>
        <c:tickLblPos val="low"/>
        <c:spPr>
          <a:ln w="12700" cap="flat">
            <a:solidFill>
              <a:srgbClr val="9AA5B1"/>
            </a:solidFill>
            <a:prstDash val="solid"/>
            <a:round/>
          </a:ln>
        </c:spPr>
        <c:txPr>
          <a:bodyPr/>
          <a:lstStyle/>
          <a:p>
            <a:pPr>
              <a:defRPr sz="12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5E8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100" b="0" i="0" u="none" strike="noStrike">
                <a:solidFill>
                  <a:srgbClr val="4A5563"/>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4A55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Pallet places</c:v>
                </c:pt>
              </c:strCache>
            </c:strRef>
          </c:tx>
          <c:spPr>
            <a:solidFill>
              <a:srgbClr val="9AA5B1"/>
            </a:solidFill>
            <a:effectLst/>
          </c:spPr>
          <c:invertIfNegative val="0"/>
          <c:dLbls>
            <c:numFmt formatCode="#,##0" sourceLinked="0"/>
            <c:txPr>
              <a:bodyPr/>
              <a:lstStyle/>
              <a:p>
                <a:pPr>
                  <a:defRPr b="1" i="0" strike="noStrike" sz="14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9AA5B1"/>
              </a:solidFill>
              <a:effectLst/>
            </c:spPr>
          </c:dPt>
          <c:dPt>
            <c:idx val="1"/>
            <c:invertIfNegative val="0"/>
            <c:bubble3D val="0"/>
            <c:spPr>
              <a:solidFill>
                <a:srgbClr val="00857C"/>
              </a:solidFill>
              <a:effectLst/>
            </c:spPr>
          </c:dPt>
          <c:dPt>
            <c:idx val="2"/>
            <c:invertIfNegative val="0"/>
            <c:bubble3D val="0"/>
            <c:spPr>
              <a:solidFill>
                <a:srgbClr val="0B1F33"/>
              </a:solidFill>
              <a:effectLst/>
            </c:spPr>
          </c:dPt>
          <c:cat>
            <c:multiLvlStrRef>
              <c:f>Sheet1!$A$2:$A$4</c:f>
              <c:multiLvlStrCache>
                <c:ptCount val="3"/>
                <c:lvl>
                  <c:pt idx="0">
                    <c:v>Occupied today</c:v>
                  </c:pt>
                  <c:pt idx="1">
                    <c:v>Needed in our design</c:v>
                  </c:pt>
                  <c:pt idx="2">
                    <c:v>Rack places in our design</c:v>
                  </c:pt>
                </c:lvl>
              </c:multiLvlStrCache>
            </c:multiLvlStrRef>
          </c:cat>
          <c:val>
            <c:numRef>
              <c:f>Sheet1!$B$2:$B$4</c:f>
              <c:numCache>
                <c:formatCode>General</c:formatCode>
                <c:ptCount val="3"/>
                <c:pt idx="0">
                  <c:v>8512</c:v>
                </c:pt>
                <c:pt idx="1">
                  <c:v>7507</c:v>
                </c:pt>
                <c:pt idx="2">
                  <c:v>8960</c:v>
                </c:pt>
              </c:numCache>
            </c:numRef>
          </c:val>
        </c:ser>
        <c:dLbls>
          <c:numFmt formatCode="#,##0" sourceLinked="0"/>
          <c:txPr>
            <a:bodyPr/>
            <a:lstStyle/>
            <a:p>
              <a:pPr>
                <a:defRPr b="1" i="0" strike="noStrike" sz="1400" u="none">
                  <a:solidFill>
                    <a:srgbClr val="1F2933"/>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5B1"/>
            </a:solidFill>
            <a:prstDash val="solid"/>
            <a:round/>
          </a:ln>
        </c:spPr>
        <c:txPr>
          <a:bodyPr/>
          <a:lstStyle/>
          <a:p>
            <a:pPr>
              <a:defRPr sz="11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0500"/>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4A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Picking work</c:v>
                </c:pt>
              </c:strCache>
            </c:strRef>
          </c:tx>
          <c:spPr>
            <a:solidFill>
              <a:srgbClr val="0B1F33"/>
            </a:solidFill>
            <a:effectLst/>
          </c:spPr>
          <c:invertIfNegative val="0"/>
          <c:dLbls>
            <c:numFmt formatCode="0.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Today: 31.1 h</c:v>
                  </c:pt>
                  <c:pt idx="1">
                    <c:v>Our design: 11.7 h</c:v>
                  </c:pt>
                </c:lvl>
              </c:multiLvlStrCache>
            </c:multiLvlStrRef>
          </c:cat>
          <c:val>
            <c:numRef>
              <c:f>Sheet1!$B$2:$B$3</c:f>
              <c:numCache>
                <c:formatCode>General</c:formatCode>
                <c:ptCount val="2"/>
                <c:pt idx="0">
                  <c:v>23.773</c:v>
                </c:pt>
                <c:pt idx="1">
                  <c:v>11.7</c:v>
                </c:pt>
              </c:numCache>
            </c:numRef>
          </c:val>
        </c:ser>
        <c:ser>
          <c:idx val="1"/>
          <c:order val="1"/>
          <c:tx>
            <c:strRef>
              <c:f>Sheet1!$C$1</c:f>
              <c:strCache>
                <c:ptCount val="1"/>
                <c:pt idx="0">
                  <c:v>Extra staff for the 08:00 peak</c:v>
                </c:pt>
              </c:strCache>
            </c:strRef>
          </c:tx>
          <c:spPr>
            <a:solidFill>
              <a:srgbClr val="D9480F"/>
            </a:solidFill>
            <a:effectLst/>
          </c:spPr>
          <c:invertIfNegative val="0"/>
          <c:dLbls>
            <c:numFmt formatCode="0.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Today: 31.1 h</c:v>
                  </c:pt>
                  <c:pt idx="1">
                    <c:v>Our design: 11.7 h</c:v>
                  </c:pt>
                </c:lvl>
              </c:multiLvlStrCache>
            </c:multiLvlStrRef>
          </c:cat>
          <c:val>
            <c:numRef>
              <c:f>Sheet1!$C$2:$C$3</c:f>
              <c:numCache>
                <c:formatCode>General</c:formatCode>
                <c:ptCount val="2"/>
                <c:pt idx="0">
                  <c:v>7.370000000000001</c:v>
                </c:pt>
                <c:pt idx="1">
                  <c:v>0</c:v>
                </c:pt>
              </c:numCache>
            </c:numRef>
          </c:val>
        </c:ser>
        <c:dLbls>
          <c:numFmt formatCode="0.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5B1"/>
            </a:solidFill>
            <a:prstDash val="solid"/>
            <a:round/>
          </a:ln>
        </c:spPr>
        <c:txPr>
          <a:bodyPr/>
          <a:lstStyle/>
          <a:p>
            <a:pPr>
              <a:defRPr sz="13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5E8E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4A5563"/>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4A55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9AA5B1"/>
            </a:solidFill>
            <a:effectLst/>
          </c:spPr>
          <c:invertIfNegative val="0"/>
          <c:dLbls>
            <c:numFmt formatCode="0&quot;%&quot;" sourceLinked="0"/>
            <c:txPr>
              <a:bodyPr/>
              <a:lstStyle/>
              <a:p>
                <a:pPr>
                  <a:defRPr b="1" i="0" strike="noStrike" sz="1300" u="none">
                    <a:solidFill>
                      <a:srgbClr val="1F2933"/>
                    </a:solidFill>
                    <a:latin typeface="+mn-lt"/>
                  </a:defRPr>
                </a:pPr>
              </a:p>
            </c:txPr>
            <c:showLegendKey val="0"/>
            <c:showVal val="1"/>
            <c:showCatName val="0"/>
            <c:showSerName val="0"/>
            <c:showPercent val="0"/>
            <c:showBubbleSize val="0"/>
            <c:showLeaderLines val="0"/>
          </c:dLbls>
          <c:cat>
            <c:multiLvlStrRef>
              <c:f>Sheet1!$A$2:$A$3</c:f>
              <c:multiLvlStrCache>
                <c:ptCount val="2"/>
                <c:lvl>
                  <c:pt idx="0">
                    <c:v>Orders out within 24 h</c:v>
                  </c:pt>
                  <c:pt idx="1">
                    <c:v>Lines staged on time</c:v>
                  </c:pt>
                </c:lvl>
              </c:multiLvlStrCache>
            </c:multiLvlStrRef>
          </c:cat>
          <c:val>
            <c:numRef>
              <c:f>Sheet1!$B$2:$B$3</c:f>
              <c:numCache>
                <c:formatCode>General</c:formatCode>
                <c:ptCount val="2"/>
                <c:pt idx="0">
                  <c:v>37</c:v>
                </c:pt>
                <c:pt idx="1">
                  <c:v>49.9</c:v>
                </c:pt>
              </c:numCache>
            </c:numRef>
          </c:val>
        </c:ser>
        <c:ser>
          <c:idx val="1"/>
          <c:order val="1"/>
          <c:tx>
            <c:strRef>
              <c:f>Sheet1!$C$1</c:f>
              <c:strCache>
                <c:ptCount val="1"/>
                <c:pt idx="0">
                  <c:v>Our design</c:v>
                </c:pt>
              </c:strCache>
            </c:strRef>
          </c:tx>
          <c:spPr>
            <a:solidFill>
              <a:srgbClr val="00857C"/>
            </a:solidFill>
            <a:effectLst/>
          </c:spPr>
          <c:invertIfNegative val="0"/>
          <c:dLbls>
            <c:numFmt formatCode="0&quot;%&quot;" sourceLinked="0"/>
            <c:txPr>
              <a:bodyPr/>
              <a:lstStyle/>
              <a:p>
                <a:pPr>
                  <a:defRPr b="1" i="0" strike="noStrike" sz="1300" u="none">
                    <a:solidFill>
                      <a:srgbClr val="1F2933"/>
                    </a:solidFill>
                    <a:latin typeface="+mn-lt"/>
                  </a:defRPr>
                </a:pPr>
              </a:p>
            </c:txPr>
            <c:showLegendKey val="0"/>
            <c:showVal val="1"/>
            <c:showCatName val="0"/>
            <c:showSerName val="0"/>
            <c:showPercent val="0"/>
            <c:showBubbleSize val="0"/>
            <c:showLeaderLines val="0"/>
          </c:dLbls>
          <c:cat>
            <c:multiLvlStrRef>
              <c:f>Sheet1!$A$2:$A$3</c:f>
              <c:multiLvlStrCache>
                <c:ptCount val="2"/>
                <c:lvl>
                  <c:pt idx="0">
                    <c:v>Orders out within 24 h</c:v>
                  </c:pt>
                  <c:pt idx="1">
                    <c:v>Lines staged on time</c:v>
                  </c:pt>
                </c:lvl>
              </c:multiLvlStrCache>
            </c:multiLvlStrRef>
          </c:cat>
          <c:val>
            <c:numRef>
              <c:f>Sheet1!$C$2:$C$3</c:f>
              <c:numCache>
                <c:formatCode>General</c:formatCode>
                <c:ptCount val="2"/>
                <c:pt idx="0">
                  <c:v>65</c:v>
                </c:pt>
                <c:pt idx="1">
                  <c:v>98</c:v>
                </c:pt>
              </c:numCache>
            </c:numRef>
          </c:val>
        </c:ser>
        <c:dLbls>
          <c:numFmt formatCode="0&quot;%&quot;" sourceLinked="0"/>
          <c:txPr>
            <a:bodyPr/>
            <a:lstStyle/>
            <a:p>
              <a:pPr>
                <a:defRPr b="1" i="0" strike="noStrike" sz="13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5B1"/>
            </a:solidFill>
            <a:prstDash val="solid"/>
            <a:round/>
          </a:ln>
        </c:spPr>
        <c:txPr>
          <a:bodyPr/>
          <a:lstStyle/>
          <a:p>
            <a:pPr>
              <a:defRPr sz="12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4A5563"/>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4A55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CAPEX</c:v>
                </c:pt>
              </c:strCache>
            </c:strRef>
          </c:tx>
          <c:spPr>
            <a:solidFill>
              <a:srgbClr val="0B1F33"/>
            </a:solidFill>
            <a:effectLst/>
          </c:spPr>
          <c:invertIfNegative val="0"/>
          <c:dLbls>
            <c:numFmt formatCode="&quot;€&quot;#,##0&quot;k&quot;" sourceLinked="0"/>
            <c:txPr>
              <a:bodyPr/>
              <a:lstStyle/>
              <a:p>
                <a:pPr>
                  <a:defRPr b="0"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0B1F33"/>
              </a:solidFill>
              <a:effectLst/>
            </c:spPr>
          </c:dPt>
          <c:dPt>
            <c:idx val="1"/>
            <c:invertIfNegative val="0"/>
            <c:bubble3D val="0"/>
            <c:spPr>
              <a:solidFill>
                <a:srgbClr val="9AA5B1"/>
              </a:solidFill>
              <a:effectLst/>
            </c:spPr>
          </c:dPt>
          <c:dPt>
            <c:idx val="2"/>
            <c:invertIfNegative val="0"/>
            <c:bubble3D val="0"/>
            <c:spPr>
              <a:solidFill>
                <a:srgbClr val="9AA5B1"/>
              </a:solidFill>
              <a:effectLst/>
            </c:spPr>
          </c:dPt>
          <c:dPt>
            <c:idx val="3"/>
            <c:invertIfNegative val="0"/>
            <c:bubble3D val="0"/>
            <c:spPr>
              <a:solidFill>
                <a:srgbClr val="9AA5B1"/>
              </a:solidFill>
              <a:effectLst/>
            </c:spPr>
          </c:dPt>
          <c:dPt>
            <c:idx val="4"/>
            <c:invertIfNegative val="0"/>
            <c:bubble3D val="0"/>
            <c:spPr>
              <a:solidFill>
                <a:srgbClr val="9AA5B1"/>
              </a:solidFill>
              <a:effectLst/>
            </c:spPr>
          </c:dPt>
          <c:dPt>
            <c:idx val="5"/>
            <c:invertIfNegative val="0"/>
            <c:bubble3D val="0"/>
            <c:spPr>
              <a:solidFill>
                <a:srgbClr val="9AA5B1"/>
              </a:solidFill>
              <a:effectLst/>
            </c:spPr>
          </c:dPt>
          <c:dPt>
            <c:idx val="6"/>
            <c:invertIfNegative val="0"/>
            <c:bubble3D val="0"/>
            <c:spPr>
              <a:solidFill>
                <a:srgbClr val="9AA5B1"/>
              </a:solidFill>
              <a:effectLst/>
            </c:spPr>
          </c:dPt>
          <c:dPt>
            <c:idx val="7"/>
            <c:invertIfNegative val="0"/>
            <c:bubble3D val="0"/>
            <c:spPr>
              <a:solidFill>
                <a:srgbClr val="9AA5B1"/>
              </a:solidFill>
              <a:effectLst/>
            </c:spPr>
          </c:dPt>
          <c:cat>
            <c:multiLvlStrRef>
              <c:f>Sheet1!$A$2:$A$9</c:f>
              <c:multiLvlStrCache>
                <c:ptCount val="8"/>
                <c:lvl>
                  <c:pt idx="0">
                    <c:v>Storage racks</c:v>
                  </c:pt>
                  <c:pt idx="1">
                    <c:v>Contingency</c:v>
                  </c:pt>
                  <c:pt idx="2">
                    <c:v>Small-item storage</c:v>
                  </c:pt>
                  <c:pt idx="3">
                    <c:v>Picking</c:v>
                  </c:pt>
                  <c:pt idx="4">
                    <c:v>Sorting &amp; packing</c:v>
                  </c:pt>
                  <c:pt idx="5">
                    <c:v>IT</c:v>
                  </c:pt>
                  <c:pt idx="6">
                    <c:v>One-off (moving, training)</c:v>
                  </c:pt>
                  <c:pt idx="7">
                    <c:v>Container zone</c:v>
                  </c:pt>
                </c:lvl>
              </c:multiLvlStrCache>
            </c:multiLvlStrRef>
          </c:cat>
          <c:val>
            <c:numRef>
              <c:f>Sheet1!$B$2:$B$9</c:f>
              <c:numCache>
                <c:formatCode>General</c:formatCode>
                <c:ptCount val="8"/>
                <c:pt idx="0">
                  <c:v>1233</c:v>
                </c:pt>
                <c:pt idx="1">
                  <c:v>148</c:v>
                </c:pt>
                <c:pt idx="2">
                  <c:v>69</c:v>
                </c:pt>
                <c:pt idx="3">
                  <c:v>66</c:v>
                </c:pt>
                <c:pt idx="4">
                  <c:v>50</c:v>
                </c:pt>
                <c:pt idx="5">
                  <c:v>46</c:v>
                </c:pt>
                <c:pt idx="6">
                  <c:v>11</c:v>
                </c:pt>
                <c:pt idx="7">
                  <c:v>6</c:v>
                </c:pt>
              </c:numCache>
            </c:numRef>
          </c:val>
        </c:ser>
        <c:dLbls>
          <c:numFmt formatCode="&quot;€&quot;#,##0&quot;k&quot;" sourceLinked="0"/>
          <c:txPr>
            <a:bodyPr/>
            <a:lstStyle/>
            <a:p>
              <a:pPr>
                <a:defRPr b="0" i="0" strike="noStrike" sz="1200" u="none">
                  <a:solidFill>
                    <a:srgbClr val="1F29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9AA5B1"/>
            </a:solidFill>
            <a:prstDash val="solid"/>
            <a:round/>
          </a:ln>
        </c:spPr>
        <c:txPr>
          <a:bodyPr/>
          <a:lstStyle/>
          <a:p>
            <a:pPr>
              <a:defRPr sz="12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500"/>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4A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0:10
Good morning. We are Group 3. In the next fifteen minutes we show how we would redesign the Assa Abloy warehouse that DHL runs in Bemmel. Each of us owns one process — Vidhi receiving, me storage, Arnau picking and Rachel shipping — and each of us presents their own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0:50
Our answer in one slide. Today about 640 order lines a day go out, but all orders are released at once in the evening, so the floor is overloaded at eight in the morning and only half of the lines are staged on time. We redesigned the warehouse around the flow: a fast-pick area, batch picking, a put-to-light wall and three waves planned backwards from fixed trailer departures. In our model 65% of orders leave within 24 hours instead of 37%, and picking needs about 12 instead of 31 hours a day. The main open risk is storage headroom, which I come back to in the storage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0:20
We follow the goods through the building. Arnau starts with why the operation has to change. Vidhi explains the design choice and the layout, then each owner presents their own process in the order the goods move: receiving, storage, picking and shipping. Rachel closes with the KPIs and the cost, and I end with the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Arnau (Picking)  ·  about 0:50
First, what kind of operation this is, using the four V's from Slack. Volume is medium: about 640 order lines and 144 orders a day. Variety is high: 4,354 different items, from small parts to two-metre long goods, and 138 hazardous items. Variation is high: the busiest day has 1.8 times the lines of an average day, and stock grows about 16% per quarter. Visibility is low: customers only see whether the order arrives complete and on time. So the right process is people-based with simple technology, not full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Arnau (Picking)  ·  about 1:10
This chart is the core of the problem. The grey bars show when orders arrive: 55% come in between three and five in the afternoon. They are all released in one go in the evening, so the green line — picking — peaks at eight the next morning. That one habit drives three large gaps: only 49.9% of lines are staged on time, only 37% of orders leave within 24 hours, and in our model about 31 picker-hours are needed because staff is planned for the peak and every tour picks one order. Two medium gaps: slotting matches demand for only half of the items, and the racks are almost full. Vidhi now shows how we chose our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Vidhi (Receiving)  ·  about 0:50
We built three complete options. A improves today's concept and is cheapest, but keeps long walks and needs the most space. B, hybrid density, combines single-deep racks with a fast-pick area, batch picking and a put-to-light wall. C adds automated storage: dense and low on labour, but expensive, complex and less flexible. On our seven weighted criteria B scores 3.75, just ahead of C. We checked the weights: when cost matters most B leads clearly; only if space were the only thing that counts would C win. So we chose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Vidhi (Receiving)  ·  about 1:10
This is the layout, drawn to scale, and the route of one order line. Goods come in on the west wall: pallet trailers at doors R2 and R3, step 1, and loose containers at R1, step C. The reach truck puts the pallets away in the single-deep racks, step 2, and refills the fast-pick row along the south wall from behind, step 3. Pickers work that row and bring the goods to packing, steps 4 and 5, and the orders wait in the lane of their shipping door on the east wall, step 6. Everything moves one way, and the whole design uses 6,731 square metres, 96% of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Vidhi (Receiving)  ·  about 1:10
Receiving handles about 99 loads a day, and 41% of them come loose in containers from Asia. The key idea is to keep the two apart. Pallet trailers dock at R2 and R3: the pallets are unloaded into a lane, checked and scanned at the bench, and collected by the reach truck at the pick-up point — letters A to D. Containers dock at R1: the cartons roll out on a conveyor and two people build 12 pallets at once, one per item, then wrap and label them — F to I. 91% of containers fit this zone; on the few big-container days we lend half of the R2 area, E, which covers 97%. Gleb takes over once the pallet is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1:40
Storage has two jobs: keep every pallet and keep the pick faces full. At the June peak 8,512 pallet places were in use. We move 2,657 small, slow items to bin shelving, which frees 1,005 places, so the design needs 7,507 of its 8,960 places — 84% full. All racks are single-deep, so every pallet can be reached without moving another, and each pallet gets its place by demand. The fast-pick area is refilled from behind, so the reach truck and the pickers never share an aisle. The honest risk: stock grew about 16% in one quarter. At that rate the racks are full in about 4 months, so dead stock — 21% of loads are older than a year — has to go, and a 12th rack module is 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Arnau (Picking)  ·  about 1:30
Today picking is the biggest block of labour. In our model it takes about 31.1 picker-hours a day: 23.8 hours of work, because every tour picks one order across the whole building, plus 7.4 hours of extra staff for the eight o'clock peak. Our design needs 11.7 hours. Four changes do this. Orders are split by size: 84% are small and go on a trolley, large ones go straight onto a pallet. The 1,409 best-sellers sit in the fast-pick row, where 71% of lines are picked. One tour picks for many orders, and the put-to-light wall sorts them and checks every item. And the work is released in three waves instead of one evening dump. These times are modelled, so measuring them is one of our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Rachel (Shipping)  ·  about 1:10
Shipping turns the whole day into one plan. Each carrier gets fixed departure slots and a door — 14 trailers a day — and the waves are planned backwards from those times, so every wave ends at least 45 minutes before its trailers leave. Orders that arrive before noon go in the third wave and leave the same day. The effect: 65% of orders leave within 24 hours instead of 37%, and the slowest ten percent drop from 102 to 70 hours. The docks also calm down: today up to 15 trailers stand parked; with time slots at most 4 of our 5 doors are busy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Rachel (Shipping)  ·  about 0:50
To know whether the design works, we measure it. These nine KPIs cover the five performance objectives from Slack, and each one has an owner who checks it every morning. The service KPIs are mine; Vidhi owns dock-to-stock and the container zone, Arnau pick accuracy and the fast-pick hit rate, and Gleb the racks. In the design every KPI meets its target except one: storage headroom. 4 months is far below the twelve we want, which is why it is our first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Rachel (Shipping)  ·  about 1:10
The full fit-out costs €1.63M. Most of it, €1233k, is new racking for all 8,960 places; the rest is the fast-pick area, picking and packing equipment, IT and a 10% contingency. The process changes themselves cost only €0.16M and save about €101k of labour a year, so they pay back in about 1.6 years. Running the warehouse costs about €342k a year, 85% of it labour, or €3.09 per order line. The racking is the big decision for DHL: re-using today's racks brings the investment down to €0.52M. These are benchmark prices, so quotes are a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0:40
To close, four open points, each with an owner. First, stock growth: I will clear dead stock with Assa Abloy and keep the 12th rack module ready. Second, Arnau measures the real pick times on the floor. Third, Rachel replaces our benchmark prices with supplier quotes. Fourth, Vidhi confirms the hazard class of 138 items, which sets the size of the hazmat section. From DHL we need two answers: the 7,000 square metre scope and whether the carriers accept fixed slots. Thank you —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All  ·  about Q&amp;A
Each owner answers questions about their own process. Backup slides: planning and control, equipment and stress test,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Backup  ·  about -
Use if asked how the design is planned and controlled day to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Backup  ·  about -
Use if asked about equipment, utilisation or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Backup  ·  about -
All sources used on the slides; the full list is in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Shape 0"/>
          <p:cNvSpPr/>
          <p:nvPr/>
        </p:nvSpPr>
        <p:spPr>
          <a:xfrm>
            <a:off x="731520" y="1609344"/>
            <a:ext cx="128016" cy="128016"/>
          </a:xfrm>
          <a:prstGeom prst="rect">
            <a:avLst/>
          </a:prstGeom>
          <a:solidFill>
            <a:schemeClr val="accent1"/>
          </a:solidFill>
          <a:ln/>
        </p:spPr>
      </p:sp>
      <p:sp>
        <p:nvSpPr>
          <p:cNvPr id="3" name="Text 1"/>
          <p:cNvSpPr/>
          <p:nvPr>
            <p:ph idx="101" type="body" hasCustomPrompt="1"/>
          </p:nvPr>
        </p:nvSpPr>
        <p:spPr>
          <a:xfrm>
            <a:off x="987552" y="1481328"/>
            <a:ext cx="10058400" cy="384048"/>
          </a:xfrm>
          <a:prstGeom prst="rect">
            <a:avLst/>
          </a:prstGeom>
          <a:noFill/>
          <a:ln/>
        </p:spPr>
        <p:txBody>
          <a:bodyPr wrap="square" rtlCol="0"/>
          <a:lstStyle>
            <a:lvl1pPr indent="0" marL="0">
              <a:buNone/>
              <a:defRPr lang="en-US" sz="1200" b="1" spc="200" kern="0" dirty="0">
                <a:solidFill>
                  <a:schemeClr val="accent6"/>
                </a:solidFill>
              </a:defRPr>
            </a:lvl1pPr>
          </a:lstStyle>
          <a:p>
            <a:pPr indent="0" marL="0">
              <a:buNone/>
            </a:pPr>
            <a:endParaRPr lang="en-US" sz="1200" dirty="0"/>
          </a:p>
        </p:txBody>
      </p:sp>
      <p:sp>
        <p:nvSpPr>
          <p:cNvPr id="4" name="Text 1"/>
          <p:cNvSpPr/>
          <p:nvPr>
            <p:ph idx="102" type="title" hasCustomPrompt="1"/>
          </p:nvPr>
        </p:nvSpPr>
        <p:spPr>
          <a:xfrm>
            <a:off x="731520" y="2011680"/>
            <a:ext cx="10241280" cy="17830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5" name="Text 1"/>
          <p:cNvSpPr/>
          <p:nvPr>
            <p:ph idx="103" type="body" hasCustomPrompt="1"/>
          </p:nvPr>
        </p:nvSpPr>
        <p:spPr>
          <a:xfrm>
            <a:off x="731520" y="3886200"/>
            <a:ext cx="9692640" cy="82296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6" name="Text 1"/>
          <p:cNvSpPr/>
          <p:nvPr>
            <p:ph idx="104" type="body" hasCustomPrompt="1"/>
          </p:nvPr>
        </p:nvSpPr>
        <p:spPr>
          <a:xfrm>
            <a:off x="731520" y="5440680"/>
            <a:ext cx="10698480" cy="731520"/>
          </a:xfrm>
          <a:prstGeom prst="rect">
            <a:avLst/>
          </a:prstGeom>
          <a:noFill/>
          <a:ln/>
        </p:spPr>
        <p:txBody>
          <a:bodyPr wrap="square" rtlCol="0"/>
          <a:lstStyle>
            <a:lvl1pPr indent="0" marL="0">
              <a:buNone/>
              <a:defRPr lang="en-US" sz="1200" dirty="0">
                <a:solidFill>
                  <a:schemeClr val="accent3"/>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rtlCol="0"/>
          <a:lstStyle>
            <a:lvl1pPr indent="0" marL="0">
              <a:buNone/>
              <a:defRPr lang="en-US" sz="900" spc="100" kern="0" dirty="0">
                <a:solidFill>
                  <a:schemeClr val="accent3"/>
                </a:solidFill>
              </a:defRPr>
            </a:lvl1pPr>
          </a:lstStyle>
          <a:p>
            <a:pPr indent="0" marL="0">
              <a:buNone/>
            </a:pP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rtlCol="0"/>
          <a:lstStyle>
            <a:lvl1pPr indent="0" marL="0">
              <a:buNone/>
              <a:defRPr lang="en-US" sz="900" dirty="0">
                <a:solidFill>
                  <a:schemeClr val="accent2"/>
                </a:solidFill>
              </a:defRPr>
            </a:lvl1pPr>
          </a:lstStyle>
          <a:p>
            <a:pPr indent="0" marL="0">
              <a:buNone/>
            </a:pPr>
            <a:endParaRPr lang="en-US" sz="900" dirty="0"/>
          </a:p>
        </p:txBody>
      </p:sp>
      <p:sp>
        <p:nvSpPr>
          <p:cNvPr id="5" name="Text 0"/>
          <p:cNvSpPr/>
          <p:nvPr/>
        </p:nvSpPr>
        <p:spPr>
          <a:xfrm>
            <a:off x="9418320" y="6400800"/>
            <a:ext cx="1828800" cy="182880"/>
          </a:xfrm>
          <a:prstGeom prst="rect">
            <a:avLst/>
          </a:prstGeom>
          <a:noFill/>
          <a:ln/>
        </p:spPr>
        <p:txBody>
          <a:bodyPr wrap="square" lIns="0" tIns="0" rIns="0" bIns="0" rtlCol="0" anchor="t"/>
          <a:lstStyle/>
          <a:p>
            <a:pPr algn="r" indent="0" marL="0">
              <a:buNone/>
            </a:pPr>
            <a:r>
              <a:rPr lang="en-US" sz="900" dirty="0">
                <a:solidFill>
                  <a:schemeClr val="accent3"/>
                </a:solidFill>
              </a:rPr>
              <a:t>Project OTM · Group 3</a:t>
            </a:r>
            <a:endParaRPr lang="en-US" sz="9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rtlCol="0"/>
          <a:lstStyle>
            <a:lvl1pPr indent="0" marL="0">
              <a:buNone/>
              <a:defRPr lang="en-US" sz="900" spc="100" kern="0" dirty="0">
                <a:solidFill>
                  <a:schemeClr val="accent3"/>
                </a:solidFill>
              </a:defRPr>
            </a:lvl1pPr>
          </a:lstStyle>
          <a:p>
            <a:pPr indent="0" marL="0">
              <a:buNone/>
            </a:pP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rtlCol="0"/>
          <a:lstStyle>
            <a:lvl1pPr indent="0" marL="0">
              <a:buNone/>
              <a:defRPr lang="en-US" sz="900" dirty="0">
                <a:solidFill>
                  <a:schemeClr val="accent2"/>
                </a:solidFill>
              </a:defRPr>
            </a:lvl1pPr>
          </a:lstStyle>
          <a:p>
            <a:pPr indent="0" marL="0">
              <a:buNone/>
            </a:pPr>
            <a:endParaRPr lang="en-US" sz="900" dirty="0"/>
          </a:p>
        </p:txBody>
      </p:sp>
      <p:sp>
        <p:nvSpPr>
          <p:cNvPr id="5" name="Text 0"/>
          <p:cNvSpPr/>
          <p:nvPr/>
        </p:nvSpPr>
        <p:spPr>
          <a:xfrm>
            <a:off x="9418320" y="6400800"/>
            <a:ext cx="1828800" cy="182880"/>
          </a:xfrm>
          <a:prstGeom prst="rect">
            <a:avLst/>
          </a:prstGeom>
          <a:noFill/>
          <a:ln/>
        </p:spPr>
        <p:txBody>
          <a:bodyPr wrap="square" lIns="0" tIns="0" rIns="0" bIns="0" rtlCol="0" anchor="t"/>
          <a:lstStyle/>
          <a:p>
            <a:pPr algn="r" indent="0" marL="0">
              <a:buNone/>
            </a:pPr>
            <a:r>
              <a:rPr lang="en-US" sz="900" dirty="0">
                <a:solidFill>
                  <a:schemeClr val="accent3"/>
                </a:solidFill>
              </a:rPr>
              <a:t>Project OTM · Group 3</a:t>
            </a:r>
            <a:endParaRPr lang="en-US" sz="900" dirty="0"/>
          </a:p>
        </p:txBody>
      </p:sp>
      <p:sp>
        <p:nvSpPr>
          <p:cNvPr id="6" name="Text 1"/>
          <p:cNvSpPr/>
          <p:nvPr/>
        </p:nvSpPr>
        <p:spPr>
          <a:xfrm>
            <a:off x="10634472" y="256032"/>
            <a:ext cx="1005840" cy="274320"/>
          </a:xfrm>
          <a:prstGeom prst="rect">
            <a:avLst/>
          </a:prstGeom>
          <a:noFill/>
          <a:ln w="9525">
            <a:solidFill>
              <a:schemeClr val="accent3"/>
            </a:solidFill>
          </a:ln>
        </p:spPr>
        <p:txBody>
          <a:bodyPr wrap="square" lIns="0" tIns="0" rIns="0" bIns="0" rtlCol="0" anchor="ctr"/>
          <a:lstStyle/>
          <a:p>
            <a:pPr algn="ctr" indent="0" marL="0">
              <a:buNone/>
            </a:pPr>
            <a:r>
              <a:rPr lang="en-US" sz="900" b="1" spc="200" kern="0" dirty="0">
                <a:solidFill>
                  <a:schemeClr val="accent2"/>
                </a:solidFill>
              </a:rPr>
              <a:t>BACKUP</a:t>
            </a:r>
            <a:endParaRPr lang="en-US" sz="9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p:bgPr>
    </p:bg>
    <p:spTree>
      <p:nvGrpSpPr>
        <p:cNvPr id="1" name=""/>
        <p:cNvGrpSpPr/>
        <p:nvPr/>
      </p:nvGrpSpPr>
      <p:grpSpPr>
        <a:xfrm>
          <a:off x="0" y="0"/>
          <a:ext cx="0" cy="0"/>
          <a:chOff x="0" y="0"/>
          <a:chExt cx="0" cy="0"/>
        </a:xfrm>
      </p:grpSpPr>
      <p:sp>
        <p:nvSpPr>
          <p:cNvPr id="2" name="Shape 0"/>
          <p:cNvSpPr/>
          <p:nvPr/>
        </p:nvSpPr>
        <p:spPr>
          <a:xfrm>
            <a:off x="731520" y="2395728"/>
            <a:ext cx="128016" cy="128016"/>
          </a:xfrm>
          <a:prstGeom prst="rect">
            <a:avLst/>
          </a:prstGeom>
          <a:solidFill>
            <a:schemeClr val="accent1"/>
          </a:solidFill>
          <a:ln/>
        </p:spPr>
      </p:sp>
      <p:sp>
        <p:nvSpPr>
          <p:cNvPr id="3" name="Text 1"/>
          <p:cNvSpPr/>
          <p:nvPr>
            <p:ph idx="101" type="title" hasCustomPrompt="1"/>
          </p:nvPr>
        </p:nvSpPr>
        <p:spPr>
          <a:xfrm>
            <a:off x="987552" y="2103120"/>
            <a:ext cx="10058400" cy="73152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4" name="Text 1"/>
          <p:cNvSpPr/>
          <p:nvPr>
            <p:ph idx="102" type="body" hasCustomPrompt="1"/>
          </p:nvPr>
        </p:nvSpPr>
        <p:spPr>
          <a:xfrm>
            <a:off x="987552" y="3063240"/>
            <a:ext cx="10058400" cy="237744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9-1.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987552" y="1481328"/>
            <a:ext cx="10058400" cy="384048"/>
          </a:xfrm>
          <a:prstGeom prst="rect">
            <a:avLst/>
          </a:prstGeom>
          <a:noFill/>
          <a:ln/>
        </p:spPr>
        <p:txBody>
          <a:bodyPr wrap="square" lIns="0" tIns="0" rIns="0" bIns="0" rtlCol="0" anchor="ctr"/>
          <a:lstStyle/>
          <a:p>
            <a:pPr indent="0" marL="0">
              <a:buNone/>
            </a:pPr>
            <a:r>
              <a:rPr lang="en-US" sz="1200" b="1" spc="200" kern="0" dirty="0">
                <a:solidFill>
                  <a:schemeClr val="accent6"/>
                </a:solidFill>
              </a:rPr>
              <a:t>PROJECT OTM  ·  OPERMB04 OPERATIONS MANAGEMENT  ·  GROUP 3</a:t>
            </a:r>
            <a:endParaRPr lang="en-US" sz="1200" dirty="0"/>
          </a:p>
        </p:txBody>
      </p:sp>
      <p:sp>
        <p:nvSpPr>
          <p:cNvPr id="3" name="Text 1"/>
          <p:cNvSpPr/>
          <p:nvPr>
            <p:ph idx="102" type="title" hasCustomPrompt="1"/>
          </p:nvPr>
        </p:nvSpPr>
        <p:spPr>
          <a:xfrm>
            <a:off x="731520" y="2011680"/>
            <a:ext cx="10241280" cy="1783080"/>
          </a:xfrm>
          <a:prstGeom prst="rect">
            <a:avLst/>
          </a:prstGeom>
          <a:noFill/>
          <a:ln/>
        </p:spPr>
        <p:txBody>
          <a:bodyPr wrap="square" lIns="0" tIns="0" rIns="0" bIns="0" rtlCol="0" anchor="t"/>
          <a:lstStyle/>
          <a:p>
            <a:pPr algn="l" indent="0" marL="0">
              <a:buNone/>
            </a:pPr>
            <a:r>
              <a:rPr lang="en-US" sz="4000" dirty="0">
                <a:solidFill>
                  <a:schemeClr val="bg1"/>
                </a:solidFill>
              </a:rPr>
              <a:t>Redesigning the Assa Abloy warehouse around the flow of orders</a:t>
            </a:r>
            <a:endParaRPr lang="en-US" sz="4000" dirty="0"/>
          </a:p>
        </p:txBody>
      </p:sp>
      <p:sp>
        <p:nvSpPr>
          <p:cNvPr id="4" name="Text 1"/>
          <p:cNvSpPr/>
          <p:nvPr>
            <p:ph idx="103" type="body" hasCustomPrompt="1"/>
          </p:nvPr>
        </p:nvSpPr>
        <p:spPr>
          <a:xfrm>
            <a:off x="731520" y="3886200"/>
            <a:ext cx="9692640" cy="822960"/>
          </a:xfrm>
          <a:prstGeom prst="rect">
            <a:avLst/>
          </a:prstGeom>
          <a:noFill/>
          <a:ln/>
        </p:spPr>
        <p:txBody>
          <a:bodyPr wrap="square" lIns="0" tIns="0" rIns="0" bIns="0" rtlCol="0" anchor="t"/>
          <a:lstStyle/>
          <a:p>
            <a:pPr indent="0" marL="0">
              <a:buNone/>
            </a:pPr>
            <a:r>
              <a:rPr lang="en-US" sz="1800" dirty="0">
                <a:solidFill>
                  <a:schemeClr val="accent4"/>
                </a:solidFill>
              </a:rPr>
              <a:t>A new layout and way of working for DHL Supply Chain in Bemmel, from the receiving dock to the trailer</a:t>
            </a:r>
            <a:endParaRPr lang="en-US" sz="1800" dirty="0"/>
          </a:p>
        </p:txBody>
      </p:sp>
      <p:sp>
        <p:nvSpPr>
          <p:cNvPr id="5" name="Text 1"/>
          <p:cNvSpPr/>
          <p:nvPr>
            <p:ph idx="104" type="body" hasCustomPrompt="1"/>
          </p:nvPr>
        </p:nvSpPr>
        <p:spPr>
          <a:xfrm>
            <a:off x="731520" y="5440680"/>
            <a:ext cx="10698480" cy="731520"/>
          </a:xfrm>
          <a:prstGeom prst="rect">
            <a:avLst/>
          </a:prstGeom>
          <a:noFill/>
          <a:ln/>
        </p:spPr>
        <p:txBody>
          <a:bodyPr wrap="square" lIns="0" tIns="0" rIns="0" bIns="0" rtlCol="0" anchor="t"/>
          <a:lstStyle/>
          <a:p>
            <a:pPr indent="0" marL="0">
              <a:buNone/>
            </a:pPr>
            <a:r>
              <a:rPr lang="en-US" sz="1200" dirty="0">
                <a:solidFill>
                  <a:schemeClr val="accent3"/>
                </a:solidFill>
              </a:rPr>
              <a:t>Vidhi (Receiving)   ·   Gleb (Storage)   ·   Arnau (Picking)   ·   Rachel Selvarathnam (Shipping)</a:t>
            </a:r>
            <a:endParaRPr lang="en-US" sz="1200" dirty="0"/>
          </a:p>
          <a:p>
            <a:pPr indent="0" marL="0">
              <a:buNone/>
            </a:pPr>
            <a:r>
              <a:rPr lang="en-US" sz="1200" dirty="0">
                <a:solidFill>
                  <a:schemeClr val="accent3"/>
                </a:solidFill>
              </a:rPr>
              <a:t>Final presentation  ·  based on Assa Abloy warehouse data, April–June 2025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EXECUTIVE SUMMARY</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A flow-based redesign gets 65% of orders out within 24 hours (now 37%), needs 62% fewer picker-hours and fits in 96% of the site</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WMS data April–June 2025 (Assa Abloy &amp; DHL Supply Chain, 2025); future values modelled in Deliverables 2 and 3</a:t>
            </a:r>
            <a:endParaRPr lang="en-US" sz="900" dirty="0"/>
          </a:p>
        </p:txBody>
      </p:sp>
      <p:sp>
        <p:nvSpPr>
          <p:cNvPr id="5" name="Owner marker"/>
          <p:cNvSpPr/>
          <p:nvPr/>
        </p:nvSpPr>
        <p:spPr>
          <a:xfrm>
            <a:off x="9098280" y="338328"/>
            <a:ext cx="118872" cy="118872"/>
          </a:xfrm>
          <a:prstGeom prst="rect">
            <a:avLst/>
          </a:prstGeom>
          <a:solidFill>
            <a:srgbClr val="1D4ED8"/>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presenter</a:t>
            </a:r>
            <a:endParaRPr lang="en-US" sz="1000" dirty="0"/>
          </a:p>
        </p:txBody>
      </p:sp>
      <p:sp>
        <p:nvSpPr>
          <p:cNvPr id="7" name="Shape 5"/>
          <p:cNvSpPr/>
          <p:nvPr/>
        </p:nvSpPr>
        <p:spPr>
          <a:xfrm>
            <a:off x="548640" y="1783080"/>
            <a:ext cx="7178040" cy="0"/>
          </a:xfrm>
          <a:prstGeom prst="line">
            <a:avLst/>
          </a:prstGeom>
          <a:noFill/>
          <a:ln w="9525">
            <a:solidFill>
              <a:schemeClr val="accent4"/>
            </a:solidFill>
            <a:prstDash val="solid"/>
          </a:ln>
        </p:spPr>
      </p:sp>
      <p:sp>
        <p:nvSpPr>
          <p:cNvPr id="8" name="Text 6"/>
          <p:cNvSpPr txBox="1"/>
          <p:nvPr/>
        </p:nvSpPr>
        <p:spPr>
          <a:xfrm>
            <a:off x="548640" y="1892808"/>
            <a:ext cx="1463040" cy="365760"/>
          </a:xfrm>
          <a:prstGeom prst="rect">
            <a:avLst/>
          </a:prstGeom>
          <a:noFill/>
          <a:ln/>
        </p:spPr>
        <p:txBody>
          <a:bodyPr wrap="square" lIns="0" tIns="0" rIns="0" bIns="0" rtlCol="0" anchor="t"/>
          <a:lstStyle/>
          <a:p>
            <a:pPr indent="0" marL="0">
              <a:buNone/>
            </a:pPr>
            <a:r>
              <a:rPr lang="en-US" sz="1300" b="1" dirty="0">
                <a:solidFill>
                  <a:schemeClr val="tx2"/>
                </a:solidFill>
              </a:rPr>
              <a:t>Today</a:t>
            </a:r>
            <a:endParaRPr lang="en-US" sz="1300" dirty="0"/>
          </a:p>
        </p:txBody>
      </p:sp>
      <p:sp>
        <p:nvSpPr>
          <p:cNvPr id="9" name="Text 7"/>
          <p:cNvSpPr txBox="1"/>
          <p:nvPr/>
        </p:nvSpPr>
        <p:spPr>
          <a:xfrm>
            <a:off x="2148840" y="1892808"/>
            <a:ext cx="5577840" cy="749808"/>
          </a:xfrm>
          <a:prstGeom prst="rect">
            <a:avLst/>
          </a:prstGeom>
          <a:noFill/>
          <a:ln/>
        </p:spPr>
        <p:txBody>
          <a:bodyPr wrap="square" lIns="0" tIns="0" rIns="0" bIns="0" rtlCol="0" anchor="t"/>
          <a:lstStyle/>
          <a:p>
            <a:pPr indent="0" marL="0">
              <a:buNone/>
            </a:pPr>
            <a:r>
              <a:rPr lang="en-US" sz="1300" dirty="0">
                <a:solidFill>
                  <a:schemeClr val="tx1"/>
                </a:solidFill>
              </a:rPr>
              <a:t>DHL ships ~640 order lines a day for Assa Abloy: 4,354 different items, from small lock parts to 2 m long goods. Occupied pallet places grow ~16% per quarter.</a:t>
            </a:r>
            <a:endParaRPr lang="en-US" sz="1300" dirty="0"/>
          </a:p>
        </p:txBody>
      </p:sp>
      <p:sp>
        <p:nvSpPr>
          <p:cNvPr id="10" name="Shape 8"/>
          <p:cNvSpPr/>
          <p:nvPr/>
        </p:nvSpPr>
        <p:spPr>
          <a:xfrm>
            <a:off x="548640" y="2670048"/>
            <a:ext cx="7178040" cy="0"/>
          </a:xfrm>
          <a:prstGeom prst="line">
            <a:avLst/>
          </a:prstGeom>
          <a:noFill/>
          <a:ln w="9525">
            <a:solidFill>
              <a:schemeClr val="accent4"/>
            </a:solidFill>
            <a:prstDash val="solid"/>
          </a:ln>
        </p:spPr>
      </p:sp>
      <p:sp>
        <p:nvSpPr>
          <p:cNvPr id="11" name="Text 9"/>
          <p:cNvSpPr txBox="1"/>
          <p:nvPr/>
        </p:nvSpPr>
        <p:spPr>
          <a:xfrm>
            <a:off x="548640" y="2779776"/>
            <a:ext cx="1463040" cy="365760"/>
          </a:xfrm>
          <a:prstGeom prst="rect">
            <a:avLst/>
          </a:prstGeom>
          <a:noFill/>
          <a:ln/>
        </p:spPr>
        <p:txBody>
          <a:bodyPr wrap="square" lIns="0" tIns="0" rIns="0" bIns="0" rtlCol="0" anchor="t"/>
          <a:lstStyle/>
          <a:p>
            <a:pPr indent="0" marL="0">
              <a:buNone/>
            </a:pPr>
            <a:r>
              <a:rPr lang="en-US" sz="1300" b="1" dirty="0">
                <a:solidFill>
                  <a:schemeClr val="tx2"/>
                </a:solidFill>
              </a:rPr>
              <a:t>The problem</a:t>
            </a:r>
            <a:endParaRPr lang="en-US" sz="1300" dirty="0"/>
          </a:p>
        </p:txBody>
      </p:sp>
      <p:sp>
        <p:nvSpPr>
          <p:cNvPr id="12" name="Text 10"/>
          <p:cNvSpPr txBox="1"/>
          <p:nvPr/>
        </p:nvSpPr>
        <p:spPr>
          <a:xfrm>
            <a:off x="2148840" y="2779776"/>
            <a:ext cx="5577840" cy="749808"/>
          </a:xfrm>
          <a:prstGeom prst="rect">
            <a:avLst/>
          </a:prstGeom>
          <a:noFill/>
          <a:ln/>
        </p:spPr>
        <p:txBody>
          <a:bodyPr wrap="square" lIns="0" tIns="0" rIns="0" bIns="0" rtlCol="0" anchor="t"/>
          <a:lstStyle/>
          <a:p>
            <a:pPr indent="0" marL="0">
              <a:buNone/>
            </a:pPr>
            <a:r>
              <a:rPr lang="en-US" sz="1300" dirty="0">
                <a:solidFill>
                  <a:schemeClr val="tx1"/>
                </a:solidFill>
              </a:rPr>
              <a:t>All orders are released at once in the evening, so picking peaks at 08:00. Only 49.9% of lines are staged on time and 37% of orders leave within 24 hours.</a:t>
            </a:r>
            <a:endParaRPr lang="en-US" sz="1300" dirty="0"/>
          </a:p>
        </p:txBody>
      </p:sp>
      <p:sp>
        <p:nvSpPr>
          <p:cNvPr id="13" name="Shape 11"/>
          <p:cNvSpPr/>
          <p:nvPr/>
        </p:nvSpPr>
        <p:spPr>
          <a:xfrm>
            <a:off x="548640" y="3557016"/>
            <a:ext cx="7178040" cy="0"/>
          </a:xfrm>
          <a:prstGeom prst="line">
            <a:avLst/>
          </a:prstGeom>
          <a:noFill/>
          <a:ln w="9525">
            <a:solidFill>
              <a:schemeClr val="accent4"/>
            </a:solidFill>
            <a:prstDash val="solid"/>
          </a:ln>
        </p:spPr>
      </p:sp>
      <p:sp>
        <p:nvSpPr>
          <p:cNvPr id="14" name="Text 12"/>
          <p:cNvSpPr txBox="1"/>
          <p:nvPr/>
        </p:nvSpPr>
        <p:spPr>
          <a:xfrm>
            <a:off x="548640" y="3666744"/>
            <a:ext cx="1463040" cy="365760"/>
          </a:xfrm>
          <a:prstGeom prst="rect">
            <a:avLst/>
          </a:prstGeom>
          <a:noFill/>
          <a:ln/>
        </p:spPr>
        <p:txBody>
          <a:bodyPr wrap="square" lIns="0" tIns="0" rIns="0" bIns="0" rtlCol="0" anchor="t"/>
          <a:lstStyle/>
          <a:p>
            <a:pPr indent="0" marL="0">
              <a:buNone/>
            </a:pPr>
            <a:r>
              <a:rPr lang="en-US" sz="1300" b="1" dirty="0">
                <a:solidFill>
                  <a:schemeClr val="tx2"/>
                </a:solidFill>
              </a:rPr>
              <a:t>Our design</a:t>
            </a:r>
            <a:endParaRPr lang="en-US" sz="1300" dirty="0"/>
          </a:p>
        </p:txBody>
      </p:sp>
      <p:sp>
        <p:nvSpPr>
          <p:cNvPr id="15" name="Text 13"/>
          <p:cNvSpPr txBox="1"/>
          <p:nvPr/>
        </p:nvSpPr>
        <p:spPr>
          <a:xfrm>
            <a:off x="2148840" y="3666744"/>
            <a:ext cx="5577840" cy="749808"/>
          </a:xfrm>
          <a:prstGeom prst="rect">
            <a:avLst/>
          </a:prstGeom>
          <a:noFill/>
          <a:ln/>
        </p:spPr>
        <p:txBody>
          <a:bodyPr wrap="square" lIns="0" tIns="0" rIns="0" bIns="0" rtlCol="0" anchor="t"/>
          <a:lstStyle/>
          <a:p>
            <a:pPr indent="0" marL="0">
              <a:buNone/>
            </a:pPr>
            <a:r>
              <a:rPr lang="en-US" sz="1300" dirty="0">
                <a:solidFill>
                  <a:schemeClr val="tx1"/>
                </a:solidFill>
              </a:rPr>
              <a:t>Option B 'hybrid density': 8,960 single-deep rack places, a fast-pick area for the 1,409 best-sellers, batch picking with a put-to-light wall, and three waves planned back from fixed trailer departures.</a:t>
            </a:r>
            <a:endParaRPr lang="en-US" sz="1300" dirty="0"/>
          </a:p>
        </p:txBody>
      </p:sp>
      <p:sp>
        <p:nvSpPr>
          <p:cNvPr id="16" name="Shape 14"/>
          <p:cNvSpPr/>
          <p:nvPr/>
        </p:nvSpPr>
        <p:spPr>
          <a:xfrm>
            <a:off x="548640" y="4443984"/>
            <a:ext cx="7178040" cy="0"/>
          </a:xfrm>
          <a:prstGeom prst="line">
            <a:avLst/>
          </a:prstGeom>
          <a:noFill/>
          <a:ln w="9525">
            <a:solidFill>
              <a:schemeClr val="accent4"/>
            </a:solidFill>
            <a:prstDash val="solid"/>
          </a:ln>
        </p:spPr>
      </p:sp>
      <p:sp>
        <p:nvSpPr>
          <p:cNvPr id="17" name="Text 15"/>
          <p:cNvSpPr txBox="1"/>
          <p:nvPr/>
        </p:nvSpPr>
        <p:spPr>
          <a:xfrm>
            <a:off x="548640" y="4553712"/>
            <a:ext cx="1463040" cy="365760"/>
          </a:xfrm>
          <a:prstGeom prst="rect">
            <a:avLst/>
          </a:prstGeom>
          <a:noFill/>
          <a:ln/>
        </p:spPr>
        <p:txBody>
          <a:bodyPr wrap="square" lIns="0" tIns="0" rIns="0" bIns="0" rtlCol="0" anchor="t"/>
          <a:lstStyle/>
          <a:p>
            <a:pPr indent="0" marL="0">
              <a:buNone/>
            </a:pPr>
            <a:r>
              <a:rPr lang="en-US" sz="1300" b="1" dirty="0">
                <a:solidFill>
                  <a:schemeClr val="tx2"/>
                </a:solidFill>
              </a:rPr>
              <a:t>The result</a:t>
            </a:r>
            <a:endParaRPr lang="en-US" sz="1300" dirty="0"/>
          </a:p>
        </p:txBody>
      </p:sp>
      <p:sp>
        <p:nvSpPr>
          <p:cNvPr id="18" name="Text 16"/>
          <p:cNvSpPr txBox="1"/>
          <p:nvPr/>
        </p:nvSpPr>
        <p:spPr>
          <a:xfrm>
            <a:off x="2148840" y="4553712"/>
            <a:ext cx="5577840" cy="749808"/>
          </a:xfrm>
          <a:prstGeom prst="rect">
            <a:avLst/>
          </a:prstGeom>
          <a:noFill/>
          <a:ln/>
        </p:spPr>
        <p:txBody>
          <a:bodyPr wrap="square" lIns="0" tIns="0" rIns="0" bIns="0" rtlCol="0" anchor="t"/>
          <a:lstStyle/>
          <a:p>
            <a:pPr indent="0" marL="0">
              <a:buNone/>
            </a:pPr>
            <a:r>
              <a:rPr lang="en-US" sz="1300" dirty="0">
                <a:solidFill>
                  <a:schemeClr val="tx1"/>
                </a:solidFill>
              </a:rPr>
              <a:t>65% of orders out within 24 h and ≥ 98% on time; ~12 instead of ~31 picker-hours a day; €3.09 per order line. The process changes (€0.16M) pay back in ~1.6 years.</a:t>
            </a:r>
            <a:endParaRPr lang="en-US" sz="1300" dirty="0"/>
          </a:p>
        </p:txBody>
      </p:sp>
      <p:sp>
        <p:nvSpPr>
          <p:cNvPr id="19" name="Shape 17"/>
          <p:cNvSpPr/>
          <p:nvPr/>
        </p:nvSpPr>
        <p:spPr>
          <a:xfrm>
            <a:off x="548640" y="5330952"/>
            <a:ext cx="7178040" cy="0"/>
          </a:xfrm>
          <a:prstGeom prst="line">
            <a:avLst/>
          </a:prstGeom>
          <a:noFill/>
          <a:ln w="9525">
            <a:solidFill>
              <a:schemeClr val="accent4"/>
            </a:solidFill>
            <a:prstDash val="solid"/>
          </a:ln>
        </p:spPr>
      </p:sp>
      <p:sp>
        <p:nvSpPr>
          <p:cNvPr id="20" name="Text 18"/>
          <p:cNvSpPr txBox="1"/>
          <p:nvPr/>
        </p:nvSpPr>
        <p:spPr>
          <a:xfrm>
            <a:off x="548640" y="5440680"/>
            <a:ext cx="1463040" cy="365760"/>
          </a:xfrm>
          <a:prstGeom prst="rect">
            <a:avLst/>
          </a:prstGeom>
          <a:noFill/>
          <a:ln/>
        </p:spPr>
        <p:txBody>
          <a:bodyPr wrap="square" lIns="0" tIns="0" rIns="0" bIns="0" rtlCol="0" anchor="t"/>
          <a:lstStyle/>
          <a:p>
            <a:pPr indent="0" marL="0">
              <a:buNone/>
            </a:pPr>
            <a:r>
              <a:rPr lang="en-US" sz="1300" b="1" dirty="0">
                <a:solidFill>
                  <a:schemeClr val="tx2"/>
                </a:solidFill>
              </a:rPr>
              <a:t>Before go-live</a:t>
            </a:r>
            <a:endParaRPr lang="en-US" sz="1300" dirty="0"/>
          </a:p>
        </p:txBody>
      </p:sp>
      <p:sp>
        <p:nvSpPr>
          <p:cNvPr id="21" name="Text 19"/>
          <p:cNvSpPr txBox="1"/>
          <p:nvPr/>
        </p:nvSpPr>
        <p:spPr>
          <a:xfrm>
            <a:off x="2148840" y="5440680"/>
            <a:ext cx="5577840" cy="749808"/>
          </a:xfrm>
          <a:prstGeom prst="rect">
            <a:avLst/>
          </a:prstGeom>
          <a:noFill/>
          <a:ln/>
        </p:spPr>
        <p:txBody>
          <a:bodyPr wrap="square" lIns="0" tIns="0" rIns="0" bIns="0" rtlCol="0" anchor="t"/>
          <a:lstStyle/>
          <a:p>
            <a:pPr indent="0" marL="0">
              <a:buNone/>
            </a:pPr>
            <a:r>
              <a:rPr lang="en-US" sz="1300" dirty="0">
                <a:solidFill>
                  <a:schemeClr val="tx1"/>
                </a:solidFill>
              </a:rPr>
              <a:t>Storage headroom is the main risk: at today's growth the racks are full in ~4 months. Next: clear dead stock, measure pick times, get supplier quotes.</a:t>
            </a:r>
            <a:endParaRPr lang="en-US" sz="1300" dirty="0"/>
          </a:p>
        </p:txBody>
      </p:sp>
      <p:sp>
        <p:nvSpPr>
          <p:cNvPr id="22" name="Shape 20"/>
          <p:cNvSpPr/>
          <p:nvPr/>
        </p:nvSpPr>
        <p:spPr>
          <a:xfrm>
            <a:off x="548640" y="6217920"/>
            <a:ext cx="7178040" cy="0"/>
          </a:xfrm>
          <a:prstGeom prst="line">
            <a:avLst/>
          </a:prstGeom>
          <a:noFill/>
          <a:ln w="9525">
            <a:solidFill>
              <a:schemeClr val="accent4"/>
            </a:solidFill>
            <a:prstDash val="solid"/>
          </a:ln>
        </p:spPr>
      </p:sp>
      <p:sp>
        <p:nvSpPr>
          <p:cNvPr id="23" name="Key numbers panel"/>
          <p:cNvSpPr/>
          <p:nvPr/>
        </p:nvSpPr>
        <p:spPr>
          <a:xfrm>
            <a:off x="8092440" y="1783080"/>
            <a:ext cx="3547872" cy="4434840"/>
          </a:xfrm>
          <a:prstGeom prst="rect">
            <a:avLst/>
          </a:prstGeom>
          <a:solidFill>
            <a:schemeClr val="bg2"/>
          </a:solidFill>
          <a:ln/>
        </p:spPr>
      </p:sp>
      <p:sp>
        <p:nvSpPr>
          <p:cNvPr id="24" name="Text 22"/>
          <p:cNvSpPr txBox="1"/>
          <p:nvPr/>
        </p:nvSpPr>
        <p:spPr>
          <a:xfrm>
            <a:off x="8321040" y="1938528"/>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KEY NUMBERS</a:t>
            </a:r>
            <a:endParaRPr lang="en-US" sz="1000" dirty="0"/>
          </a:p>
        </p:txBody>
      </p:sp>
      <p:sp>
        <p:nvSpPr>
          <p:cNvPr id="25" name="Text 23"/>
          <p:cNvSpPr txBox="1"/>
          <p:nvPr/>
        </p:nvSpPr>
        <p:spPr>
          <a:xfrm>
            <a:off x="8321040" y="2286000"/>
            <a:ext cx="3108960" cy="502920"/>
          </a:xfrm>
          <a:prstGeom prst="rect">
            <a:avLst/>
          </a:prstGeom>
          <a:noFill/>
          <a:ln/>
        </p:spPr>
        <p:txBody>
          <a:bodyPr wrap="square" lIns="0" tIns="0" rIns="0" bIns="0" rtlCol="0" anchor="t"/>
          <a:lstStyle/>
          <a:p>
            <a:pPr indent="0" marL="0">
              <a:buNone/>
            </a:pPr>
            <a:r>
              <a:rPr lang="en-US" sz="3000" dirty="0">
                <a:solidFill>
                  <a:schemeClr val="accent1"/>
                </a:solidFill>
                <a:latin typeface="Cambria" pitchFamily="34" charset="0"/>
                <a:ea typeface="Cambria" pitchFamily="34" charset="-122"/>
                <a:cs typeface="Cambria" pitchFamily="34" charset="-120"/>
              </a:rPr>
              <a:t>65%</a:t>
            </a:r>
            <a:endParaRPr lang="en-US" sz="3000" dirty="0"/>
          </a:p>
        </p:txBody>
      </p:sp>
      <p:sp>
        <p:nvSpPr>
          <p:cNvPr id="26" name="Text 24"/>
          <p:cNvSpPr txBox="1"/>
          <p:nvPr/>
        </p:nvSpPr>
        <p:spPr>
          <a:xfrm>
            <a:off x="8321040" y="2788920"/>
            <a:ext cx="3108960" cy="384048"/>
          </a:xfrm>
          <a:prstGeom prst="rect">
            <a:avLst/>
          </a:prstGeom>
          <a:noFill/>
          <a:ln/>
        </p:spPr>
        <p:txBody>
          <a:bodyPr wrap="square" lIns="0" tIns="0" rIns="0" bIns="0" rtlCol="0" anchor="t"/>
          <a:lstStyle/>
          <a:p>
            <a:pPr indent="0" marL="0">
              <a:buNone/>
            </a:pPr>
            <a:r>
              <a:rPr lang="en-US" sz="1200" dirty="0">
                <a:solidFill>
                  <a:schemeClr val="tx1"/>
                </a:solidFill>
              </a:rPr>
              <a:t>of orders out within 24 h (today 37%)</a:t>
            </a:r>
            <a:endParaRPr lang="en-US" sz="1200" dirty="0"/>
          </a:p>
        </p:txBody>
      </p:sp>
      <p:sp>
        <p:nvSpPr>
          <p:cNvPr id="27" name="Text 25"/>
          <p:cNvSpPr txBox="1"/>
          <p:nvPr/>
        </p:nvSpPr>
        <p:spPr>
          <a:xfrm>
            <a:off x="8321040" y="3264408"/>
            <a:ext cx="3108960" cy="502920"/>
          </a:xfrm>
          <a:prstGeom prst="rect">
            <a:avLst/>
          </a:prstGeom>
          <a:noFill/>
          <a:ln/>
        </p:spPr>
        <p:txBody>
          <a:bodyPr wrap="square" lIns="0" tIns="0" rIns="0" bIns="0" rtlCol="0" anchor="t"/>
          <a:lstStyle/>
          <a:p>
            <a:pPr indent="0" marL="0">
              <a:buNone/>
            </a:pPr>
            <a:r>
              <a:rPr lang="en-US" sz="3000" dirty="0">
                <a:solidFill>
                  <a:schemeClr val="accent1"/>
                </a:solidFill>
                <a:latin typeface="Cambria" pitchFamily="34" charset="0"/>
                <a:ea typeface="Cambria" pitchFamily="34" charset="-122"/>
                <a:cs typeface="Cambria" pitchFamily="34" charset="-120"/>
              </a:rPr>
              <a:t>−62%</a:t>
            </a:r>
            <a:endParaRPr lang="en-US" sz="3000" dirty="0"/>
          </a:p>
        </p:txBody>
      </p:sp>
      <p:sp>
        <p:nvSpPr>
          <p:cNvPr id="28" name="Text 26"/>
          <p:cNvSpPr txBox="1"/>
          <p:nvPr/>
        </p:nvSpPr>
        <p:spPr>
          <a:xfrm>
            <a:off x="8321040" y="3767328"/>
            <a:ext cx="3108960" cy="384048"/>
          </a:xfrm>
          <a:prstGeom prst="rect">
            <a:avLst/>
          </a:prstGeom>
          <a:noFill/>
          <a:ln/>
        </p:spPr>
        <p:txBody>
          <a:bodyPr wrap="square" lIns="0" tIns="0" rIns="0" bIns="0" rtlCol="0" anchor="t"/>
          <a:lstStyle/>
          <a:p>
            <a:pPr indent="0" marL="0">
              <a:buNone/>
            </a:pPr>
            <a:r>
              <a:rPr lang="en-US" sz="1200" dirty="0">
                <a:solidFill>
                  <a:schemeClr val="tx1"/>
                </a:solidFill>
              </a:rPr>
              <a:t>picker-hours a day: ~31 → ~12 (modelled)</a:t>
            </a:r>
            <a:endParaRPr lang="en-US" sz="1200" dirty="0"/>
          </a:p>
        </p:txBody>
      </p:sp>
      <p:sp>
        <p:nvSpPr>
          <p:cNvPr id="29" name="Text 27"/>
          <p:cNvSpPr txBox="1"/>
          <p:nvPr/>
        </p:nvSpPr>
        <p:spPr>
          <a:xfrm>
            <a:off x="8321040" y="4242816"/>
            <a:ext cx="3108960" cy="502920"/>
          </a:xfrm>
          <a:prstGeom prst="rect">
            <a:avLst/>
          </a:prstGeom>
          <a:noFill/>
          <a:ln/>
        </p:spPr>
        <p:txBody>
          <a:bodyPr wrap="square" lIns="0" tIns="0" rIns="0" bIns="0" rtlCol="0" anchor="t"/>
          <a:lstStyle/>
          <a:p>
            <a:pPr indent="0" marL="0">
              <a:buNone/>
            </a:pPr>
            <a:r>
              <a:rPr lang="en-US" sz="3000" dirty="0">
                <a:solidFill>
                  <a:schemeClr val="accent1"/>
                </a:solidFill>
                <a:latin typeface="Cambria" pitchFamily="34" charset="0"/>
                <a:ea typeface="Cambria" pitchFamily="34" charset="-122"/>
                <a:cs typeface="Cambria" pitchFamily="34" charset="-120"/>
              </a:rPr>
              <a:t>96%</a:t>
            </a:r>
            <a:endParaRPr lang="en-US" sz="3000" dirty="0"/>
          </a:p>
        </p:txBody>
      </p:sp>
      <p:sp>
        <p:nvSpPr>
          <p:cNvPr id="30" name="Text 28"/>
          <p:cNvSpPr txBox="1"/>
          <p:nvPr/>
        </p:nvSpPr>
        <p:spPr>
          <a:xfrm>
            <a:off x="8321040" y="4745736"/>
            <a:ext cx="3108960" cy="384048"/>
          </a:xfrm>
          <a:prstGeom prst="rect">
            <a:avLst/>
          </a:prstGeom>
          <a:noFill/>
          <a:ln/>
        </p:spPr>
        <p:txBody>
          <a:bodyPr wrap="square" lIns="0" tIns="0" rIns="0" bIns="0" rtlCol="0" anchor="t"/>
          <a:lstStyle/>
          <a:p>
            <a:pPr indent="0" marL="0">
              <a:buNone/>
            </a:pPr>
            <a:r>
              <a:rPr lang="en-US" sz="1200" dirty="0">
                <a:solidFill>
                  <a:schemeClr val="tx1"/>
                </a:solidFill>
              </a:rPr>
              <a:t>of the 7,000 m² site used (6,731 m² drawn)</a:t>
            </a:r>
            <a:endParaRPr lang="en-US" sz="1200" dirty="0"/>
          </a:p>
        </p:txBody>
      </p:sp>
      <p:sp>
        <p:nvSpPr>
          <p:cNvPr id="31" name="Text 29"/>
          <p:cNvSpPr txBox="1"/>
          <p:nvPr/>
        </p:nvSpPr>
        <p:spPr>
          <a:xfrm>
            <a:off x="8321040" y="5221224"/>
            <a:ext cx="3108960" cy="502920"/>
          </a:xfrm>
          <a:prstGeom prst="rect">
            <a:avLst/>
          </a:prstGeom>
          <a:noFill/>
          <a:ln/>
        </p:spPr>
        <p:txBody>
          <a:bodyPr wrap="square" lIns="0" tIns="0" rIns="0" bIns="0" rtlCol="0" anchor="t"/>
          <a:lstStyle/>
          <a:p>
            <a:pPr indent="0" marL="0">
              <a:buNone/>
            </a:pPr>
            <a:r>
              <a:rPr lang="en-US" sz="3000" dirty="0">
                <a:solidFill>
                  <a:schemeClr val="accent1"/>
                </a:solidFill>
                <a:latin typeface="Cambria" pitchFamily="34" charset="0"/>
                <a:ea typeface="Cambria" pitchFamily="34" charset="-122"/>
                <a:cs typeface="Cambria" pitchFamily="34" charset="-120"/>
              </a:rPr>
              <a:t>1.6 yrs</a:t>
            </a:r>
            <a:endParaRPr lang="en-US" sz="3000" dirty="0"/>
          </a:p>
        </p:txBody>
      </p:sp>
      <p:sp>
        <p:nvSpPr>
          <p:cNvPr id="32" name="Text 30"/>
          <p:cNvSpPr txBox="1"/>
          <p:nvPr/>
        </p:nvSpPr>
        <p:spPr>
          <a:xfrm>
            <a:off x="8321040" y="5724144"/>
            <a:ext cx="3108960" cy="384048"/>
          </a:xfrm>
          <a:prstGeom prst="rect">
            <a:avLst/>
          </a:prstGeom>
          <a:noFill/>
          <a:ln/>
        </p:spPr>
        <p:txBody>
          <a:bodyPr wrap="square" lIns="0" tIns="0" rIns="0" bIns="0" rtlCol="0" anchor="t"/>
          <a:lstStyle/>
          <a:p>
            <a:pPr indent="0" marL="0">
              <a:buNone/>
            </a:pPr>
            <a:r>
              <a:rPr lang="en-US" sz="1200" dirty="0">
                <a:solidFill>
                  <a:schemeClr val="tx1"/>
                </a:solidFill>
              </a:rPr>
              <a:t>payback of the €0.16M process changes</a:t>
            </a:r>
            <a:endParaRPr lang="en-US" sz="12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AGENDA</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We follow the goods from dock to trailer, and each owner presents the process they designed</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Process owners as in the portfolio (Deliverables 1–3); scope and 7,000 m² site from the project brief (HAN University of Applied Sciences, 2026b)</a:t>
            </a:r>
            <a:endParaRPr lang="en-US" sz="900" dirty="0"/>
          </a:p>
        </p:txBody>
      </p:sp>
      <p:sp>
        <p:nvSpPr>
          <p:cNvPr id="5" name="Owner marker"/>
          <p:cNvSpPr/>
          <p:nvPr/>
        </p:nvSpPr>
        <p:spPr>
          <a:xfrm>
            <a:off x="9098280" y="338328"/>
            <a:ext cx="118872" cy="118872"/>
          </a:xfrm>
          <a:prstGeom prst="rect">
            <a:avLst/>
          </a:prstGeom>
          <a:solidFill>
            <a:srgbClr val="1D4ED8"/>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presenter</a:t>
            </a:r>
            <a:endParaRPr lang="en-US" sz="1000" dirty="0"/>
          </a:p>
        </p:txBody>
      </p:sp>
      <p:sp>
        <p:nvSpPr>
          <p:cNvPr id="7" name="Text 5"/>
          <p:cNvSpPr txBox="1"/>
          <p:nvPr/>
        </p:nvSpPr>
        <p:spPr>
          <a:xfrm>
            <a:off x="1097280" y="1737360"/>
            <a:ext cx="27432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SECTION</a:t>
            </a:r>
            <a:endParaRPr lang="en-US" sz="1000" dirty="0"/>
          </a:p>
        </p:txBody>
      </p:sp>
      <p:sp>
        <p:nvSpPr>
          <p:cNvPr id="8" name="Text 6"/>
          <p:cNvSpPr txBox="1"/>
          <p:nvPr/>
        </p:nvSpPr>
        <p:spPr>
          <a:xfrm>
            <a:off x="7315200" y="1737360"/>
            <a:ext cx="27432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PRESENTED BY</a:t>
            </a:r>
            <a:endParaRPr lang="en-US" sz="1000" dirty="0"/>
          </a:p>
        </p:txBody>
      </p:sp>
      <p:sp>
        <p:nvSpPr>
          <p:cNvPr id="9" name="Text 7"/>
          <p:cNvSpPr txBox="1"/>
          <p:nvPr/>
        </p:nvSpPr>
        <p:spPr>
          <a:xfrm>
            <a:off x="10725912" y="1737360"/>
            <a:ext cx="914400" cy="228600"/>
          </a:xfrm>
          <a:prstGeom prst="rect">
            <a:avLst/>
          </a:prstGeom>
          <a:noFill/>
          <a:ln/>
        </p:spPr>
        <p:txBody>
          <a:bodyPr wrap="square" lIns="0" tIns="0" rIns="0" bIns="0" rtlCol="0" anchor="t"/>
          <a:lstStyle/>
          <a:p>
            <a:pPr algn="r" indent="0" marL="0">
              <a:buNone/>
            </a:pPr>
            <a:r>
              <a:rPr lang="en-US" sz="1000" b="1" spc="100" kern="0" dirty="0">
                <a:solidFill>
                  <a:schemeClr val="accent2"/>
                </a:solidFill>
              </a:rPr>
              <a:t>MIN.</a:t>
            </a:r>
            <a:endParaRPr lang="en-US" sz="1000" dirty="0"/>
          </a:p>
        </p:txBody>
      </p:sp>
      <p:sp>
        <p:nvSpPr>
          <p:cNvPr id="10" name="Shape 8"/>
          <p:cNvSpPr/>
          <p:nvPr/>
        </p:nvSpPr>
        <p:spPr>
          <a:xfrm>
            <a:off x="548640" y="2029968"/>
            <a:ext cx="11094415" cy="0"/>
          </a:xfrm>
          <a:prstGeom prst="line">
            <a:avLst/>
          </a:prstGeom>
          <a:noFill/>
          <a:ln w="9525">
            <a:solidFill>
              <a:schemeClr val="accent4"/>
            </a:solidFill>
            <a:prstDash val="solid"/>
          </a:ln>
        </p:spPr>
      </p:sp>
      <p:sp>
        <p:nvSpPr>
          <p:cNvPr id="11" name="Text 9"/>
          <p:cNvSpPr txBox="1"/>
          <p:nvPr/>
        </p:nvSpPr>
        <p:spPr>
          <a:xfrm>
            <a:off x="548640" y="2093976"/>
            <a:ext cx="365760" cy="329184"/>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1</a:t>
            </a:r>
            <a:endParaRPr lang="en-US" sz="1800" dirty="0"/>
          </a:p>
        </p:txBody>
      </p:sp>
      <p:sp>
        <p:nvSpPr>
          <p:cNvPr id="12" name="Text 10"/>
          <p:cNvSpPr txBox="1"/>
          <p:nvPr/>
        </p:nvSpPr>
        <p:spPr>
          <a:xfrm>
            <a:off x="1097280" y="2130552"/>
            <a:ext cx="6126480" cy="292608"/>
          </a:xfrm>
          <a:prstGeom prst="rect">
            <a:avLst/>
          </a:prstGeom>
          <a:noFill/>
          <a:ln/>
        </p:spPr>
        <p:txBody>
          <a:bodyPr wrap="square" lIns="0" tIns="0" rIns="0" bIns="0" rtlCol="0" anchor="t"/>
          <a:lstStyle/>
          <a:p>
            <a:pPr indent="0" marL="0">
              <a:buNone/>
            </a:pPr>
            <a:r>
              <a:rPr lang="en-US" sz="1400" b="1" dirty="0">
                <a:solidFill>
                  <a:schemeClr val="tx2"/>
                </a:solidFill>
              </a:rPr>
              <a:t>Why change</a:t>
            </a:r>
            <a:pPr indent="0" marL="0">
              <a:buNone/>
            </a:pPr>
            <a:r>
              <a:rPr lang="en-US" sz="1400" dirty="0">
                <a:solidFill>
                  <a:schemeClr val="tx1"/>
                </a:solidFill>
              </a:rPr>
              <a:t> — the operation today and where it falls short</a:t>
            </a:r>
            <a:endParaRPr lang="en-US" sz="1400" dirty="0"/>
          </a:p>
        </p:txBody>
      </p:sp>
      <p:sp>
        <p:nvSpPr>
          <p:cNvPr id="13" name="Text 11"/>
          <p:cNvSpPr txBox="1"/>
          <p:nvPr/>
        </p:nvSpPr>
        <p:spPr>
          <a:xfrm>
            <a:off x="7315200" y="2130552"/>
            <a:ext cx="3291840" cy="292608"/>
          </a:xfrm>
          <a:prstGeom prst="rect">
            <a:avLst/>
          </a:prstGeom>
          <a:noFill/>
          <a:ln/>
        </p:spPr>
        <p:txBody>
          <a:bodyPr wrap="square" lIns="0" tIns="0" rIns="0" bIns="0" rtlCol="0" anchor="t"/>
          <a:lstStyle/>
          <a:p>
            <a:pPr indent="0" marL="0">
              <a:buNone/>
            </a:pPr>
            <a:r>
              <a:rPr lang="en-US" sz="1300" dirty="0">
                <a:solidFill>
                  <a:schemeClr val="tx1"/>
                </a:solidFill>
              </a:rPr>
              <a:t>Arnau</a:t>
            </a:r>
            <a:endParaRPr lang="en-US" sz="1300" dirty="0"/>
          </a:p>
        </p:txBody>
      </p:sp>
      <p:sp>
        <p:nvSpPr>
          <p:cNvPr id="14" name="Text 12"/>
          <p:cNvSpPr txBox="1"/>
          <p:nvPr/>
        </p:nvSpPr>
        <p:spPr>
          <a:xfrm>
            <a:off x="10725912" y="2130552"/>
            <a:ext cx="914400" cy="292608"/>
          </a:xfrm>
          <a:prstGeom prst="rect">
            <a:avLst/>
          </a:prstGeom>
          <a:noFill/>
          <a:ln/>
        </p:spPr>
        <p:txBody>
          <a:bodyPr wrap="square" lIns="0" tIns="0" rIns="0" bIns="0" rtlCol="0" anchor="t"/>
          <a:lstStyle/>
          <a:p>
            <a:pPr algn="r" indent="0" marL="0">
              <a:buNone/>
            </a:pPr>
            <a:r>
              <a:rPr lang="en-US" sz="1300" dirty="0">
                <a:solidFill>
                  <a:schemeClr val="tx1"/>
                </a:solidFill>
              </a:rPr>
              <a:t>2:00</a:t>
            </a:r>
            <a:endParaRPr lang="en-US" sz="1300" dirty="0"/>
          </a:p>
        </p:txBody>
      </p:sp>
      <p:sp>
        <p:nvSpPr>
          <p:cNvPr id="15" name="Shape 13"/>
          <p:cNvSpPr/>
          <p:nvPr/>
        </p:nvSpPr>
        <p:spPr>
          <a:xfrm>
            <a:off x="548640" y="2487168"/>
            <a:ext cx="11094415" cy="0"/>
          </a:xfrm>
          <a:prstGeom prst="line">
            <a:avLst/>
          </a:prstGeom>
          <a:noFill/>
          <a:ln w="9525">
            <a:solidFill>
              <a:schemeClr val="accent4"/>
            </a:solidFill>
            <a:prstDash val="solid"/>
          </a:ln>
        </p:spPr>
      </p:sp>
      <p:sp>
        <p:nvSpPr>
          <p:cNvPr id="16" name="Text 14"/>
          <p:cNvSpPr txBox="1"/>
          <p:nvPr/>
        </p:nvSpPr>
        <p:spPr>
          <a:xfrm>
            <a:off x="548640" y="2551176"/>
            <a:ext cx="365760" cy="329184"/>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2</a:t>
            </a:r>
            <a:endParaRPr lang="en-US" sz="1800" dirty="0"/>
          </a:p>
        </p:txBody>
      </p:sp>
      <p:sp>
        <p:nvSpPr>
          <p:cNvPr id="17" name="Text 15"/>
          <p:cNvSpPr txBox="1"/>
          <p:nvPr/>
        </p:nvSpPr>
        <p:spPr>
          <a:xfrm>
            <a:off x="1097280" y="2587752"/>
            <a:ext cx="6126480" cy="292608"/>
          </a:xfrm>
          <a:prstGeom prst="rect">
            <a:avLst/>
          </a:prstGeom>
          <a:noFill/>
          <a:ln/>
        </p:spPr>
        <p:txBody>
          <a:bodyPr wrap="square" lIns="0" tIns="0" rIns="0" bIns="0" rtlCol="0" anchor="t"/>
          <a:lstStyle/>
          <a:p>
            <a:pPr indent="0" marL="0">
              <a:buNone/>
            </a:pPr>
            <a:r>
              <a:rPr lang="en-US" sz="1400" b="1" dirty="0">
                <a:solidFill>
                  <a:schemeClr val="tx2"/>
                </a:solidFill>
              </a:rPr>
              <a:t>Our design</a:t>
            </a:r>
            <a:pPr indent="0" marL="0">
              <a:buNone/>
            </a:pPr>
            <a:r>
              <a:rPr lang="en-US" sz="1400" dirty="0">
                <a:solidFill>
                  <a:schemeClr val="tx1"/>
                </a:solidFill>
              </a:rPr>
              <a:t> — the choice between three options, and the layout</a:t>
            </a:r>
            <a:endParaRPr lang="en-US" sz="1400" dirty="0"/>
          </a:p>
        </p:txBody>
      </p:sp>
      <p:sp>
        <p:nvSpPr>
          <p:cNvPr id="18" name="Text 16"/>
          <p:cNvSpPr txBox="1"/>
          <p:nvPr/>
        </p:nvSpPr>
        <p:spPr>
          <a:xfrm>
            <a:off x="7315200" y="2587752"/>
            <a:ext cx="3291840" cy="292608"/>
          </a:xfrm>
          <a:prstGeom prst="rect">
            <a:avLst/>
          </a:prstGeom>
          <a:noFill/>
          <a:ln/>
        </p:spPr>
        <p:txBody>
          <a:bodyPr wrap="square" lIns="0" tIns="0" rIns="0" bIns="0" rtlCol="0" anchor="t"/>
          <a:lstStyle/>
          <a:p>
            <a:pPr indent="0" marL="0">
              <a:buNone/>
            </a:pPr>
            <a:r>
              <a:rPr lang="en-US" sz="1300" dirty="0">
                <a:solidFill>
                  <a:schemeClr val="tx1"/>
                </a:solidFill>
              </a:rPr>
              <a:t>Vidhi</a:t>
            </a:r>
            <a:endParaRPr lang="en-US" sz="1300" dirty="0"/>
          </a:p>
        </p:txBody>
      </p:sp>
      <p:sp>
        <p:nvSpPr>
          <p:cNvPr id="19" name="Text 17"/>
          <p:cNvSpPr txBox="1"/>
          <p:nvPr/>
        </p:nvSpPr>
        <p:spPr>
          <a:xfrm>
            <a:off x="10725912" y="2587752"/>
            <a:ext cx="914400" cy="292608"/>
          </a:xfrm>
          <a:prstGeom prst="rect">
            <a:avLst/>
          </a:prstGeom>
          <a:noFill/>
          <a:ln/>
        </p:spPr>
        <p:txBody>
          <a:bodyPr wrap="square" lIns="0" tIns="0" rIns="0" bIns="0" rtlCol="0" anchor="t"/>
          <a:lstStyle/>
          <a:p>
            <a:pPr algn="r" indent="0" marL="0">
              <a:buNone/>
            </a:pPr>
            <a:r>
              <a:rPr lang="en-US" sz="1300" dirty="0">
                <a:solidFill>
                  <a:schemeClr val="tx1"/>
                </a:solidFill>
              </a:rPr>
              <a:t>2:00</a:t>
            </a:r>
            <a:endParaRPr lang="en-US" sz="1300" dirty="0"/>
          </a:p>
        </p:txBody>
      </p:sp>
      <p:sp>
        <p:nvSpPr>
          <p:cNvPr id="20" name="Shape 18"/>
          <p:cNvSpPr/>
          <p:nvPr/>
        </p:nvSpPr>
        <p:spPr>
          <a:xfrm>
            <a:off x="548640" y="2944368"/>
            <a:ext cx="11094415" cy="0"/>
          </a:xfrm>
          <a:prstGeom prst="line">
            <a:avLst/>
          </a:prstGeom>
          <a:noFill/>
          <a:ln w="9525">
            <a:solidFill>
              <a:schemeClr val="accent4"/>
            </a:solidFill>
            <a:prstDash val="solid"/>
          </a:ln>
        </p:spPr>
      </p:sp>
      <p:sp>
        <p:nvSpPr>
          <p:cNvPr id="21" name="Text 19"/>
          <p:cNvSpPr txBox="1"/>
          <p:nvPr/>
        </p:nvSpPr>
        <p:spPr>
          <a:xfrm>
            <a:off x="548640" y="3008376"/>
            <a:ext cx="365760" cy="329184"/>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3</a:t>
            </a:r>
            <a:endParaRPr lang="en-US" sz="1800" dirty="0"/>
          </a:p>
        </p:txBody>
      </p:sp>
      <p:sp>
        <p:nvSpPr>
          <p:cNvPr id="22" name="Text 20"/>
          <p:cNvSpPr txBox="1"/>
          <p:nvPr/>
        </p:nvSpPr>
        <p:spPr>
          <a:xfrm>
            <a:off x="1097280" y="3044952"/>
            <a:ext cx="6126480" cy="292608"/>
          </a:xfrm>
          <a:prstGeom prst="rect">
            <a:avLst/>
          </a:prstGeom>
          <a:noFill/>
          <a:ln/>
        </p:spPr>
        <p:txBody>
          <a:bodyPr wrap="square" lIns="0" tIns="0" rIns="0" bIns="0" rtlCol="0" anchor="t"/>
          <a:lstStyle/>
          <a:p>
            <a:pPr indent="0" marL="0">
              <a:buNone/>
            </a:pPr>
            <a:r>
              <a:rPr lang="en-US" sz="1400" b="1" dirty="0">
                <a:solidFill>
                  <a:schemeClr val="tx2"/>
                </a:solidFill>
              </a:rPr>
              <a:t>The four processes</a:t>
            </a:r>
            <a:pPr indent="0" marL="0">
              <a:buNone/>
            </a:pPr>
            <a:r>
              <a:rPr lang="en-US" sz="1400" dirty="0">
                <a:solidFill>
                  <a:schemeClr val="tx1"/>
                </a:solidFill>
              </a:rPr>
              <a:t> — receiving, storage, picking, shipping</a:t>
            </a:r>
            <a:endParaRPr lang="en-US" sz="1400" dirty="0"/>
          </a:p>
        </p:txBody>
      </p:sp>
      <p:sp>
        <p:nvSpPr>
          <p:cNvPr id="23" name="Text 21"/>
          <p:cNvSpPr txBox="1"/>
          <p:nvPr/>
        </p:nvSpPr>
        <p:spPr>
          <a:xfrm>
            <a:off x="7315200" y="3044952"/>
            <a:ext cx="3291840" cy="292608"/>
          </a:xfrm>
          <a:prstGeom prst="rect">
            <a:avLst/>
          </a:prstGeom>
          <a:noFill/>
          <a:ln/>
        </p:spPr>
        <p:txBody>
          <a:bodyPr wrap="square" lIns="0" tIns="0" rIns="0" bIns="0" rtlCol="0" anchor="t"/>
          <a:lstStyle/>
          <a:p>
            <a:pPr indent="0" marL="0">
              <a:buNone/>
            </a:pPr>
            <a:r>
              <a:rPr lang="en-US" sz="1300" dirty="0">
                <a:solidFill>
                  <a:schemeClr val="tx1"/>
                </a:solidFill>
              </a:rPr>
              <a:t>Vidhi · Gleb · Arnau · Rachel</a:t>
            </a:r>
            <a:endParaRPr lang="en-US" sz="1300" dirty="0"/>
          </a:p>
        </p:txBody>
      </p:sp>
      <p:sp>
        <p:nvSpPr>
          <p:cNvPr id="24" name="Text 22"/>
          <p:cNvSpPr txBox="1"/>
          <p:nvPr/>
        </p:nvSpPr>
        <p:spPr>
          <a:xfrm>
            <a:off x="10725912" y="3044952"/>
            <a:ext cx="914400" cy="292608"/>
          </a:xfrm>
          <a:prstGeom prst="rect">
            <a:avLst/>
          </a:prstGeom>
          <a:noFill/>
          <a:ln/>
        </p:spPr>
        <p:txBody>
          <a:bodyPr wrap="square" lIns="0" tIns="0" rIns="0" bIns="0" rtlCol="0" anchor="t"/>
          <a:lstStyle/>
          <a:p>
            <a:pPr algn="r" indent="0" marL="0">
              <a:buNone/>
            </a:pPr>
            <a:r>
              <a:rPr lang="en-US" sz="1300" dirty="0">
                <a:solidFill>
                  <a:schemeClr val="tx1"/>
                </a:solidFill>
              </a:rPr>
              <a:t>5:30</a:t>
            </a:r>
            <a:endParaRPr lang="en-US" sz="1300" dirty="0"/>
          </a:p>
        </p:txBody>
      </p:sp>
      <p:sp>
        <p:nvSpPr>
          <p:cNvPr id="25" name="Shape 23"/>
          <p:cNvSpPr/>
          <p:nvPr/>
        </p:nvSpPr>
        <p:spPr>
          <a:xfrm>
            <a:off x="548640" y="3401568"/>
            <a:ext cx="11094415" cy="0"/>
          </a:xfrm>
          <a:prstGeom prst="line">
            <a:avLst/>
          </a:prstGeom>
          <a:noFill/>
          <a:ln w="9525">
            <a:solidFill>
              <a:schemeClr val="accent4"/>
            </a:solidFill>
            <a:prstDash val="solid"/>
          </a:ln>
        </p:spPr>
      </p:sp>
      <p:sp>
        <p:nvSpPr>
          <p:cNvPr id="26" name="Text 24"/>
          <p:cNvSpPr txBox="1"/>
          <p:nvPr/>
        </p:nvSpPr>
        <p:spPr>
          <a:xfrm>
            <a:off x="548640" y="3465576"/>
            <a:ext cx="365760" cy="329184"/>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4</a:t>
            </a:r>
            <a:endParaRPr lang="en-US" sz="1800" dirty="0"/>
          </a:p>
        </p:txBody>
      </p:sp>
      <p:sp>
        <p:nvSpPr>
          <p:cNvPr id="27" name="Text 25"/>
          <p:cNvSpPr txBox="1"/>
          <p:nvPr/>
        </p:nvSpPr>
        <p:spPr>
          <a:xfrm>
            <a:off x="1097280" y="3502152"/>
            <a:ext cx="6126480" cy="292608"/>
          </a:xfrm>
          <a:prstGeom prst="rect">
            <a:avLst/>
          </a:prstGeom>
          <a:noFill/>
          <a:ln/>
        </p:spPr>
        <p:txBody>
          <a:bodyPr wrap="square" lIns="0" tIns="0" rIns="0" bIns="0" rtlCol="0" anchor="t"/>
          <a:lstStyle/>
          <a:p>
            <a:pPr indent="0" marL="0">
              <a:buNone/>
            </a:pPr>
            <a:r>
              <a:rPr lang="en-US" sz="1400" b="1" dirty="0">
                <a:solidFill>
                  <a:schemeClr val="tx2"/>
                </a:solidFill>
              </a:rPr>
              <a:t>Performance</a:t>
            </a:r>
            <a:pPr indent="0" marL="0">
              <a:buNone/>
            </a:pPr>
            <a:r>
              <a:rPr lang="en-US" sz="1400" dirty="0">
                <a:solidFill>
                  <a:schemeClr val="tx1"/>
                </a:solidFill>
              </a:rPr>
              <a:t> — KPIs and cost</a:t>
            </a:r>
            <a:endParaRPr lang="en-US" sz="1400" dirty="0"/>
          </a:p>
        </p:txBody>
      </p:sp>
      <p:sp>
        <p:nvSpPr>
          <p:cNvPr id="28" name="Text 26"/>
          <p:cNvSpPr txBox="1"/>
          <p:nvPr/>
        </p:nvSpPr>
        <p:spPr>
          <a:xfrm>
            <a:off x="7315200" y="3502152"/>
            <a:ext cx="3291840" cy="292608"/>
          </a:xfrm>
          <a:prstGeom prst="rect">
            <a:avLst/>
          </a:prstGeom>
          <a:noFill/>
          <a:ln/>
        </p:spPr>
        <p:txBody>
          <a:bodyPr wrap="square" lIns="0" tIns="0" rIns="0" bIns="0" rtlCol="0" anchor="t"/>
          <a:lstStyle/>
          <a:p>
            <a:pPr indent="0" marL="0">
              <a:buNone/>
            </a:pPr>
            <a:r>
              <a:rPr lang="en-US" sz="1300" dirty="0">
                <a:solidFill>
                  <a:schemeClr val="tx1"/>
                </a:solidFill>
              </a:rPr>
              <a:t>Rachel</a:t>
            </a:r>
            <a:endParaRPr lang="en-US" sz="1300" dirty="0"/>
          </a:p>
        </p:txBody>
      </p:sp>
      <p:sp>
        <p:nvSpPr>
          <p:cNvPr id="29" name="Text 27"/>
          <p:cNvSpPr txBox="1"/>
          <p:nvPr/>
        </p:nvSpPr>
        <p:spPr>
          <a:xfrm>
            <a:off x="10725912" y="3502152"/>
            <a:ext cx="914400" cy="292608"/>
          </a:xfrm>
          <a:prstGeom prst="rect">
            <a:avLst/>
          </a:prstGeom>
          <a:noFill/>
          <a:ln/>
        </p:spPr>
        <p:txBody>
          <a:bodyPr wrap="square" lIns="0" tIns="0" rIns="0" bIns="0" rtlCol="0" anchor="t"/>
          <a:lstStyle/>
          <a:p>
            <a:pPr algn="r" indent="0" marL="0">
              <a:buNone/>
            </a:pPr>
            <a:r>
              <a:rPr lang="en-US" sz="1300" dirty="0">
                <a:solidFill>
                  <a:schemeClr val="tx1"/>
                </a:solidFill>
              </a:rPr>
              <a:t>2:00</a:t>
            </a:r>
            <a:endParaRPr lang="en-US" sz="1300" dirty="0"/>
          </a:p>
        </p:txBody>
      </p:sp>
      <p:sp>
        <p:nvSpPr>
          <p:cNvPr id="30" name="Shape 28"/>
          <p:cNvSpPr/>
          <p:nvPr/>
        </p:nvSpPr>
        <p:spPr>
          <a:xfrm>
            <a:off x="548640" y="3858768"/>
            <a:ext cx="11094415" cy="0"/>
          </a:xfrm>
          <a:prstGeom prst="line">
            <a:avLst/>
          </a:prstGeom>
          <a:noFill/>
          <a:ln w="9525">
            <a:solidFill>
              <a:schemeClr val="accent4"/>
            </a:solidFill>
            <a:prstDash val="solid"/>
          </a:ln>
        </p:spPr>
      </p:sp>
      <p:sp>
        <p:nvSpPr>
          <p:cNvPr id="31" name="Text 29"/>
          <p:cNvSpPr txBox="1"/>
          <p:nvPr/>
        </p:nvSpPr>
        <p:spPr>
          <a:xfrm>
            <a:off x="548640" y="3922776"/>
            <a:ext cx="365760" cy="329184"/>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5</a:t>
            </a:r>
            <a:endParaRPr lang="en-US" sz="1800" dirty="0"/>
          </a:p>
        </p:txBody>
      </p:sp>
      <p:sp>
        <p:nvSpPr>
          <p:cNvPr id="32" name="Text 30"/>
          <p:cNvSpPr txBox="1"/>
          <p:nvPr/>
        </p:nvSpPr>
        <p:spPr>
          <a:xfrm>
            <a:off x="1097280" y="3959352"/>
            <a:ext cx="6126480" cy="292608"/>
          </a:xfrm>
          <a:prstGeom prst="rect">
            <a:avLst/>
          </a:prstGeom>
          <a:noFill/>
          <a:ln/>
        </p:spPr>
        <p:txBody>
          <a:bodyPr wrap="square" lIns="0" tIns="0" rIns="0" bIns="0" rtlCol="0" anchor="t"/>
          <a:lstStyle/>
          <a:p>
            <a:pPr indent="0" marL="0">
              <a:buNone/>
            </a:pPr>
            <a:r>
              <a:rPr lang="en-US" sz="1400" b="1" dirty="0">
                <a:solidFill>
                  <a:schemeClr val="tx2"/>
                </a:solidFill>
              </a:rPr>
              <a:t>Next steps</a:t>
            </a:r>
            <a:pPr indent="0" marL="0">
              <a:buNone/>
            </a:pPr>
            <a:r>
              <a:rPr lang="en-US" sz="1400" dirty="0">
                <a:solidFill>
                  <a:schemeClr val="tx1"/>
                </a:solidFill>
              </a:rPr>
              <a:t> — open risks and who closes them</a:t>
            </a:r>
            <a:endParaRPr lang="en-US" sz="1400" dirty="0"/>
          </a:p>
        </p:txBody>
      </p:sp>
      <p:sp>
        <p:nvSpPr>
          <p:cNvPr id="33" name="Text 31"/>
          <p:cNvSpPr txBox="1"/>
          <p:nvPr/>
        </p:nvSpPr>
        <p:spPr>
          <a:xfrm>
            <a:off x="7315200" y="3959352"/>
            <a:ext cx="3291840" cy="292608"/>
          </a:xfrm>
          <a:prstGeom prst="rect">
            <a:avLst/>
          </a:prstGeom>
          <a:noFill/>
          <a:ln/>
        </p:spPr>
        <p:txBody>
          <a:bodyPr wrap="square" lIns="0" tIns="0" rIns="0" bIns="0" rtlCol="0" anchor="t"/>
          <a:lstStyle/>
          <a:p>
            <a:pPr indent="0" marL="0">
              <a:buNone/>
            </a:pPr>
            <a:r>
              <a:rPr lang="en-US" sz="1300" dirty="0">
                <a:solidFill>
                  <a:schemeClr val="tx1"/>
                </a:solidFill>
              </a:rPr>
              <a:t>Gleb</a:t>
            </a:r>
            <a:endParaRPr lang="en-US" sz="1300" dirty="0"/>
          </a:p>
        </p:txBody>
      </p:sp>
      <p:sp>
        <p:nvSpPr>
          <p:cNvPr id="34" name="Text 32"/>
          <p:cNvSpPr txBox="1"/>
          <p:nvPr/>
        </p:nvSpPr>
        <p:spPr>
          <a:xfrm>
            <a:off x="10725912" y="3959352"/>
            <a:ext cx="914400" cy="292608"/>
          </a:xfrm>
          <a:prstGeom prst="rect">
            <a:avLst/>
          </a:prstGeom>
          <a:noFill/>
          <a:ln/>
        </p:spPr>
        <p:txBody>
          <a:bodyPr wrap="square" lIns="0" tIns="0" rIns="0" bIns="0" rtlCol="0" anchor="t"/>
          <a:lstStyle/>
          <a:p>
            <a:pPr algn="r" indent="0" marL="0">
              <a:buNone/>
            </a:pPr>
            <a:r>
              <a:rPr lang="en-US" sz="1300" dirty="0">
                <a:solidFill>
                  <a:schemeClr val="tx1"/>
                </a:solidFill>
              </a:rPr>
              <a:t>0:40</a:t>
            </a:r>
            <a:endParaRPr lang="en-US" sz="1300" dirty="0"/>
          </a:p>
        </p:txBody>
      </p:sp>
      <p:sp>
        <p:nvSpPr>
          <p:cNvPr id="35" name="Shape 33"/>
          <p:cNvSpPr/>
          <p:nvPr/>
        </p:nvSpPr>
        <p:spPr>
          <a:xfrm>
            <a:off x="548640" y="4315968"/>
            <a:ext cx="11094415" cy="0"/>
          </a:xfrm>
          <a:prstGeom prst="line">
            <a:avLst/>
          </a:prstGeom>
          <a:noFill/>
          <a:ln w="9525">
            <a:solidFill>
              <a:schemeClr val="accent4"/>
            </a:solidFill>
            <a:prstDash val="solid"/>
          </a:ln>
        </p:spPr>
      </p:sp>
      <p:sp>
        <p:nvSpPr>
          <p:cNvPr id="36" name="Text 34"/>
          <p:cNvSpPr txBox="1"/>
          <p:nvPr/>
        </p:nvSpPr>
        <p:spPr>
          <a:xfrm>
            <a:off x="548640" y="4526280"/>
            <a:ext cx="54864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THE FOUR PROCESSES AND THEIR OWNERS</a:t>
            </a:r>
            <a:endParaRPr lang="en-US" sz="1000" dirty="0"/>
          </a:p>
        </p:txBody>
      </p:sp>
      <p:sp>
        <p:nvSpPr>
          <p:cNvPr id="37" name="Text 35"/>
          <p:cNvSpPr/>
          <p:nvPr/>
        </p:nvSpPr>
        <p:spPr>
          <a:xfrm>
            <a:off x="548640" y="4828032"/>
            <a:ext cx="2855900" cy="548640"/>
          </a:xfrm>
          <a:prstGeom prst="homePlate">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1  Receiving</a:t>
            </a:r>
            <a:endParaRPr lang="en-US" sz="1400" dirty="0"/>
          </a:p>
        </p:txBody>
      </p:sp>
      <p:sp>
        <p:nvSpPr>
          <p:cNvPr id="38" name="Text 36"/>
          <p:cNvSpPr/>
          <p:nvPr/>
        </p:nvSpPr>
        <p:spPr>
          <a:xfrm>
            <a:off x="3294812" y="4828032"/>
            <a:ext cx="2855900" cy="548640"/>
          </a:xfrm>
          <a:prstGeom prst="chevron">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2  Storage</a:t>
            </a:r>
            <a:endParaRPr lang="en-US" sz="1400" dirty="0"/>
          </a:p>
        </p:txBody>
      </p:sp>
      <p:sp>
        <p:nvSpPr>
          <p:cNvPr id="39" name="Text 37"/>
          <p:cNvSpPr/>
          <p:nvPr/>
        </p:nvSpPr>
        <p:spPr>
          <a:xfrm>
            <a:off x="6040984" y="4828032"/>
            <a:ext cx="2855900" cy="548640"/>
          </a:xfrm>
          <a:prstGeom prst="chevron">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3  Picking</a:t>
            </a:r>
            <a:endParaRPr lang="en-US" sz="1400" dirty="0"/>
          </a:p>
        </p:txBody>
      </p:sp>
      <p:sp>
        <p:nvSpPr>
          <p:cNvPr id="40" name="Text 38"/>
          <p:cNvSpPr/>
          <p:nvPr/>
        </p:nvSpPr>
        <p:spPr>
          <a:xfrm>
            <a:off x="8787155" y="4828032"/>
            <a:ext cx="2855900" cy="548640"/>
          </a:xfrm>
          <a:prstGeom prst="chevron">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4  Shipping</a:t>
            </a:r>
            <a:endParaRPr lang="en-US" sz="1400" dirty="0"/>
          </a:p>
        </p:txBody>
      </p:sp>
      <p:sp>
        <p:nvSpPr>
          <p:cNvPr id="41" name="Shape 39"/>
          <p:cNvSpPr/>
          <p:nvPr/>
        </p:nvSpPr>
        <p:spPr>
          <a:xfrm>
            <a:off x="658368" y="5559552"/>
            <a:ext cx="118872" cy="118872"/>
          </a:xfrm>
          <a:prstGeom prst="rect">
            <a:avLst/>
          </a:prstGeom>
          <a:solidFill>
            <a:srgbClr val="C2410C"/>
          </a:solidFill>
          <a:ln/>
        </p:spPr>
      </p:sp>
      <p:sp>
        <p:nvSpPr>
          <p:cNvPr id="42" name="Text 40"/>
          <p:cNvSpPr txBox="1"/>
          <p:nvPr/>
        </p:nvSpPr>
        <p:spPr>
          <a:xfrm>
            <a:off x="859536" y="5486400"/>
            <a:ext cx="2377440" cy="256032"/>
          </a:xfrm>
          <a:prstGeom prst="rect">
            <a:avLst/>
          </a:prstGeom>
          <a:noFill/>
          <a:ln/>
        </p:spPr>
        <p:txBody>
          <a:bodyPr wrap="square" lIns="0" tIns="0" rIns="0" bIns="0" rtlCol="0" anchor="t"/>
          <a:lstStyle/>
          <a:p>
            <a:pPr indent="0" marL="0">
              <a:buNone/>
            </a:pPr>
            <a:r>
              <a:rPr lang="en-US" sz="1300" b="1" dirty="0">
                <a:solidFill>
                  <a:schemeClr val="tx1"/>
                </a:solidFill>
              </a:rPr>
              <a:t>Vidhi</a:t>
            </a:r>
            <a:endParaRPr lang="en-US" sz="1300" dirty="0"/>
          </a:p>
        </p:txBody>
      </p:sp>
      <p:sp>
        <p:nvSpPr>
          <p:cNvPr id="43" name="Text 41"/>
          <p:cNvSpPr txBox="1"/>
          <p:nvPr/>
        </p:nvSpPr>
        <p:spPr>
          <a:xfrm>
            <a:off x="658368" y="5760720"/>
            <a:ext cx="2514600" cy="457200"/>
          </a:xfrm>
          <a:prstGeom prst="rect">
            <a:avLst/>
          </a:prstGeom>
          <a:noFill/>
          <a:ln/>
        </p:spPr>
        <p:txBody>
          <a:bodyPr wrap="square" lIns="0" tIns="0" rIns="0" bIns="0" rtlCol="0" anchor="t"/>
          <a:lstStyle/>
          <a:p>
            <a:pPr indent="0" marL="0">
              <a:buNone/>
            </a:pPr>
            <a:r>
              <a:rPr lang="en-US" sz="1100" dirty="0">
                <a:solidFill>
                  <a:schemeClr val="accent2"/>
                </a:solidFill>
              </a:rPr>
              <a:t>unloading, checking, container unpacking, returns intake</a:t>
            </a:r>
            <a:endParaRPr lang="en-US" sz="1100" dirty="0"/>
          </a:p>
        </p:txBody>
      </p:sp>
      <p:sp>
        <p:nvSpPr>
          <p:cNvPr id="44" name="Shape 42"/>
          <p:cNvSpPr/>
          <p:nvPr/>
        </p:nvSpPr>
        <p:spPr>
          <a:xfrm>
            <a:off x="3404540" y="5559552"/>
            <a:ext cx="118872" cy="118872"/>
          </a:xfrm>
          <a:prstGeom prst="rect">
            <a:avLst/>
          </a:prstGeom>
          <a:solidFill>
            <a:srgbClr val="1D4ED8"/>
          </a:solidFill>
          <a:ln/>
        </p:spPr>
      </p:sp>
      <p:sp>
        <p:nvSpPr>
          <p:cNvPr id="45" name="Text 43"/>
          <p:cNvSpPr txBox="1"/>
          <p:nvPr/>
        </p:nvSpPr>
        <p:spPr>
          <a:xfrm>
            <a:off x="3605708" y="5486400"/>
            <a:ext cx="2377440" cy="256032"/>
          </a:xfrm>
          <a:prstGeom prst="rect">
            <a:avLst/>
          </a:prstGeom>
          <a:noFill/>
          <a:ln/>
        </p:spPr>
        <p:txBody>
          <a:bodyPr wrap="square" lIns="0" tIns="0" rIns="0" bIns="0" rtlCol="0" anchor="t"/>
          <a:lstStyle/>
          <a:p>
            <a:pPr indent="0" marL="0">
              <a:buNone/>
            </a:pPr>
            <a:r>
              <a:rPr lang="en-US" sz="1300" b="1" dirty="0">
                <a:solidFill>
                  <a:schemeClr val="tx1"/>
                </a:solidFill>
              </a:rPr>
              <a:t>Gleb</a:t>
            </a:r>
            <a:endParaRPr lang="en-US" sz="1300" dirty="0"/>
          </a:p>
        </p:txBody>
      </p:sp>
      <p:sp>
        <p:nvSpPr>
          <p:cNvPr id="46" name="Text 44"/>
          <p:cNvSpPr txBox="1"/>
          <p:nvPr/>
        </p:nvSpPr>
        <p:spPr>
          <a:xfrm>
            <a:off x="3404540" y="5760720"/>
            <a:ext cx="2514600" cy="457200"/>
          </a:xfrm>
          <a:prstGeom prst="rect">
            <a:avLst/>
          </a:prstGeom>
          <a:noFill/>
          <a:ln/>
        </p:spPr>
        <p:txBody>
          <a:bodyPr wrap="square" lIns="0" tIns="0" rIns="0" bIns="0" rtlCol="0" anchor="t"/>
          <a:lstStyle/>
          <a:p>
            <a:pPr indent="0" marL="0">
              <a:buNone/>
            </a:pPr>
            <a:r>
              <a:rPr lang="en-US" sz="1100" dirty="0">
                <a:solidFill>
                  <a:schemeClr val="accent2"/>
                </a:solidFill>
              </a:rPr>
              <a:t>putaway, racks, slotting, refills, stock control</a:t>
            </a:r>
            <a:endParaRPr lang="en-US" sz="1100" dirty="0"/>
          </a:p>
        </p:txBody>
      </p:sp>
      <p:sp>
        <p:nvSpPr>
          <p:cNvPr id="47" name="Shape 45"/>
          <p:cNvSpPr/>
          <p:nvPr/>
        </p:nvSpPr>
        <p:spPr>
          <a:xfrm>
            <a:off x="6150712" y="5559552"/>
            <a:ext cx="118872" cy="118872"/>
          </a:xfrm>
          <a:prstGeom prst="rect">
            <a:avLst/>
          </a:prstGeom>
          <a:solidFill>
            <a:srgbClr val="15803D"/>
          </a:solidFill>
          <a:ln/>
        </p:spPr>
      </p:sp>
      <p:sp>
        <p:nvSpPr>
          <p:cNvPr id="48" name="Text 46"/>
          <p:cNvSpPr txBox="1"/>
          <p:nvPr/>
        </p:nvSpPr>
        <p:spPr>
          <a:xfrm>
            <a:off x="6351880" y="5486400"/>
            <a:ext cx="2377440" cy="256032"/>
          </a:xfrm>
          <a:prstGeom prst="rect">
            <a:avLst/>
          </a:prstGeom>
          <a:noFill/>
          <a:ln/>
        </p:spPr>
        <p:txBody>
          <a:bodyPr wrap="square" lIns="0" tIns="0" rIns="0" bIns="0" rtlCol="0" anchor="t"/>
          <a:lstStyle/>
          <a:p>
            <a:pPr indent="0" marL="0">
              <a:buNone/>
            </a:pPr>
            <a:r>
              <a:rPr lang="en-US" sz="1300" b="1" dirty="0">
                <a:solidFill>
                  <a:schemeClr val="tx1"/>
                </a:solidFill>
              </a:rPr>
              <a:t>Arnau</a:t>
            </a:r>
            <a:endParaRPr lang="en-US" sz="1300" dirty="0"/>
          </a:p>
        </p:txBody>
      </p:sp>
      <p:sp>
        <p:nvSpPr>
          <p:cNvPr id="49" name="Text 47"/>
          <p:cNvSpPr txBox="1"/>
          <p:nvPr/>
        </p:nvSpPr>
        <p:spPr>
          <a:xfrm>
            <a:off x="6150712" y="5760720"/>
            <a:ext cx="2514600" cy="457200"/>
          </a:xfrm>
          <a:prstGeom prst="rect">
            <a:avLst/>
          </a:prstGeom>
          <a:noFill/>
          <a:ln/>
        </p:spPr>
        <p:txBody>
          <a:bodyPr wrap="square" lIns="0" tIns="0" rIns="0" bIns="0" rtlCol="0" anchor="t"/>
          <a:lstStyle/>
          <a:p>
            <a:pPr indent="0" marL="0">
              <a:buNone/>
            </a:pPr>
            <a:r>
              <a:rPr lang="en-US" sz="1100" dirty="0">
                <a:solidFill>
                  <a:schemeClr val="accent2"/>
                </a:solidFill>
              </a:rPr>
              <a:t>waves, picking, sorting at the put-to-light wall</a:t>
            </a:r>
            <a:endParaRPr lang="en-US" sz="1100" dirty="0"/>
          </a:p>
        </p:txBody>
      </p:sp>
      <p:sp>
        <p:nvSpPr>
          <p:cNvPr id="50" name="Shape 48"/>
          <p:cNvSpPr/>
          <p:nvPr/>
        </p:nvSpPr>
        <p:spPr>
          <a:xfrm>
            <a:off x="8896883" y="5559552"/>
            <a:ext cx="118872" cy="118872"/>
          </a:xfrm>
          <a:prstGeom prst="rect">
            <a:avLst/>
          </a:prstGeom>
          <a:solidFill>
            <a:srgbClr val="7C3AED"/>
          </a:solidFill>
          <a:ln/>
        </p:spPr>
      </p:sp>
      <p:sp>
        <p:nvSpPr>
          <p:cNvPr id="51" name="Text 49"/>
          <p:cNvSpPr txBox="1"/>
          <p:nvPr/>
        </p:nvSpPr>
        <p:spPr>
          <a:xfrm>
            <a:off x="9098051" y="5486400"/>
            <a:ext cx="2377440" cy="256032"/>
          </a:xfrm>
          <a:prstGeom prst="rect">
            <a:avLst/>
          </a:prstGeom>
          <a:noFill/>
          <a:ln/>
        </p:spPr>
        <p:txBody>
          <a:bodyPr wrap="square" lIns="0" tIns="0" rIns="0" bIns="0" rtlCol="0" anchor="t"/>
          <a:lstStyle/>
          <a:p>
            <a:pPr indent="0" marL="0">
              <a:buNone/>
            </a:pPr>
            <a:r>
              <a:rPr lang="en-US" sz="1300" b="1" dirty="0">
                <a:solidFill>
                  <a:schemeClr val="tx1"/>
                </a:solidFill>
              </a:rPr>
              <a:t>Rachel Selvarathnam</a:t>
            </a:r>
            <a:endParaRPr lang="en-US" sz="1300" dirty="0"/>
          </a:p>
        </p:txBody>
      </p:sp>
      <p:sp>
        <p:nvSpPr>
          <p:cNvPr id="52" name="Text 50"/>
          <p:cNvSpPr txBox="1"/>
          <p:nvPr/>
        </p:nvSpPr>
        <p:spPr>
          <a:xfrm>
            <a:off x="8896883" y="5760720"/>
            <a:ext cx="2514600" cy="457200"/>
          </a:xfrm>
          <a:prstGeom prst="rect">
            <a:avLst/>
          </a:prstGeom>
          <a:noFill/>
          <a:ln/>
        </p:spPr>
        <p:txBody>
          <a:bodyPr wrap="square" lIns="0" tIns="0" rIns="0" bIns="0" rtlCol="0" anchor="t"/>
          <a:lstStyle/>
          <a:p>
            <a:pPr indent="0" marL="0">
              <a:buNone/>
            </a:pPr>
            <a:r>
              <a:rPr lang="en-US" sz="1100" dirty="0">
                <a:solidFill>
                  <a:schemeClr val="accent2"/>
                </a:solidFill>
              </a:rPr>
              <a:t>packing, staging, dock doors, departure plan, loading</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WHY CHANGE</a:t>
            </a:r>
            <a:pPr indent="0" marL="0">
              <a:buNone/>
            </a:pPr>
            <a:r>
              <a:rPr lang="en-US" sz="900" spc="100" kern="0" dirty="0">
                <a:solidFill>
                  <a:schemeClr val="accent3"/>
                </a:solidFill>
              </a:rPr>
              <a:t>   ·   </a:t>
            </a:r>
            <a:pPr indent="0" marL="0">
              <a:buNone/>
            </a:pPr>
            <a:r>
              <a:rPr lang="en-US" sz="900" spc="100" kern="0" dirty="0">
                <a:solidFill>
                  <a:schemeClr val="accent3"/>
                </a:solidFill>
              </a:rPr>
              <a:t>OUR DESIGN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PERFORMANCE</a:t>
            </a:r>
            <a:pPr indent="0" marL="0">
              <a:buNone/>
            </a:pPr>
            <a:r>
              <a:rPr lang="en-US" sz="900" spc="100" kern="0" dirty="0">
                <a:solidFill>
                  <a:schemeClr val="accent3"/>
                </a:solidFill>
              </a:rPr>
              <a:t>   ·   </a:t>
            </a:r>
            <a:pPr indent="0" marL="0">
              <a:buNone/>
            </a:pPr>
            <a:r>
              <a:rPr lang="en-US" sz="900" spc="100" kern="0" dirty="0">
                <a:solidFill>
                  <a:schemeClr val="accent3"/>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Assa Abloy is a high-variety, medium-volume operation: many small, different orders with sharp peaks</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WMS data April–June 2025 (Assa Abloy &amp; DHL Supply Chain, 2025); four V's and process types (Slack et al., 2022); team analysis (Deliverable 1 §11)</a:t>
            </a:r>
            <a:endParaRPr lang="en-US" sz="900" dirty="0"/>
          </a:p>
        </p:txBody>
      </p:sp>
      <p:sp>
        <p:nvSpPr>
          <p:cNvPr id="5" name="Owner marker"/>
          <p:cNvSpPr/>
          <p:nvPr/>
        </p:nvSpPr>
        <p:spPr>
          <a:xfrm>
            <a:off x="9098280" y="338328"/>
            <a:ext cx="118872" cy="118872"/>
          </a:xfrm>
          <a:prstGeom prst="rect">
            <a:avLst/>
          </a:prstGeom>
          <a:solidFill>
            <a:srgbClr val="15803D"/>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Arnau</a:t>
            </a:r>
            <a:pPr indent="0" marL="0">
              <a:buNone/>
            </a:pPr>
            <a:r>
              <a:rPr lang="en-US" sz="1000" dirty="0">
                <a:solidFill>
                  <a:schemeClr val="accent2"/>
                </a:solidFill>
              </a:rPr>
              <a:t> · presenter</a:t>
            </a:r>
            <a:endParaRPr lang="en-US" sz="1000" dirty="0"/>
          </a:p>
        </p:txBody>
      </p:sp>
      <p:sp>
        <p:nvSpPr>
          <p:cNvPr id="7" name="VOLUME tile"/>
          <p:cNvSpPr/>
          <p:nvPr/>
        </p:nvSpPr>
        <p:spPr>
          <a:xfrm>
            <a:off x="548640" y="1783080"/>
            <a:ext cx="2602154" cy="3611880"/>
          </a:xfrm>
          <a:prstGeom prst="rect">
            <a:avLst/>
          </a:prstGeom>
          <a:solidFill>
            <a:schemeClr val="bg2"/>
          </a:solidFill>
          <a:ln/>
        </p:spPr>
      </p:sp>
      <p:sp>
        <p:nvSpPr>
          <p:cNvPr id="8" name="Text 6"/>
          <p:cNvSpPr txBox="1"/>
          <p:nvPr/>
        </p:nvSpPr>
        <p:spPr>
          <a:xfrm>
            <a:off x="749808"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VOLUME</a:t>
            </a:r>
            <a:endParaRPr lang="en-US" sz="1100" dirty="0"/>
          </a:p>
        </p:txBody>
      </p:sp>
      <p:sp>
        <p:nvSpPr>
          <p:cNvPr id="9" name="Text 7"/>
          <p:cNvSpPr txBox="1"/>
          <p:nvPr/>
        </p:nvSpPr>
        <p:spPr>
          <a:xfrm>
            <a:off x="749808"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MEDIUM</a:t>
            </a:r>
            <a:endParaRPr lang="en-US" sz="900" dirty="0"/>
          </a:p>
        </p:txBody>
      </p:sp>
      <p:sp>
        <p:nvSpPr>
          <p:cNvPr id="10" name="Text 8"/>
          <p:cNvSpPr txBox="1"/>
          <p:nvPr/>
        </p:nvSpPr>
        <p:spPr>
          <a:xfrm>
            <a:off x="749808" y="2286000"/>
            <a:ext cx="2199818" cy="658368"/>
          </a:xfrm>
          <a:prstGeom prst="rect">
            <a:avLst/>
          </a:prstGeom>
          <a:noFill/>
          <a:ln/>
        </p:spPr>
        <p:txBody>
          <a:bodyPr wrap="square" lIns="0" tIns="0" rIns="0" bIns="0" rtlCol="0" anchor="t"/>
          <a:lstStyle/>
          <a:p>
            <a:pPr indent="0" marL="0">
              <a:buNone/>
            </a:pPr>
            <a:r>
              <a:rPr lang="en-US" sz="4000" dirty="0">
                <a:solidFill>
                  <a:schemeClr val="tx2"/>
                </a:solidFill>
                <a:latin typeface="Cambria" pitchFamily="34" charset="0"/>
                <a:ea typeface="Cambria" pitchFamily="34" charset="-122"/>
                <a:cs typeface="Cambria" pitchFamily="34" charset="-120"/>
              </a:rPr>
              <a:t>640</a:t>
            </a:r>
            <a:endParaRPr lang="en-US" sz="4000" dirty="0"/>
          </a:p>
        </p:txBody>
      </p:sp>
      <p:sp>
        <p:nvSpPr>
          <p:cNvPr id="11" name="Text 9"/>
          <p:cNvSpPr txBox="1"/>
          <p:nvPr/>
        </p:nvSpPr>
        <p:spPr>
          <a:xfrm>
            <a:off x="749808"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order lines a day (~144 orders)</a:t>
            </a:r>
            <a:endParaRPr lang="en-US" sz="1200" dirty="0"/>
          </a:p>
        </p:txBody>
      </p:sp>
      <p:sp>
        <p:nvSpPr>
          <p:cNvPr id="12" name="Shape 10"/>
          <p:cNvSpPr/>
          <p:nvPr/>
        </p:nvSpPr>
        <p:spPr>
          <a:xfrm>
            <a:off x="749808" y="3520440"/>
            <a:ext cx="2199818" cy="0"/>
          </a:xfrm>
          <a:prstGeom prst="line">
            <a:avLst/>
          </a:prstGeom>
          <a:noFill/>
          <a:ln w="9525">
            <a:solidFill>
              <a:schemeClr val="accent3"/>
            </a:solidFill>
            <a:prstDash val="solid"/>
          </a:ln>
        </p:spPr>
      </p:sp>
      <p:sp>
        <p:nvSpPr>
          <p:cNvPr id="13" name="Text 11"/>
          <p:cNvSpPr txBox="1"/>
          <p:nvPr/>
        </p:nvSpPr>
        <p:spPr>
          <a:xfrm>
            <a:off x="749808"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99 inbound loads and ~15 outbound trailers a day</a:t>
            </a:r>
            <a:endParaRPr lang="en-US" sz="1200" dirty="0"/>
          </a:p>
        </p:txBody>
      </p:sp>
      <p:sp>
        <p:nvSpPr>
          <p:cNvPr id="14" name="Text 12"/>
          <p:cNvSpPr txBox="1"/>
          <p:nvPr/>
        </p:nvSpPr>
        <p:spPr>
          <a:xfrm>
            <a:off x="749808"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standard methods, scanning and batching pay off</a:t>
            </a:r>
            <a:endParaRPr lang="en-US" sz="1200" dirty="0"/>
          </a:p>
        </p:txBody>
      </p:sp>
      <p:sp>
        <p:nvSpPr>
          <p:cNvPr id="15" name="VARIETY tile"/>
          <p:cNvSpPr/>
          <p:nvPr/>
        </p:nvSpPr>
        <p:spPr>
          <a:xfrm>
            <a:off x="3379394" y="1783080"/>
            <a:ext cx="2602154" cy="3611880"/>
          </a:xfrm>
          <a:prstGeom prst="rect">
            <a:avLst/>
          </a:prstGeom>
          <a:solidFill>
            <a:schemeClr val="bg2"/>
          </a:solidFill>
          <a:ln/>
        </p:spPr>
      </p:sp>
      <p:sp>
        <p:nvSpPr>
          <p:cNvPr id="16" name="Text 14"/>
          <p:cNvSpPr txBox="1"/>
          <p:nvPr/>
        </p:nvSpPr>
        <p:spPr>
          <a:xfrm>
            <a:off x="3580562"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VARIETY</a:t>
            </a:r>
            <a:endParaRPr lang="en-US" sz="1100" dirty="0"/>
          </a:p>
        </p:txBody>
      </p:sp>
      <p:sp>
        <p:nvSpPr>
          <p:cNvPr id="17" name="Text 15"/>
          <p:cNvSpPr txBox="1"/>
          <p:nvPr/>
        </p:nvSpPr>
        <p:spPr>
          <a:xfrm>
            <a:off x="3580562"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HIGH</a:t>
            </a:r>
            <a:endParaRPr lang="en-US" sz="900" dirty="0"/>
          </a:p>
        </p:txBody>
      </p:sp>
      <p:sp>
        <p:nvSpPr>
          <p:cNvPr id="18" name="Text 16"/>
          <p:cNvSpPr txBox="1"/>
          <p:nvPr/>
        </p:nvSpPr>
        <p:spPr>
          <a:xfrm>
            <a:off x="3580562" y="2286000"/>
            <a:ext cx="2199818" cy="658368"/>
          </a:xfrm>
          <a:prstGeom prst="rect">
            <a:avLst/>
          </a:prstGeom>
          <a:noFill/>
          <a:ln/>
        </p:spPr>
        <p:txBody>
          <a:bodyPr wrap="square" lIns="0" tIns="0" rIns="0" bIns="0" rtlCol="0" anchor="t"/>
          <a:lstStyle/>
          <a:p>
            <a:pPr indent="0" marL="0">
              <a:buNone/>
            </a:pPr>
            <a:r>
              <a:rPr lang="en-US" sz="4000" dirty="0">
                <a:solidFill>
                  <a:schemeClr val="tx2"/>
                </a:solidFill>
                <a:latin typeface="Cambria" pitchFamily="34" charset="0"/>
                <a:ea typeface="Cambria" pitchFamily="34" charset="-122"/>
                <a:cs typeface="Cambria" pitchFamily="34" charset="-120"/>
              </a:rPr>
              <a:t>4,354</a:t>
            </a:r>
            <a:endParaRPr lang="en-US" sz="4000" dirty="0"/>
          </a:p>
        </p:txBody>
      </p:sp>
      <p:sp>
        <p:nvSpPr>
          <p:cNvPr id="19" name="Text 17"/>
          <p:cNvSpPr txBox="1"/>
          <p:nvPr/>
        </p:nvSpPr>
        <p:spPr>
          <a:xfrm>
            <a:off x="3580562"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different items shipped in three months</a:t>
            </a:r>
            <a:endParaRPr lang="en-US" sz="1200" dirty="0"/>
          </a:p>
        </p:txBody>
      </p:sp>
      <p:sp>
        <p:nvSpPr>
          <p:cNvPr id="20" name="Shape 18"/>
          <p:cNvSpPr/>
          <p:nvPr/>
        </p:nvSpPr>
        <p:spPr>
          <a:xfrm>
            <a:off x="3580562" y="3520440"/>
            <a:ext cx="2199818" cy="0"/>
          </a:xfrm>
          <a:prstGeom prst="line">
            <a:avLst/>
          </a:prstGeom>
          <a:noFill/>
          <a:ln w="9525">
            <a:solidFill>
              <a:schemeClr val="accent3"/>
            </a:solidFill>
            <a:prstDash val="solid"/>
          </a:ln>
        </p:spPr>
      </p:sp>
      <p:sp>
        <p:nvSpPr>
          <p:cNvPr id="21" name="Text 19"/>
          <p:cNvSpPr txBox="1"/>
          <p:nvPr/>
        </p:nvSpPr>
        <p:spPr>
          <a:xfrm>
            <a:off x="3580562"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5,291 items in stock; each, case and pallet picks; 138 hazardous items</a:t>
            </a:r>
            <a:endParaRPr lang="en-US" sz="1200" dirty="0"/>
          </a:p>
        </p:txBody>
      </p:sp>
      <p:sp>
        <p:nvSpPr>
          <p:cNvPr id="22" name="Text 20"/>
          <p:cNvSpPr txBox="1"/>
          <p:nvPr/>
        </p:nvSpPr>
        <p:spPr>
          <a:xfrm>
            <a:off x="3580562"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several storage types; pick by order size</a:t>
            </a:r>
            <a:endParaRPr lang="en-US" sz="1200" dirty="0"/>
          </a:p>
        </p:txBody>
      </p:sp>
      <p:sp>
        <p:nvSpPr>
          <p:cNvPr id="23" name="VARIATION tile"/>
          <p:cNvSpPr/>
          <p:nvPr/>
        </p:nvSpPr>
        <p:spPr>
          <a:xfrm>
            <a:off x="6210148" y="1783080"/>
            <a:ext cx="2602154" cy="3611880"/>
          </a:xfrm>
          <a:prstGeom prst="rect">
            <a:avLst/>
          </a:prstGeom>
          <a:solidFill>
            <a:schemeClr val="bg2"/>
          </a:solidFill>
          <a:ln/>
        </p:spPr>
      </p:sp>
      <p:sp>
        <p:nvSpPr>
          <p:cNvPr id="24" name="Text 22"/>
          <p:cNvSpPr txBox="1"/>
          <p:nvPr/>
        </p:nvSpPr>
        <p:spPr>
          <a:xfrm>
            <a:off x="6411316"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VARIATION</a:t>
            </a:r>
            <a:endParaRPr lang="en-US" sz="1100" dirty="0"/>
          </a:p>
        </p:txBody>
      </p:sp>
      <p:sp>
        <p:nvSpPr>
          <p:cNvPr id="25" name="Text 23"/>
          <p:cNvSpPr txBox="1"/>
          <p:nvPr/>
        </p:nvSpPr>
        <p:spPr>
          <a:xfrm>
            <a:off x="6411316"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HIGH</a:t>
            </a:r>
            <a:endParaRPr lang="en-US" sz="900" dirty="0"/>
          </a:p>
        </p:txBody>
      </p:sp>
      <p:sp>
        <p:nvSpPr>
          <p:cNvPr id="26" name="Text 24"/>
          <p:cNvSpPr txBox="1"/>
          <p:nvPr/>
        </p:nvSpPr>
        <p:spPr>
          <a:xfrm>
            <a:off x="6411316" y="2286000"/>
            <a:ext cx="2199818" cy="658368"/>
          </a:xfrm>
          <a:prstGeom prst="rect">
            <a:avLst/>
          </a:prstGeom>
          <a:noFill/>
          <a:ln/>
        </p:spPr>
        <p:txBody>
          <a:bodyPr wrap="square" lIns="0" tIns="0" rIns="0" bIns="0" rtlCol="0" anchor="t"/>
          <a:lstStyle/>
          <a:p>
            <a:pPr indent="0" marL="0">
              <a:buNone/>
            </a:pPr>
            <a:r>
              <a:rPr lang="en-US" sz="4000" dirty="0">
                <a:solidFill>
                  <a:schemeClr val="tx2"/>
                </a:solidFill>
                <a:latin typeface="Cambria" pitchFamily="34" charset="0"/>
                <a:ea typeface="Cambria" pitchFamily="34" charset="-122"/>
                <a:cs typeface="Cambria" pitchFamily="34" charset="-120"/>
              </a:rPr>
              <a:t>1.8×</a:t>
            </a:r>
            <a:endParaRPr lang="en-US" sz="4000" dirty="0"/>
          </a:p>
        </p:txBody>
      </p:sp>
      <p:sp>
        <p:nvSpPr>
          <p:cNvPr id="27" name="Text 25"/>
          <p:cNvSpPr txBox="1"/>
          <p:nvPr/>
        </p:nvSpPr>
        <p:spPr>
          <a:xfrm>
            <a:off x="6411316"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busiest day vs an average day (order lines)</a:t>
            </a:r>
            <a:endParaRPr lang="en-US" sz="1200" dirty="0"/>
          </a:p>
        </p:txBody>
      </p:sp>
      <p:sp>
        <p:nvSpPr>
          <p:cNvPr id="28" name="Shape 26"/>
          <p:cNvSpPr/>
          <p:nvPr/>
        </p:nvSpPr>
        <p:spPr>
          <a:xfrm>
            <a:off x="6411316" y="3520440"/>
            <a:ext cx="2199818" cy="0"/>
          </a:xfrm>
          <a:prstGeom prst="line">
            <a:avLst/>
          </a:prstGeom>
          <a:noFill/>
          <a:ln w="9525">
            <a:solidFill>
              <a:schemeClr val="accent3"/>
            </a:solidFill>
            <a:prstDash val="solid"/>
          </a:ln>
        </p:spPr>
      </p:sp>
      <p:sp>
        <p:nvSpPr>
          <p:cNvPr id="29" name="Text 27"/>
          <p:cNvSpPr txBox="1"/>
          <p:nvPr/>
        </p:nvSpPr>
        <p:spPr>
          <a:xfrm>
            <a:off x="6411316"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08:00 pick peak 1.31× the average hour; stock +16% per quarter</a:t>
            </a:r>
            <a:endParaRPr lang="en-US" sz="1200" dirty="0"/>
          </a:p>
        </p:txBody>
      </p:sp>
      <p:sp>
        <p:nvSpPr>
          <p:cNvPr id="30" name="Text 28"/>
          <p:cNvSpPr txBox="1"/>
          <p:nvPr/>
        </p:nvSpPr>
        <p:spPr>
          <a:xfrm>
            <a:off x="6411316"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level the self-made peak with waves; keep storage headroom</a:t>
            </a:r>
            <a:endParaRPr lang="en-US" sz="1200" dirty="0"/>
          </a:p>
        </p:txBody>
      </p:sp>
      <p:sp>
        <p:nvSpPr>
          <p:cNvPr id="31" name="VISIBILITY tile"/>
          <p:cNvSpPr/>
          <p:nvPr/>
        </p:nvSpPr>
        <p:spPr>
          <a:xfrm>
            <a:off x="9040901" y="1783080"/>
            <a:ext cx="2602154" cy="3611880"/>
          </a:xfrm>
          <a:prstGeom prst="rect">
            <a:avLst/>
          </a:prstGeom>
          <a:solidFill>
            <a:schemeClr val="bg2"/>
          </a:solidFill>
          <a:ln/>
        </p:spPr>
      </p:sp>
      <p:sp>
        <p:nvSpPr>
          <p:cNvPr id="32" name="Text 30"/>
          <p:cNvSpPr txBox="1"/>
          <p:nvPr/>
        </p:nvSpPr>
        <p:spPr>
          <a:xfrm>
            <a:off x="9242069"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VISIBILITY</a:t>
            </a:r>
            <a:endParaRPr lang="en-US" sz="1100" dirty="0"/>
          </a:p>
        </p:txBody>
      </p:sp>
      <p:sp>
        <p:nvSpPr>
          <p:cNvPr id="33" name="Text 31"/>
          <p:cNvSpPr txBox="1"/>
          <p:nvPr/>
        </p:nvSpPr>
        <p:spPr>
          <a:xfrm>
            <a:off x="9242069"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LOW</a:t>
            </a:r>
            <a:endParaRPr lang="en-US" sz="900" dirty="0"/>
          </a:p>
        </p:txBody>
      </p:sp>
      <p:sp>
        <p:nvSpPr>
          <p:cNvPr id="34" name="Text 32"/>
          <p:cNvSpPr txBox="1"/>
          <p:nvPr/>
        </p:nvSpPr>
        <p:spPr>
          <a:xfrm>
            <a:off x="9242069" y="2286000"/>
            <a:ext cx="2199818" cy="658368"/>
          </a:xfrm>
          <a:prstGeom prst="rect">
            <a:avLst/>
          </a:prstGeom>
          <a:noFill/>
          <a:ln/>
        </p:spPr>
        <p:txBody>
          <a:bodyPr wrap="square" lIns="0" tIns="0" rIns="0" bIns="0" rtlCol="0" anchor="t"/>
          <a:lstStyle/>
          <a:p>
            <a:pPr indent="0" marL="0">
              <a:buNone/>
            </a:pPr>
            <a:r>
              <a:rPr lang="en-US" sz="4000" dirty="0">
                <a:solidFill>
                  <a:schemeClr val="tx2"/>
                </a:solidFill>
                <a:latin typeface="Cambria" pitchFamily="34" charset="0"/>
                <a:ea typeface="Cambria" pitchFamily="34" charset="-122"/>
                <a:cs typeface="Cambria" pitchFamily="34" charset="-120"/>
              </a:rPr>
              <a:t>Low</a:t>
            </a:r>
            <a:endParaRPr lang="en-US" sz="4000" dirty="0"/>
          </a:p>
        </p:txBody>
      </p:sp>
      <p:sp>
        <p:nvSpPr>
          <p:cNvPr id="35" name="Text 33"/>
          <p:cNvSpPr txBox="1"/>
          <p:nvPr/>
        </p:nvSpPr>
        <p:spPr>
          <a:xfrm>
            <a:off x="9242069"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customers see only the result</a:t>
            </a:r>
            <a:endParaRPr lang="en-US" sz="1200" dirty="0"/>
          </a:p>
        </p:txBody>
      </p:sp>
      <p:sp>
        <p:nvSpPr>
          <p:cNvPr id="36" name="Shape 34"/>
          <p:cNvSpPr/>
          <p:nvPr/>
        </p:nvSpPr>
        <p:spPr>
          <a:xfrm>
            <a:off x="9242069" y="3520440"/>
            <a:ext cx="2199818" cy="0"/>
          </a:xfrm>
          <a:prstGeom prst="line">
            <a:avLst/>
          </a:prstGeom>
          <a:noFill/>
          <a:ln w="9525">
            <a:solidFill>
              <a:schemeClr val="accent3"/>
            </a:solidFill>
            <a:prstDash val="solid"/>
          </a:ln>
        </p:spPr>
      </p:sp>
      <p:sp>
        <p:nvSpPr>
          <p:cNvPr id="37" name="Text 35"/>
          <p:cNvSpPr txBox="1"/>
          <p:nvPr/>
        </p:nvSpPr>
        <p:spPr>
          <a:xfrm>
            <a:off x="9242069"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business customers and web shops (5% of lines) want complete, on-time orders</a:t>
            </a:r>
            <a:endParaRPr lang="en-US" sz="1200" dirty="0"/>
          </a:p>
        </p:txBody>
      </p:sp>
      <p:sp>
        <p:nvSpPr>
          <p:cNvPr id="38" name="Text 36"/>
          <p:cNvSpPr txBox="1"/>
          <p:nvPr/>
        </p:nvSpPr>
        <p:spPr>
          <a:xfrm>
            <a:off x="9242069"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efficiency is designed in the back office, but the dispatch promise must be kept</a:t>
            </a:r>
            <a:endParaRPr lang="en-US" sz="1200" dirty="0"/>
          </a:p>
        </p:txBody>
      </p:sp>
      <p:sp>
        <p:nvSpPr>
          <p:cNvPr id="39" name="Text 37"/>
          <p:cNvSpPr txBox="1"/>
          <p:nvPr/>
        </p:nvSpPr>
        <p:spPr>
          <a:xfrm>
            <a:off x="548640" y="5605272"/>
            <a:ext cx="11094415" cy="566928"/>
          </a:xfrm>
          <a:prstGeom prst="rect">
            <a:avLst/>
          </a:prstGeom>
          <a:noFill/>
          <a:ln w="12700">
            <a:solidFill>
              <a:schemeClr val="tx2"/>
            </a:solidFill>
          </a:ln>
        </p:spPr>
        <p:txBody>
          <a:bodyPr wrap="square" lIns="152400" tIns="50800" rIns="152400" bIns="50800" rtlCol="0" anchor="ctr"/>
          <a:lstStyle/>
          <a:p>
            <a:pPr indent="0" marL="0">
              <a:buNone/>
            </a:pPr>
            <a:r>
              <a:rPr lang="en-US" sz="1300" b="1" dirty="0">
                <a:solidFill>
                  <a:schemeClr val="tx2"/>
                </a:solidFill>
              </a:rPr>
              <a:t>So what: </a:t>
            </a:r>
            <a:pPr indent="0" marL="0">
              <a:buNone/>
            </a:pPr>
            <a:r>
              <a:rPr lang="en-US" sz="1300" dirty="0">
                <a:solidFill>
                  <a:schemeClr val="tx1"/>
                </a:solidFill>
              </a:rPr>
              <a:t>high variety at medium volume sits between a batch and a mass process — people supported by scanners, carton flow and a put-to-light wall fit better than full automation.</a:t>
            </a:r>
            <a:endParaRPr lang="en-US" sz="13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WHY CHANGE</a:t>
            </a:r>
            <a:pPr indent="0" marL="0">
              <a:buNone/>
            </a:pPr>
            <a:r>
              <a:rPr lang="en-US" sz="900" spc="100" kern="0" dirty="0">
                <a:solidFill>
                  <a:schemeClr val="accent3"/>
                </a:solidFill>
              </a:rPr>
              <a:t>   ·   </a:t>
            </a:r>
            <a:pPr indent="0" marL="0">
              <a:buNone/>
            </a:pPr>
            <a:r>
              <a:rPr lang="en-US" sz="900" spc="100" kern="0" dirty="0">
                <a:solidFill>
                  <a:schemeClr val="accent3"/>
                </a:solidFill>
              </a:rPr>
              <a:t>OUR DESIGN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PERFORMANCE</a:t>
            </a:r>
            <a:pPr indent="0" marL="0">
              <a:buNone/>
            </a:pPr>
            <a:r>
              <a:rPr lang="en-US" sz="900" spc="100" kern="0" dirty="0">
                <a:solidFill>
                  <a:schemeClr val="accent3"/>
                </a:solidFill>
              </a:rPr>
              <a:t>   ·   </a:t>
            </a:r>
            <a:pPr indent="0" marL="0">
              <a:buNone/>
            </a:pPr>
            <a:r>
              <a:rPr lang="en-US" sz="900" spc="100" kern="0" dirty="0">
                <a:solidFill>
                  <a:schemeClr val="accent3"/>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Today the whole day's work is released at once: 55% of orders arrive 15:00–17:00, picking peaks at 08:00 and half the lines ship late</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WMS data April–June 2025 (Assa Abloy &amp; DHL Supply Chain, 2025); picker-hours modelled (Deliverable 3 §2.2); performance objectives (Slack et al., 2022)</a:t>
            </a:r>
            <a:endParaRPr lang="en-US" sz="900" dirty="0"/>
          </a:p>
        </p:txBody>
      </p:sp>
      <p:sp>
        <p:nvSpPr>
          <p:cNvPr id="5" name="Owner marker"/>
          <p:cNvSpPr/>
          <p:nvPr/>
        </p:nvSpPr>
        <p:spPr>
          <a:xfrm>
            <a:off x="9098280" y="338328"/>
            <a:ext cx="118872" cy="118872"/>
          </a:xfrm>
          <a:prstGeom prst="rect">
            <a:avLst/>
          </a:prstGeom>
          <a:solidFill>
            <a:srgbClr val="15803D"/>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Arnau</a:t>
            </a:r>
            <a:pPr indent="0" marL="0">
              <a:buNone/>
            </a:pPr>
            <a:r>
              <a:rPr lang="en-US" sz="1000" dirty="0">
                <a:solidFill>
                  <a:schemeClr val="accent2"/>
                </a:solidFill>
              </a:rPr>
              <a:t> · presenter</a:t>
            </a:r>
            <a:endParaRPr lang="en-US" sz="1000" dirty="0"/>
          </a:p>
        </p:txBody>
      </p:sp>
      <p:sp>
        <p:nvSpPr>
          <p:cNvPr id="7" name="Text 5"/>
          <p:cNvSpPr txBox="1"/>
          <p:nvPr/>
        </p:nvSpPr>
        <p:spPr>
          <a:xfrm>
            <a:off x="548640" y="1737360"/>
            <a:ext cx="6126480" cy="274320"/>
          </a:xfrm>
          <a:prstGeom prst="rect">
            <a:avLst/>
          </a:prstGeom>
          <a:noFill/>
          <a:ln/>
        </p:spPr>
        <p:txBody>
          <a:bodyPr wrap="square" lIns="0" tIns="0" rIns="0" bIns="0" rtlCol="0" anchor="t"/>
          <a:lstStyle/>
          <a:p>
            <a:pPr indent="0" marL="0">
              <a:buNone/>
            </a:pPr>
            <a:r>
              <a:rPr lang="en-US" sz="1300" b="1" dirty="0">
                <a:solidFill>
                  <a:schemeClr val="tx2"/>
                </a:solidFill>
              </a:rPr>
              <a:t>When orders arrive vs when lines are picked</a:t>
            </a:r>
            <a:endParaRPr lang="en-US" sz="1300" dirty="0"/>
          </a:p>
        </p:txBody>
      </p:sp>
      <p:sp>
        <p:nvSpPr>
          <p:cNvPr id="8" name="Text 6"/>
          <p:cNvSpPr txBox="1"/>
          <p:nvPr/>
        </p:nvSpPr>
        <p:spPr>
          <a:xfrm>
            <a:off x="548640" y="2002536"/>
            <a:ext cx="6126480" cy="237744"/>
          </a:xfrm>
          <a:prstGeom prst="rect">
            <a:avLst/>
          </a:prstGeom>
          <a:noFill/>
          <a:ln/>
        </p:spPr>
        <p:txBody>
          <a:bodyPr wrap="square" lIns="0" tIns="0" rIns="0" bIns="0" rtlCol="0" anchor="t"/>
          <a:lstStyle/>
          <a:p>
            <a:pPr indent="0" marL="0">
              <a:buNone/>
            </a:pPr>
            <a:r>
              <a:rPr lang="en-US" sz="1100" dirty="0">
                <a:solidFill>
                  <a:schemeClr val="accent2"/>
                </a:solidFill>
              </a:rPr>
              <a:t>share of the day's total per hour of the day, % (April–June 2025)</a:t>
            </a:r>
            <a:endParaRPr lang="en-US" sz="1100" dirty="0"/>
          </a:p>
        </p:txBody>
      </p:sp>
      <p:graphicFrame>
        <p:nvGraphicFramePr>
          <p:cNvPr id="9" name="Chart 0" descr=""/>
          <p:cNvGraphicFramePr/>
          <p:nvPr/>
        </p:nvGraphicFramePr>
        <p:xfrm>
          <a:off x="411480" y="2286000"/>
          <a:ext cx="6309360" cy="37490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1188720" y="2395728"/>
            <a:ext cx="2377440" cy="457200"/>
          </a:xfrm>
          <a:prstGeom prst="rect">
            <a:avLst/>
          </a:prstGeom>
          <a:noFill/>
          <a:ln/>
        </p:spPr>
        <p:txBody>
          <a:bodyPr wrap="square" lIns="0" tIns="0" rIns="0" bIns="0" rtlCol="0" anchor="t"/>
          <a:lstStyle/>
          <a:p>
            <a:pPr indent="0" marL="0">
              <a:buNone/>
            </a:pPr>
            <a:r>
              <a:rPr lang="en-US" sz="1100" b="1" dirty="0">
                <a:solidFill>
                  <a:schemeClr val="accent1"/>
                </a:solidFill>
              </a:rPr>
              <a:t>Picking peaks at 08:00: 1.31× the average hour</a:t>
            </a:r>
            <a:endParaRPr lang="en-US" sz="1100" dirty="0"/>
          </a:p>
        </p:txBody>
      </p:sp>
      <p:sp>
        <p:nvSpPr>
          <p:cNvPr id="11" name="Text 8"/>
          <p:cNvSpPr txBox="1"/>
          <p:nvPr/>
        </p:nvSpPr>
        <p:spPr>
          <a:xfrm>
            <a:off x="3566160" y="2395728"/>
            <a:ext cx="2377440" cy="457200"/>
          </a:xfrm>
          <a:prstGeom prst="rect">
            <a:avLst/>
          </a:prstGeom>
          <a:noFill/>
          <a:ln/>
        </p:spPr>
        <p:txBody>
          <a:bodyPr wrap="square" lIns="0" tIns="0" rIns="0" bIns="0" rtlCol="0" anchor="t"/>
          <a:lstStyle/>
          <a:p>
            <a:pPr algn="r" indent="0" marL="0">
              <a:buNone/>
            </a:pPr>
            <a:r>
              <a:rPr lang="en-US" sz="1100" b="1" dirty="0">
                <a:solidFill>
                  <a:schemeClr val="accent2"/>
                </a:solidFill>
              </a:rPr>
              <a:t>55% of orders arrive 15:00–17:00, released together in the evening</a:t>
            </a:r>
            <a:endParaRPr lang="en-US" sz="1100" dirty="0"/>
          </a:p>
        </p:txBody>
      </p:sp>
      <p:sp>
        <p:nvSpPr>
          <p:cNvPr id="12" name="Text 9"/>
          <p:cNvSpPr txBox="1"/>
          <p:nvPr/>
        </p:nvSpPr>
        <p:spPr>
          <a:xfrm>
            <a:off x="7086600" y="1737360"/>
            <a:ext cx="4556455" cy="274320"/>
          </a:xfrm>
          <a:prstGeom prst="rect">
            <a:avLst/>
          </a:prstGeom>
          <a:noFill/>
          <a:ln/>
        </p:spPr>
        <p:txBody>
          <a:bodyPr wrap="square" lIns="0" tIns="0" rIns="0" bIns="0" rtlCol="0" anchor="t"/>
          <a:lstStyle/>
          <a:p>
            <a:pPr indent="0" marL="0">
              <a:buNone/>
            </a:pPr>
            <a:r>
              <a:rPr lang="en-US" sz="1300" b="1" dirty="0">
                <a:solidFill>
                  <a:schemeClr val="tx2"/>
                </a:solidFill>
              </a:rPr>
              <a:t>Gaps against what the customer needs</a:t>
            </a:r>
            <a:endParaRPr lang="en-US" sz="1300" dirty="0"/>
          </a:p>
        </p:txBody>
      </p:sp>
      <p:sp>
        <p:nvSpPr>
          <p:cNvPr id="13" name="Text 10"/>
          <p:cNvSpPr txBox="1"/>
          <p:nvPr/>
        </p:nvSpPr>
        <p:spPr>
          <a:xfrm>
            <a:off x="7086600" y="2002536"/>
            <a:ext cx="4556455" cy="237744"/>
          </a:xfrm>
          <a:prstGeom prst="rect">
            <a:avLst/>
          </a:prstGeom>
          <a:noFill/>
          <a:ln/>
        </p:spPr>
        <p:txBody>
          <a:bodyPr wrap="square" lIns="0" tIns="0" rIns="0" bIns="0" rtlCol="0" anchor="t"/>
          <a:lstStyle/>
          <a:p>
            <a:pPr indent="0" marL="0">
              <a:buNone/>
            </a:pPr>
            <a:r>
              <a:rPr lang="en-US" sz="1100" dirty="0">
                <a:solidFill>
                  <a:schemeClr val="accent2"/>
                </a:solidFill>
              </a:rPr>
              <a:t>performance objective · today · gap</a:t>
            </a:r>
            <a:endParaRPr lang="en-US" sz="1100" dirty="0"/>
          </a:p>
        </p:txBody>
      </p:sp>
      <p:sp>
        <p:nvSpPr>
          <p:cNvPr id="14" name="Shape 11"/>
          <p:cNvSpPr/>
          <p:nvPr/>
        </p:nvSpPr>
        <p:spPr>
          <a:xfrm>
            <a:off x="7086600" y="2304288"/>
            <a:ext cx="4556455" cy="0"/>
          </a:xfrm>
          <a:prstGeom prst="line">
            <a:avLst/>
          </a:prstGeom>
          <a:noFill/>
          <a:ln w="9525">
            <a:solidFill>
              <a:schemeClr val="accent4"/>
            </a:solidFill>
            <a:prstDash val="solid"/>
          </a:ln>
        </p:spPr>
      </p:sp>
      <p:sp>
        <p:nvSpPr>
          <p:cNvPr id="15" name="Text 12"/>
          <p:cNvSpPr txBox="1"/>
          <p:nvPr/>
        </p:nvSpPr>
        <p:spPr>
          <a:xfrm>
            <a:off x="7086600" y="2395728"/>
            <a:ext cx="1417320" cy="274320"/>
          </a:xfrm>
          <a:prstGeom prst="rect">
            <a:avLst/>
          </a:prstGeom>
          <a:noFill/>
          <a:ln/>
        </p:spPr>
        <p:txBody>
          <a:bodyPr wrap="square" lIns="0" tIns="0" rIns="0" bIns="0" rtlCol="0" anchor="t"/>
          <a:lstStyle/>
          <a:p>
            <a:pPr indent="0" marL="0">
              <a:buNone/>
            </a:pPr>
            <a:r>
              <a:rPr lang="en-US" sz="1300" b="1" dirty="0">
                <a:solidFill>
                  <a:schemeClr val="tx2"/>
                </a:solidFill>
              </a:rPr>
              <a:t>Dependability</a:t>
            </a:r>
            <a:endParaRPr lang="en-US" sz="1300" dirty="0"/>
          </a:p>
        </p:txBody>
      </p:sp>
      <p:sp>
        <p:nvSpPr>
          <p:cNvPr id="16" name="Text 13"/>
          <p:cNvSpPr txBox="1"/>
          <p:nvPr/>
        </p:nvSpPr>
        <p:spPr>
          <a:xfrm>
            <a:off x="8549640" y="2395728"/>
            <a:ext cx="2468880" cy="603504"/>
          </a:xfrm>
          <a:prstGeom prst="rect">
            <a:avLst/>
          </a:prstGeom>
          <a:noFill/>
          <a:ln/>
        </p:spPr>
        <p:txBody>
          <a:bodyPr wrap="square" lIns="0" tIns="0" rIns="0" bIns="0" rtlCol="0" anchor="t"/>
          <a:lstStyle/>
          <a:p>
            <a:pPr indent="0" marL="0">
              <a:buNone/>
            </a:pPr>
            <a:r>
              <a:rPr lang="en-US" sz="1200" dirty="0">
                <a:solidFill>
                  <a:schemeClr val="tx1"/>
                </a:solidFill>
              </a:rPr>
              <a:t>49.9% of lines staged on time; up to 15 trailers parked at the doors</a:t>
            </a:r>
            <a:endParaRPr lang="en-US" sz="1200" dirty="0"/>
          </a:p>
        </p:txBody>
      </p:sp>
      <p:sp>
        <p:nvSpPr>
          <p:cNvPr id="17" name="Shape 14"/>
          <p:cNvSpPr/>
          <p:nvPr/>
        </p:nvSpPr>
        <p:spPr>
          <a:xfrm>
            <a:off x="11140135" y="2459736"/>
            <a:ext cx="118872" cy="118872"/>
          </a:xfrm>
          <a:prstGeom prst="ellipse">
            <a:avLst/>
          </a:prstGeom>
          <a:solidFill>
            <a:schemeClr val="accent5"/>
          </a:solidFill>
          <a:ln/>
        </p:spPr>
      </p:sp>
      <p:sp>
        <p:nvSpPr>
          <p:cNvPr id="18" name="Shape 15"/>
          <p:cNvSpPr/>
          <p:nvPr/>
        </p:nvSpPr>
        <p:spPr>
          <a:xfrm>
            <a:off x="11323015" y="2459736"/>
            <a:ext cx="118872" cy="118872"/>
          </a:xfrm>
          <a:prstGeom prst="ellipse">
            <a:avLst/>
          </a:prstGeom>
          <a:solidFill>
            <a:schemeClr val="accent5"/>
          </a:solidFill>
          <a:ln/>
        </p:spPr>
      </p:sp>
      <p:sp>
        <p:nvSpPr>
          <p:cNvPr id="19" name="Shape 16"/>
          <p:cNvSpPr/>
          <p:nvPr/>
        </p:nvSpPr>
        <p:spPr>
          <a:xfrm>
            <a:off x="11505895" y="2459736"/>
            <a:ext cx="118872" cy="118872"/>
          </a:xfrm>
          <a:prstGeom prst="ellipse">
            <a:avLst/>
          </a:prstGeom>
          <a:solidFill>
            <a:schemeClr val="accent5"/>
          </a:solidFill>
          <a:ln/>
        </p:spPr>
      </p:sp>
      <p:sp>
        <p:nvSpPr>
          <p:cNvPr id="20" name="Shape 17"/>
          <p:cNvSpPr/>
          <p:nvPr/>
        </p:nvSpPr>
        <p:spPr>
          <a:xfrm>
            <a:off x="7086600" y="3017520"/>
            <a:ext cx="4556455" cy="0"/>
          </a:xfrm>
          <a:prstGeom prst="line">
            <a:avLst/>
          </a:prstGeom>
          <a:noFill/>
          <a:ln w="9525">
            <a:solidFill>
              <a:schemeClr val="accent4"/>
            </a:solidFill>
            <a:prstDash val="solid"/>
          </a:ln>
        </p:spPr>
      </p:sp>
      <p:sp>
        <p:nvSpPr>
          <p:cNvPr id="21" name="Text 18"/>
          <p:cNvSpPr txBox="1"/>
          <p:nvPr/>
        </p:nvSpPr>
        <p:spPr>
          <a:xfrm>
            <a:off x="7086600" y="3108960"/>
            <a:ext cx="1417320" cy="274320"/>
          </a:xfrm>
          <a:prstGeom prst="rect">
            <a:avLst/>
          </a:prstGeom>
          <a:noFill/>
          <a:ln/>
        </p:spPr>
        <p:txBody>
          <a:bodyPr wrap="square" lIns="0" tIns="0" rIns="0" bIns="0" rtlCol="0" anchor="t"/>
          <a:lstStyle/>
          <a:p>
            <a:pPr indent="0" marL="0">
              <a:buNone/>
            </a:pPr>
            <a:r>
              <a:rPr lang="en-US" sz="1300" b="1" dirty="0">
                <a:solidFill>
                  <a:schemeClr val="tx2"/>
                </a:solidFill>
              </a:rPr>
              <a:t>Speed</a:t>
            </a:r>
            <a:endParaRPr lang="en-US" sz="1300" dirty="0"/>
          </a:p>
        </p:txBody>
      </p:sp>
      <p:sp>
        <p:nvSpPr>
          <p:cNvPr id="22" name="Text 19"/>
          <p:cNvSpPr txBox="1"/>
          <p:nvPr/>
        </p:nvSpPr>
        <p:spPr>
          <a:xfrm>
            <a:off x="8549640" y="3108960"/>
            <a:ext cx="2468880" cy="603504"/>
          </a:xfrm>
          <a:prstGeom prst="rect">
            <a:avLst/>
          </a:prstGeom>
          <a:noFill/>
          <a:ln/>
        </p:spPr>
        <p:txBody>
          <a:bodyPr wrap="square" lIns="0" tIns="0" rIns="0" bIns="0" rtlCol="0" anchor="t"/>
          <a:lstStyle/>
          <a:p>
            <a:pPr indent="0" marL="0">
              <a:buNone/>
            </a:pPr>
            <a:r>
              <a:rPr lang="en-US" sz="1200" dirty="0">
                <a:solidFill>
                  <a:schemeClr val="tx1"/>
                </a:solidFill>
              </a:rPr>
              <a:t>37% of orders out within 24 h; the slowest 10% take over 102 h</a:t>
            </a:r>
            <a:endParaRPr lang="en-US" sz="1200" dirty="0"/>
          </a:p>
        </p:txBody>
      </p:sp>
      <p:sp>
        <p:nvSpPr>
          <p:cNvPr id="23" name="Shape 20"/>
          <p:cNvSpPr/>
          <p:nvPr/>
        </p:nvSpPr>
        <p:spPr>
          <a:xfrm>
            <a:off x="11140135" y="3172968"/>
            <a:ext cx="118872" cy="118872"/>
          </a:xfrm>
          <a:prstGeom prst="ellipse">
            <a:avLst/>
          </a:prstGeom>
          <a:solidFill>
            <a:schemeClr val="accent5"/>
          </a:solidFill>
          <a:ln/>
        </p:spPr>
      </p:sp>
      <p:sp>
        <p:nvSpPr>
          <p:cNvPr id="24" name="Shape 21"/>
          <p:cNvSpPr/>
          <p:nvPr/>
        </p:nvSpPr>
        <p:spPr>
          <a:xfrm>
            <a:off x="11323015" y="3172968"/>
            <a:ext cx="118872" cy="118872"/>
          </a:xfrm>
          <a:prstGeom prst="ellipse">
            <a:avLst/>
          </a:prstGeom>
          <a:solidFill>
            <a:schemeClr val="accent5"/>
          </a:solidFill>
          <a:ln/>
        </p:spPr>
      </p:sp>
      <p:sp>
        <p:nvSpPr>
          <p:cNvPr id="25" name="Shape 22"/>
          <p:cNvSpPr/>
          <p:nvPr/>
        </p:nvSpPr>
        <p:spPr>
          <a:xfrm>
            <a:off x="11505895" y="3172968"/>
            <a:ext cx="118872" cy="118872"/>
          </a:xfrm>
          <a:prstGeom prst="ellipse">
            <a:avLst/>
          </a:prstGeom>
          <a:solidFill>
            <a:schemeClr val="accent5"/>
          </a:solidFill>
          <a:ln/>
        </p:spPr>
      </p:sp>
      <p:sp>
        <p:nvSpPr>
          <p:cNvPr id="26" name="Shape 23"/>
          <p:cNvSpPr/>
          <p:nvPr/>
        </p:nvSpPr>
        <p:spPr>
          <a:xfrm>
            <a:off x="7086600" y="3730752"/>
            <a:ext cx="4556455" cy="0"/>
          </a:xfrm>
          <a:prstGeom prst="line">
            <a:avLst/>
          </a:prstGeom>
          <a:noFill/>
          <a:ln w="9525">
            <a:solidFill>
              <a:schemeClr val="accent4"/>
            </a:solidFill>
            <a:prstDash val="solid"/>
          </a:ln>
        </p:spPr>
      </p:sp>
      <p:sp>
        <p:nvSpPr>
          <p:cNvPr id="27" name="Text 24"/>
          <p:cNvSpPr txBox="1"/>
          <p:nvPr/>
        </p:nvSpPr>
        <p:spPr>
          <a:xfrm>
            <a:off x="7086600" y="3822192"/>
            <a:ext cx="1417320" cy="274320"/>
          </a:xfrm>
          <a:prstGeom prst="rect">
            <a:avLst/>
          </a:prstGeom>
          <a:noFill/>
          <a:ln/>
        </p:spPr>
        <p:txBody>
          <a:bodyPr wrap="square" lIns="0" tIns="0" rIns="0" bIns="0" rtlCol="0" anchor="t"/>
          <a:lstStyle/>
          <a:p>
            <a:pPr indent="0" marL="0">
              <a:buNone/>
            </a:pPr>
            <a:r>
              <a:rPr lang="en-US" sz="1300" b="1" dirty="0">
                <a:solidFill>
                  <a:schemeClr val="tx2"/>
                </a:solidFill>
              </a:rPr>
              <a:t>Cost</a:t>
            </a:r>
            <a:endParaRPr lang="en-US" sz="1300" dirty="0"/>
          </a:p>
        </p:txBody>
      </p:sp>
      <p:sp>
        <p:nvSpPr>
          <p:cNvPr id="28" name="Text 25"/>
          <p:cNvSpPr txBox="1"/>
          <p:nvPr/>
        </p:nvSpPr>
        <p:spPr>
          <a:xfrm>
            <a:off x="8549640" y="3822192"/>
            <a:ext cx="2468880" cy="603504"/>
          </a:xfrm>
          <a:prstGeom prst="rect">
            <a:avLst/>
          </a:prstGeom>
          <a:noFill/>
          <a:ln/>
        </p:spPr>
        <p:txBody>
          <a:bodyPr wrap="square" lIns="0" tIns="0" rIns="0" bIns="0" rtlCol="0" anchor="t"/>
          <a:lstStyle/>
          <a:p>
            <a:pPr indent="0" marL="0">
              <a:buNone/>
            </a:pPr>
            <a:r>
              <a:rPr lang="en-US" sz="1200" dirty="0">
                <a:solidFill>
                  <a:schemeClr val="tx1"/>
                </a:solidFill>
              </a:rPr>
              <a:t>~31 picker-hours a day: one order per tour, staffed for the 08:00 peak</a:t>
            </a:r>
            <a:endParaRPr lang="en-US" sz="1200" dirty="0"/>
          </a:p>
        </p:txBody>
      </p:sp>
      <p:sp>
        <p:nvSpPr>
          <p:cNvPr id="29" name="Shape 26"/>
          <p:cNvSpPr/>
          <p:nvPr/>
        </p:nvSpPr>
        <p:spPr>
          <a:xfrm>
            <a:off x="11140135" y="3886200"/>
            <a:ext cx="118872" cy="118872"/>
          </a:xfrm>
          <a:prstGeom prst="ellipse">
            <a:avLst/>
          </a:prstGeom>
          <a:solidFill>
            <a:schemeClr val="accent5"/>
          </a:solidFill>
          <a:ln/>
        </p:spPr>
      </p:sp>
      <p:sp>
        <p:nvSpPr>
          <p:cNvPr id="30" name="Shape 27"/>
          <p:cNvSpPr/>
          <p:nvPr/>
        </p:nvSpPr>
        <p:spPr>
          <a:xfrm>
            <a:off x="11323015" y="3886200"/>
            <a:ext cx="118872" cy="118872"/>
          </a:xfrm>
          <a:prstGeom prst="ellipse">
            <a:avLst/>
          </a:prstGeom>
          <a:solidFill>
            <a:schemeClr val="accent5"/>
          </a:solidFill>
          <a:ln/>
        </p:spPr>
      </p:sp>
      <p:sp>
        <p:nvSpPr>
          <p:cNvPr id="31" name="Shape 28"/>
          <p:cNvSpPr/>
          <p:nvPr/>
        </p:nvSpPr>
        <p:spPr>
          <a:xfrm>
            <a:off x="11505895" y="3886200"/>
            <a:ext cx="118872" cy="118872"/>
          </a:xfrm>
          <a:prstGeom prst="ellipse">
            <a:avLst/>
          </a:prstGeom>
          <a:solidFill>
            <a:schemeClr val="accent5"/>
          </a:solidFill>
          <a:ln/>
        </p:spPr>
      </p:sp>
      <p:sp>
        <p:nvSpPr>
          <p:cNvPr id="32" name="Shape 29"/>
          <p:cNvSpPr/>
          <p:nvPr/>
        </p:nvSpPr>
        <p:spPr>
          <a:xfrm>
            <a:off x="7086600" y="4443984"/>
            <a:ext cx="4556455" cy="0"/>
          </a:xfrm>
          <a:prstGeom prst="line">
            <a:avLst/>
          </a:prstGeom>
          <a:noFill/>
          <a:ln w="9525">
            <a:solidFill>
              <a:schemeClr val="accent4"/>
            </a:solidFill>
            <a:prstDash val="solid"/>
          </a:ln>
        </p:spPr>
      </p:sp>
      <p:sp>
        <p:nvSpPr>
          <p:cNvPr id="33" name="Text 30"/>
          <p:cNvSpPr txBox="1"/>
          <p:nvPr/>
        </p:nvSpPr>
        <p:spPr>
          <a:xfrm>
            <a:off x="7086600" y="4535424"/>
            <a:ext cx="1417320" cy="274320"/>
          </a:xfrm>
          <a:prstGeom prst="rect">
            <a:avLst/>
          </a:prstGeom>
          <a:noFill/>
          <a:ln/>
        </p:spPr>
        <p:txBody>
          <a:bodyPr wrap="square" lIns="0" tIns="0" rIns="0" bIns="0" rtlCol="0" anchor="t"/>
          <a:lstStyle/>
          <a:p>
            <a:pPr indent="0" marL="0">
              <a:buNone/>
            </a:pPr>
            <a:r>
              <a:rPr lang="en-US" sz="1300" b="1" dirty="0">
                <a:solidFill>
                  <a:schemeClr val="tx2"/>
                </a:solidFill>
              </a:rPr>
              <a:t>Quality</a:t>
            </a:r>
            <a:endParaRPr lang="en-US" sz="1300" dirty="0"/>
          </a:p>
        </p:txBody>
      </p:sp>
      <p:sp>
        <p:nvSpPr>
          <p:cNvPr id="34" name="Text 31"/>
          <p:cNvSpPr txBox="1"/>
          <p:nvPr/>
        </p:nvSpPr>
        <p:spPr>
          <a:xfrm>
            <a:off x="8549640" y="4535424"/>
            <a:ext cx="2468880" cy="603504"/>
          </a:xfrm>
          <a:prstGeom prst="rect">
            <a:avLst/>
          </a:prstGeom>
          <a:noFill/>
          <a:ln/>
        </p:spPr>
        <p:txBody>
          <a:bodyPr wrap="square" lIns="0" tIns="0" rIns="0" bIns="0" rtlCol="0" anchor="t"/>
          <a:lstStyle/>
          <a:p>
            <a:pPr indent="0" marL="0">
              <a:buNone/>
            </a:pPr>
            <a:r>
              <a:rPr lang="en-US" sz="1200" dirty="0">
                <a:solidFill>
                  <a:schemeClr val="tx1"/>
                </a:solidFill>
              </a:rPr>
              <a:t>slotting matches demand for only 49% of items</a:t>
            </a:r>
            <a:endParaRPr lang="en-US" sz="1200" dirty="0"/>
          </a:p>
        </p:txBody>
      </p:sp>
      <p:sp>
        <p:nvSpPr>
          <p:cNvPr id="35" name="Shape 32"/>
          <p:cNvSpPr/>
          <p:nvPr/>
        </p:nvSpPr>
        <p:spPr>
          <a:xfrm>
            <a:off x="11140135" y="4599432"/>
            <a:ext cx="118872" cy="118872"/>
          </a:xfrm>
          <a:prstGeom prst="ellipse">
            <a:avLst/>
          </a:prstGeom>
          <a:solidFill>
            <a:schemeClr val="accent5"/>
          </a:solidFill>
          <a:ln/>
        </p:spPr>
      </p:sp>
      <p:sp>
        <p:nvSpPr>
          <p:cNvPr id="36" name="Shape 33"/>
          <p:cNvSpPr/>
          <p:nvPr/>
        </p:nvSpPr>
        <p:spPr>
          <a:xfrm>
            <a:off x="11323015" y="4599432"/>
            <a:ext cx="118872" cy="118872"/>
          </a:xfrm>
          <a:prstGeom prst="ellipse">
            <a:avLst/>
          </a:prstGeom>
          <a:solidFill>
            <a:schemeClr val="accent5"/>
          </a:solidFill>
          <a:ln/>
        </p:spPr>
      </p:sp>
      <p:sp>
        <p:nvSpPr>
          <p:cNvPr id="37" name="Shape 34"/>
          <p:cNvSpPr/>
          <p:nvPr/>
        </p:nvSpPr>
        <p:spPr>
          <a:xfrm>
            <a:off x="11505895" y="4599432"/>
            <a:ext cx="118872" cy="118872"/>
          </a:xfrm>
          <a:prstGeom prst="ellipse">
            <a:avLst/>
          </a:prstGeom>
          <a:solidFill>
            <a:schemeClr val="accent4"/>
          </a:solidFill>
          <a:ln/>
        </p:spPr>
      </p:sp>
      <p:sp>
        <p:nvSpPr>
          <p:cNvPr id="38" name="Shape 35"/>
          <p:cNvSpPr/>
          <p:nvPr/>
        </p:nvSpPr>
        <p:spPr>
          <a:xfrm>
            <a:off x="7086600" y="5157216"/>
            <a:ext cx="4556455" cy="0"/>
          </a:xfrm>
          <a:prstGeom prst="line">
            <a:avLst/>
          </a:prstGeom>
          <a:noFill/>
          <a:ln w="9525">
            <a:solidFill>
              <a:schemeClr val="accent4"/>
            </a:solidFill>
            <a:prstDash val="solid"/>
          </a:ln>
        </p:spPr>
      </p:sp>
      <p:sp>
        <p:nvSpPr>
          <p:cNvPr id="39" name="Text 36"/>
          <p:cNvSpPr txBox="1"/>
          <p:nvPr/>
        </p:nvSpPr>
        <p:spPr>
          <a:xfrm>
            <a:off x="7086600" y="5248656"/>
            <a:ext cx="1417320" cy="274320"/>
          </a:xfrm>
          <a:prstGeom prst="rect">
            <a:avLst/>
          </a:prstGeom>
          <a:noFill/>
          <a:ln/>
        </p:spPr>
        <p:txBody>
          <a:bodyPr wrap="square" lIns="0" tIns="0" rIns="0" bIns="0" rtlCol="0" anchor="t"/>
          <a:lstStyle/>
          <a:p>
            <a:pPr indent="0" marL="0">
              <a:buNone/>
            </a:pPr>
            <a:r>
              <a:rPr lang="en-US" sz="1300" b="1" dirty="0">
                <a:solidFill>
                  <a:schemeClr val="tx2"/>
                </a:solidFill>
              </a:rPr>
              <a:t>Flexibility</a:t>
            </a:r>
            <a:endParaRPr lang="en-US" sz="1300" dirty="0"/>
          </a:p>
        </p:txBody>
      </p:sp>
      <p:sp>
        <p:nvSpPr>
          <p:cNvPr id="40" name="Text 37"/>
          <p:cNvSpPr txBox="1"/>
          <p:nvPr/>
        </p:nvSpPr>
        <p:spPr>
          <a:xfrm>
            <a:off x="8549640" y="5248656"/>
            <a:ext cx="2468880" cy="603504"/>
          </a:xfrm>
          <a:prstGeom prst="rect">
            <a:avLst/>
          </a:prstGeom>
          <a:noFill/>
          <a:ln/>
        </p:spPr>
        <p:txBody>
          <a:bodyPr wrap="square" lIns="0" tIns="0" rIns="0" bIns="0" rtlCol="0" anchor="t"/>
          <a:lstStyle/>
          <a:p>
            <a:pPr indent="0" marL="0">
              <a:buNone/>
            </a:pPr>
            <a:r>
              <a:rPr lang="en-US" sz="1200" dirty="0">
                <a:solidFill>
                  <a:schemeClr val="tx1"/>
                </a:solidFill>
              </a:rPr>
              <a:t>racks full in ~4 months at the current stock growth</a:t>
            </a:r>
            <a:endParaRPr lang="en-US" sz="1200" dirty="0"/>
          </a:p>
        </p:txBody>
      </p:sp>
      <p:sp>
        <p:nvSpPr>
          <p:cNvPr id="41" name="Shape 38"/>
          <p:cNvSpPr/>
          <p:nvPr/>
        </p:nvSpPr>
        <p:spPr>
          <a:xfrm>
            <a:off x="11140135" y="5312664"/>
            <a:ext cx="118872" cy="118872"/>
          </a:xfrm>
          <a:prstGeom prst="ellipse">
            <a:avLst/>
          </a:prstGeom>
          <a:solidFill>
            <a:schemeClr val="accent5"/>
          </a:solidFill>
          <a:ln/>
        </p:spPr>
      </p:sp>
      <p:sp>
        <p:nvSpPr>
          <p:cNvPr id="42" name="Shape 39"/>
          <p:cNvSpPr/>
          <p:nvPr/>
        </p:nvSpPr>
        <p:spPr>
          <a:xfrm>
            <a:off x="11323015" y="5312664"/>
            <a:ext cx="118872" cy="118872"/>
          </a:xfrm>
          <a:prstGeom prst="ellipse">
            <a:avLst/>
          </a:prstGeom>
          <a:solidFill>
            <a:schemeClr val="accent5"/>
          </a:solidFill>
          <a:ln/>
        </p:spPr>
      </p:sp>
      <p:sp>
        <p:nvSpPr>
          <p:cNvPr id="43" name="Shape 40"/>
          <p:cNvSpPr/>
          <p:nvPr/>
        </p:nvSpPr>
        <p:spPr>
          <a:xfrm>
            <a:off x="11505895" y="5312664"/>
            <a:ext cx="118872" cy="118872"/>
          </a:xfrm>
          <a:prstGeom prst="ellipse">
            <a:avLst/>
          </a:prstGeom>
          <a:solidFill>
            <a:schemeClr val="accent4"/>
          </a:solidFill>
          <a:ln/>
        </p:spPr>
      </p:sp>
      <p:sp>
        <p:nvSpPr>
          <p:cNvPr id="44" name="Shape 41"/>
          <p:cNvSpPr/>
          <p:nvPr/>
        </p:nvSpPr>
        <p:spPr>
          <a:xfrm>
            <a:off x="7086600" y="5870448"/>
            <a:ext cx="4556455" cy="0"/>
          </a:xfrm>
          <a:prstGeom prst="line">
            <a:avLst/>
          </a:prstGeom>
          <a:noFill/>
          <a:ln w="9525">
            <a:solidFill>
              <a:schemeClr val="accent4"/>
            </a:solidFill>
            <a:prstDash val="solid"/>
          </a:ln>
        </p:spPr>
      </p:sp>
      <p:sp>
        <p:nvSpPr>
          <p:cNvPr id="45" name="Shape 42"/>
          <p:cNvSpPr/>
          <p:nvPr/>
        </p:nvSpPr>
        <p:spPr>
          <a:xfrm>
            <a:off x="7086600" y="6053328"/>
            <a:ext cx="118872" cy="118872"/>
          </a:xfrm>
          <a:prstGeom prst="ellipse">
            <a:avLst/>
          </a:prstGeom>
          <a:solidFill>
            <a:schemeClr val="accent5"/>
          </a:solidFill>
          <a:ln/>
        </p:spPr>
      </p:sp>
      <p:sp>
        <p:nvSpPr>
          <p:cNvPr id="46" name="Shape 43"/>
          <p:cNvSpPr/>
          <p:nvPr/>
        </p:nvSpPr>
        <p:spPr>
          <a:xfrm>
            <a:off x="7269480" y="6053328"/>
            <a:ext cx="118872" cy="118872"/>
          </a:xfrm>
          <a:prstGeom prst="ellipse">
            <a:avLst/>
          </a:prstGeom>
          <a:solidFill>
            <a:schemeClr val="accent5"/>
          </a:solidFill>
          <a:ln/>
        </p:spPr>
      </p:sp>
      <p:sp>
        <p:nvSpPr>
          <p:cNvPr id="47" name="Shape 44"/>
          <p:cNvSpPr/>
          <p:nvPr/>
        </p:nvSpPr>
        <p:spPr>
          <a:xfrm>
            <a:off x="7452360" y="6053328"/>
            <a:ext cx="118872" cy="118872"/>
          </a:xfrm>
          <a:prstGeom prst="ellipse">
            <a:avLst/>
          </a:prstGeom>
          <a:solidFill>
            <a:schemeClr val="accent5"/>
          </a:solidFill>
          <a:ln/>
        </p:spPr>
      </p:sp>
      <p:sp>
        <p:nvSpPr>
          <p:cNvPr id="48" name="Text 45"/>
          <p:cNvSpPr txBox="1"/>
          <p:nvPr/>
        </p:nvSpPr>
        <p:spPr>
          <a:xfrm>
            <a:off x="7680960" y="6007608"/>
            <a:ext cx="914400" cy="201168"/>
          </a:xfrm>
          <a:prstGeom prst="rect">
            <a:avLst/>
          </a:prstGeom>
          <a:noFill/>
          <a:ln/>
        </p:spPr>
        <p:txBody>
          <a:bodyPr wrap="square" lIns="0" tIns="0" rIns="0" bIns="0" rtlCol="0" anchor="t"/>
          <a:lstStyle/>
          <a:p>
            <a:pPr indent="0" marL="0">
              <a:buNone/>
            </a:pPr>
            <a:r>
              <a:rPr lang="en-US" sz="1000" dirty="0">
                <a:solidFill>
                  <a:schemeClr val="accent2"/>
                </a:solidFill>
              </a:rPr>
              <a:t>large gap</a:t>
            </a:r>
            <a:endParaRPr lang="en-US" sz="1000" dirty="0"/>
          </a:p>
        </p:txBody>
      </p:sp>
      <p:sp>
        <p:nvSpPr>
          <p:cNvPr id="49" name="Shape 46"/>
          <p:cNvSpPr/>
          <p:nvPr/>
        </p:nvSpPr>
        <p:spPr>
          <a:xfrm>
            <a:off x="8686800" y="6053328"/>
            <a:ext cx="118872" cy="118872"/>
          </a:xfrm>
          <a:prstGeom prst="ellipse">
            <a:avLst/>
          </a:prstGeom>
          <a:solidFill>
            <a:schemeClr val="accent5"/>
          </a:solidFill>
          <a:ln/>
        </p:spPr>
      </p:sp>
      <p:sp>
        <p:nvSpPr>
          <p:cNvPr id="50" name="Shape 47"/>
          <p:cNvSpPr/>
          <p:nvPr/>
        </p:nvSpPr>
        <p:spPr>
          <a:xfrm>
            <a:off x="8869680" y="6053328"/>
            <a:ext cx="118872" cy="118872"/>
          </a:xfrm>
          <a:prstGeom prst="ellipse">
            <a:avLst/>
          </a:prstGeom>
          <a:solidFill>
            <a:schemeClr val="accent5"/>
          </a:solidFill>
          <a:ln/>
        </p:spPr>
      </p:sp>
      <p:sp>
        <p:nvSpPr>
          <p:cNvPr id="51" name="Shape 48"/>
          <p:cNvSpPr/>
          <p:nvPr/>
        </p:nvSpPr>
        <p:spPr>
          <a:xfrm>
            <a:off x="9052560" y="6053328"/>
            <a:ext cx="118872" cy="118872"/>
          </a:xfrm>
          <a:prstGeom prst="ellipse">
            <a:avLst/>
          </a:prstGeom>
          <a:solidFill>
            <a:schemeClr val="accent4"/>
          </a:solidFill>
          <a:ln/>
        </p:spPr>
      </p:sp>
      <p:sp>
        <p:nvSpPr>
          <p:cNvPr id="52" name="Text 49"/>
          <p:cNvSpPr txBox="1"/>
          <p:nvPr/>
        </p:nvSpPr>
        <p:spPr>
          <a:xfrm>
            <a:off x="9281160" y="6007608"/>
            <a:ext cx="1097280" cy="201168"/>
          </a:xfrm>
          <a:prstGeom prst="rect">
            <a:avLst/>
          </a:prstGeom>
          <a:noFill/>
          <a:ln/>
        </p:spPr>
        <p:txBody>
          <a:bodyPr wrap="square" lIns="0" tIns="0" rIns="0" bIns="0" rtlCol="0" anchor="t"/>
          <a:lstStyle/>
          <a:p>
            <a:pPr indent="0" marL="0">
              <a:buNone/>
            </a:pPr>
            <a:r>
              <a:rPr lang="en-US" sz="1000" dirty="0">
                <a:solidFill>
                  <a:schemeClr val="accent2"/>
                </a:solidFill>
              </a:rPr>
              <a:t>medium gap</a:t>
            </a:r>
            <a:endParaRPr lang="en-US" sz="10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WHY CHANGE</a:t>
            </a:r>
            <a:pPr indent="0" marL="0">
              <a:buNone/>
            </a:pPr>
            <a:r>
              <a:rPr lang="en-US" sz="900" spc="100" kern="0" dirty="0">
                <a:solidFill>
                  <a:schemeClr val="accent3"/>
                </a:solidFill>
              </a:rPr>
              <a:t>   ·   </a:t>
            </a:r>
            <a:pPr indent="0" marL="0">
              <a:buNone/>
            </a:pPr>
            <a:r>
              <a:rPr lang="en-US" sz="900" b="1" spc="100" kern="0" dirty="0">
                <a:solidFill>
                  <a:schemeClr val="accent1"/>
                </a:solidFill>
              </a:rPr>
              <a:t>OUR DESIGN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PERFORMANCE</a:t>
            </a:r>
            <a:pPr indent="0" marL="0">
              <a:buNone/>
            </a:pPr>
            <a:r>
              <a:rPr lang="en-US" sz="900" spc="100" kern="0" dirty="0">
                <a:solidFill>
                  <a:schemeClr val="accent3"/>
                </a:solidFill>
              </a:rPr>
              <a:t>   ·   </a:t>
            </a:r>
            <a:pPr indent="0" marL="0">
              <a:buNone/>
            </a:pPr>
            <a:r>
              <a:rPr lang="en-US" sz="900" spc="100" kern="0" dirty="0">
                <a:solidFill>
                  <a:schemeClr val="accent3"/>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We chose Option B, 'hybrid density': it scores highest (3.75 of 5) and stays ahead when cost counts most</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team decision matrix (Deliverable 1 §14–15); storage and picking systems (HAN University of Applied Sciences, 2026a); batch picking (de Koster et al., 2007)</a:t>
            </a:r>
            <a:endParaRPr lang="en-US" sz="900" dirty="0"/>
          </a:p>
        </p:txBody>
      </p:sp>
      <p:sp>
        <p:nvSpPr>
          <p:cNvPr id="5" name="Owner marker"/>
          <p:cNvSpPr/>
          <p:nvPr/>
        </p:nvSpPr>
        <p:spPr>
          <a:xfrm>
            <a:off x="9098280" y="338328"/>
            <a:ext cx="118872" cy="118872"/>
          </a:xfrm>
          <a:prstGeom prst="rect">
            <a:avLst/>
          </a:prstGeom>
          <a:solidFill>
            <a:srgbClr val="C2410C"/>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Vidhi</a:t>
            </a:r>
            <a:pPr indent="0" marL="0">
              <a:buNone/>
            </a:pPr>
            <a:r>
              <a:rPr lang="en-US" sz="1000" dirty="0">
                <a:solidFill>
                  <a:schemeClr val="accent2"/>
                </a:solidFill>
              </a:rPr>
              <a:t> · presenter</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949440" cy="914400"/>
        </p:xfrm>
        <a:graphic>
          <a:graphicData uri="http://schemas.openxmlformats.org/drawingml/2006/table">
            <a:tbl>
              <a:tblPr/>
              <a:tblGrid>
                <a:gridCol w="2788920"/>
                <a:gridCol w="868680"/>
                <a:gridCol w="1097280"/>
                <a:gridCol w="1097280"/>
                <a:gridCol w="1097280"/>
              </a:tblGrid>
              <a:tr h="566928">
                <a:tc>
                  <a:txBody>
                    <a:bodyPr/>
                    <a:lstStyle/>
                    <a:p>
                      <a:pPr indent="0" marL="0">
                        <a:buNone/>
                      </a:pPr>
                      <a:r>
                        <a:rPr lang="en-US" sz="1300" b="1" dirty="0">
                          <a:solidFill>
                            <a:schemeClr val="tx1"/>
                          </a:solidFill>
                        </a:rPr>
                        <a:t>Criterion</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ctr" indent="0" marL="0">
                        <a:buNone/>
                      </a:pPr>
                      <a:r>
                        <a:rPr lang="en-US" sz="1300" b="1" dirty="0">
                          <a:solidFill>
                            <a:schemeClr val="tx1"/>
                          </a:solidFill>
                        </a:rPr>
                        <a:t>Weight</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ctr" indent="0" marL="0">
                        <a:buNone/>
                      </a:pPr>
                      <a:r>
                        <a:rPr lang="en-US" sz="1300" b="1" dirty="0">
                          <a:solidFill>
                            <a:schemeClr val="tx1"/>
                          </a:solidFill>
                        </a:rPr>
                        <a:t>A</a:t>
                      </a:r>
                      <a:endParaRPr lang="en-US" sz="1300" dirty="0"/>
                    </a:p>
                    <a:p>
                      <a:pPr algn="ctr" indent="0" marL="0">
                        <a:buNone/>
                      </a:pPr>
                      <a:r>
                        <a:rPr lang="en-US" sz="1000" dirty="0">
                          <a:solidFill>
                            <a:schemeClr val="accent2"/>
                          </a:solidFill>
                        </a:rPr>
                        <a:t>Conventional+</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B</a:t>
                      </a:r>
                      <a:endParaRPr lang="en-US" sz="1300" dirty="0"/>
                    </a:p>
                    <a:p>
                      <a:pPr algn="ctr" indent="0" marL="0">
                        <a:buNone/>
                      </a:pPr>
                      <a:r>
                        <a:rPr lang="en-US" sz="1000" dirty="0">
                          <a:solidFill>
                            <a:schemeClr val="accent2"/>
                          </a:solidFill>
                        </a:rPr>
                        <a:t>Hybrid density</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C</a:t>
                      </a:r>
                      <a:endParaRPr lang="en-US" sz="1300" dirty="0"/>
                    </a:p>
                    <a:p>
                      <a:pPr algn="ctr" indent="0" marL="0">
                        <a:buNone/>
                      </a:pPr>
                      <a:r>
                        <a:rPr lang="en-US" sz="1000" dirty="0">
                          <a:solidFill>
                            <a:schemeClr val="accent2"/>
                          </a:solidFill>
                        </a:rPr>
                        <a:t>Semi-automated</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solidFill>
                      <a:schemeClr val="bg1"/>
                    </a:solidFill>
                  </a:tcPr>
                </a:tc>
              </a:tr>
              <a:tr h="384048">
                <a:tc>
                  <a:txBody>
                    <a:bodyPr/>
                    <a:lstStyle/>
                    <a:p>
                      <a:pPr indent="0" marL="0">
                        <a:buNone/>
                      </a:pPr>
                      <a:r>
                        <a:rPr lang="en-US" sz="1300" dirty="0">
                          <a:solidFill>
                            <a:schemeClr val="tx1"/>
                          </a:solidFill>
                        </a:rPr>
                        <a:t>Space fit (7,000 m²)</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accent2"/>
                          </a:solidFill>
                        </a:rPr>
                        <a:t>20%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384048">
                <a:tc>
                  <a:txBody>
                    <a:bodyPr/>
                    <a:lstStyle/>
                    <a:p>
                      <a:pPr indent="0" marL="0">
                        <a:buNone/>
                      </a:pPr>
                      <a:r>
                        <a:rPr lang="en-US" sz="1300" dirty="0">
                          <a:solidFill>
                            <a:schemeClr val="tx1"/>
                          </a:solidFill>
                        </a:rPr>
                        <a:t>Labour efficiency</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accent2"/>
                          </a:solidFill>
                        </a:rPr>
                        <a:t>20%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384048">
                <a:tc>
                  <a:txBody>
                    <a:bodyPr/>
                    <a:lstStyle/>
                    <a:p>
                      <a:pPr indent="0" marL="0">
                        <a:buNone/>
                      </a:pPr>
                      <a:r>
                        <a:rPr lang="en-US" sz="1300" dirty="0">
                          <a:solidFill>
                            <a:schemeClr val="tx1"/>
                          </a:solidFill>
                        </a:rPr>
                        <a:t>CAPEX (lower is better)</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accent2"/>
                          </a:solidFill>
                        </a:rPr>
                        <a:t>15%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3</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300" dirty="0">
                          <a:solidFill>
                            <a:schemeClr val="tx1"/>
                          </a:solidFill>
                        </a:rPr>
                        <a:t>1</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384048">
                <a:tc>
                  <a:txBody>
                    <a:bodyPr/>
                    <a:lstStyle/>
                    <a:p>
                      <a:pPr indent="0" marL="0">
                        <a:buNone/>
                      </a:pPr>
                      <a:r>
                        <a:rPr lang="en-US" sz="1300" dirty="0">
                          <a:solidFill>
                            <a:schemeClr val="tx1"/>
                          </a:solidFill>
                        </a:rPr>
                        <a:t>Travel / throughput</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accent2"/>
                          </a:solidFill>
                        </a:rPr>
                        <a:t>15%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384048">
                <a:tc>
                  <a:txBody>
                    <a:bodyPr/>
                    <a:lstStyle/>
                    <a:p>
                      <a:pPr indent="0" marL="0">
                        <a:buNone/>
                      </a:pPr>
                      <a:r>
                        <a:rPr lang="en-US" sz="1300" dirty="0">
                          <a:solidFill>
                            <a:schemeClr val="tx1"/>
                          </a:solidFill>
                        </a:rPr>
                        <a:t>Flexibility</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accent2"/>
                          </a:solidFill>
                        </a:rPr>
                        <a:t>10%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384048">
                <a:tc>
                  <a:txBody>
                    <a:bodyPr/>
                    <a:lstStyle/>
                    <a:p>
                      <a:pPr indent="0" marL="0">
                        <a:buNone/>
                      </a:pPr>
                      <a:r>
                        <a:rPr lang="en-US" sz="1300" dirty="0">
                          <a:solidFill>
                            <a:schemeClr val="tx1"/>
                          </a:solidFill>
                        </a:rPr>
                        <a:t>Simplicity / low risk</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accent2"/>
                          </a:solidFill>
                        </a:rPr>
                        <a:t>10%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3</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384048">
                <a:tc>
                  <a:txBody>
                    <a:bodyPr/>
                    <a:lstStyle/>
                    <a:p>
                      <a:pPr indent="0" marL="0">
                        <a:buNone/>
                      </a:pPr>
                      <a:r>
                        <a:rPr lang="en-US" sz="1300" dirty="0">
                          <a:solidFill>
                            <a:schemeClr val="tx1"/>
                          </a:solidFill>
                        </a:rPr>
                        <a:t>Peak resilience</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accent2"/>
                          </a:solidFill>
                        </a:rPr>
                        <a:t>10%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420624">
                <a:tc>
                  <a:txBody>
                    <a:bodyPr/>
                    <a:lstStyle/>
                    <a:p>
                      <a:pPr indent="0" marL="0">
                        <a:buNone/>
                      </a:pPr>
                      <a:r>
                        <a:rPr lang="en-US" sz="1300" b="1" dirty="0">
                          <a:solidFill>
                            <a:schemeClr val="tx1"/>
                          </a:solidFill>
                        </a:rPr>
                        <a:t>Weighted score (max 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dirty="0">
                          <a:solidFill>
                            <a:schemeClr val="accent2"/>
                          </a:solidFill>
                        </a:rPr>
                        <a:t>100%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b="1" dirty="0">
                          <a:solidFill>
                            <a:schemeClr val="tx1"/>
                          </a:solidFill>
                        </a:rPr>
                        <a:t>3.05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300" b="1" dirty="0">
                          <a:solidFill>
                            <a:schemeClr val="accent1"/>
                          </a:solidFill>
                        </a:rPr>
                        <a:t>3.75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3.70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bl>
          </a:graphicData>
        </a:graphic>
      </p:graphicFrame>
      <p:sp>
        <p:nvSpPr>
          <p:cNvPr id="8" name="Text 5"/>
          <p:cNvSpPr txBox="1"/>
          <p:nvPr/>
        </p:nvSpPr>
        <p:spPr>
          <a:xfrm>
            <a:off x="548640" y="5669280"/>
            <a:ext cx="6949440" cy="274320"/>
          </a:xfrm>
          <a:prstGeom prst="rect">
            <a:avLst/>
          </a:prstGeom>
          <a:noFill/>
          <a:ln/>
        </p:spPr>
        <p:txBody>
          <a:bodyPr wrap="square" lIns="0" tIns="0" rIns="0" bIns="0" rtlCol="0" anchor="t"/>
          <a:lstStyle/>
          <a:p>
            <a:pPr indent="0" marL="0">
              <a:buNone/>
            </a:pPr>
            <a:r>
              <a:rPr lang="en-US" sz="1100" dirty="0">
                <a:solidFill>
                  <a:schemeClr val="accent2"/>
                </a:solidFill>
              </a:rPr>
              <a:t>Scores 1 (poor) to 5 (best), agreed in the team; weighted score = sum of weight × score.</a:t>
            </a:r>
            <a:endParaRPr lang="en-US" sz="1100" dirty="0"/>
          </a:p>
        </p:txBody>
      </p:sp>
      <p:sp>
        <p:nvSpPr>
          <p:cNvPr id="9" name="Text 6"/>
          <p:cNvSpPr txBox="1"/>
          <p:nvPr/>
        </p:nvSpPr>
        <p:spPr>
          <a:xfrm>
            <a:off x="7863840" y="1737360"/>
            <a:ext cx="3779215" cy="274320"/>
          </a:xfrm>
          <a:prstGeom prst="rect">
            <a:avLst/>
          </a:prstGeom>
          <a:noFill/>
          <a:ln/>
        </p:spPr>
        <p:txBody>
          <a:bodyPr wrap="square" lIns="0" tIns="0" rIns="0" bIns="0" rtlCol="0" anchor="t"/>
          <a:lstStyle/>
          <a:p>
            <a:pPr indent="0" marL="0">
              <a:buNone/>
            </a:pPr>
            <a:r>
              <a:rPr lang="en-US" sz="1300" b="1" dirty="0">
                <a:solidFill>
                  <a:schemeClr val="tx2"/>
                </a:solidFill>
              </a:rPr>
              <a:t>Why B</a:t>
            </a:r>
            <a:endParaRPr lang="en-US" sz="1300" dirty="0"/>
          </a:p>
        </p:txBody>
      </p:sp>
      <p:sp>
        <p:nvSpPr>
          <p:cNvPr id="10" name="Text 7"/>
          <p:cNvSpPr txBox="1"/>
          <p:nvPr/>
        </p:nvSpPr>
        <p:spPr>
          <a:xfrm>
            <a:off x="7863840" y="2084832"/>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1</a:t>
            </a:r>
            <a:endParaRPr lang="en-US" sz="1800" dirty="0"/>
          </a:p>
        </p:txBody>
      </p:sp>
      <p:sp>
        <p:nvSpPr>
          <p:cNvPr id="11" name="Text 8"/>
          <p:cNvSpPr txBox="1"/>
          <p:nvPr/>
        </p:nvSpPr>
        <p:spPr>
          <a:xfrm>
            <a:off x="8247888" y="2121408"/>
            <a:ext cx="3395167" cy="530352"/>
          </a:xfrm>
          <a:prstGeom prst="rect">
            <a:avLst/>
          </a:prstGeom>
          <a:noFill/>
          <a:ln/>
        </p:spPr>
        <p:txBody>
          <a:bodyPr wrap="square" lIns="0" tIns="0" rIns="0" bIns="0" rtlCol="0" anchor="t"/>
          <a:lstStyle/>
          <a:p>
            <a:pPr indent="0" marL="0">
              <a:buNone/>
            </a:pPr>
            <a:r>
              <a:rPr lang="en-US" sz="1300" b="1" dirty="0">
                <a:solidFill>
                  <a:schemeClr val="tx2"/>
                </a:solidFill>
              </a:rPr>
              <a:t>Fits the site </a:t>
            </a:r>
            <a:pPr indent="0" marL="0">
              <a:buNone/>
            </a:pPr>
            <a:r>
              <a:rPr lang="en-US" sz="1300" dirty="0">
                <a:solidFill>
                  <a:schemeClr val="tx1"/>
                </a:solidFill>
              </a:rPr>
              <a:t>with all working areas: 6,731 m² of 7,000 m².</a:t>
            </a:r>
            <a:endParaRPr lang="en-US" sz="1300" dirty="0"/>
          </a:p>
        </p:txBody>
      </p:sp>
      <p:sp>
        <p:nvSpPr>
          <p:cNvPr id="12" name="Text 9"/>
          <p:cNvSpPr txBox="1"/>
          <p:nvPr/>
        </p:nvSpPr>
        <p:spPr>
          <a:xfrm>
            <a:off x="7863840" y="2688336"/>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2</a:t>
            </a:r>
            <a:endParaRPr lang="en-US" sz="1800" dirty="0"/>
          </a:p>
        </p:txBody>
      </p:sp>
      <p:sp>
        <p:nvSpPr>
          <p:cNvPr id="13" name="Text 10"/>
          <p:cNvSpPr txBox="1"/>
          <p:nvPr/>
        </p:nvSpPr>
        <p:spPr>
          <a:xfrm>
            <a:off x="8247888" y="2724912"/>
            <a:ext cx="3395167" cy="530352"/>
          </a:xfrm>
          <a:prstGeom prst="rect">
            <a:avLst/>
          </a:prstGeom>
          <a:noFill/>
          <a:ln/>
        </p:spPr>
        <p:txBody>
          <a:bodyPr wrap="square" lIns="0" tIns="0" rIns="0" bIns="0" rtlCol="0" anchor="t"/>
          <a:lstStyle/>
          <a:p>
            <a:pPr indent="0" marL="0">
              <a:buNone/>
            </a:pPr>
            <a:r>
              <a:rPr lang="en-US" sz="1300" b="1" dirty="0">
                <a:solidFill>
                  <a:schemeClr val="tx2"/>
                </a:solidFill>
              </a:rPr>
              <a:t>Cuts labour </a:t>
            </a:r>
            <a:pPr indent="0" marL="0">
              <a:buNone/>
            </a:pPr>
            <a:r>
              <a:rPr lang="en-US" sz="1300" dirty="0">
                <a:solidFill>
                  <a:schemeClr val="tx1"/>
                </a:solidFill>
              </a:rPr>
              <a:t>through slotting and batch picking, without betting on automation.</a:t>
            </a:r>
            <a:endParaRPr lang="en-US" sz="1300" dirty="0"/>
          </a:p>
        </p:txBody>
      </p:sp>
      <p:sp>
        <p:nvSpPr>
          <p:cNvPr id="14" name="Text 11"/>
          <p:cNvSpPr txBox="1"/>
          <p:nvPr/>
        </p:nvSpPr>
        <p:spPr>
          <a:xfrm>
            <a:off x="7863840" y="3291840"/>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3</a:t>
            </a:r>
            <a:endParaRPr lang="en-US" sz="1800" dirty="0"/>
          </a:p>
        </p:txBody>
      </p:sp>
      <p:sp>
        <p:nvSpPr>
          <p:cNvPr id="15" name="Text 12"/>
          <p:cNvSpPr txBox="1"/>
          <p:nvPr/>
        </p:nvSpPr>
        <p:spPr>
          <a:xfrm>
            <a:off x="8247888" y="3328416"/>
            <a:ext cx="3395167" cy="530352"/>
          </a:xfrm>
          <a:prstGeom prst="rect">
            <a:avLst/>
          </a:prstGeom>
          <a:noFill/>
          <a:ln/>
        </p:spPr>
        <p:txBody>
          <a:bodyPr wrap="square" lIns="0" tIns="0" rIns="0" bIns="0" rtlCol="0" anchor="t"/>
          <a:lstStyle/>
          <a:p>
            <a:pPr indent="0" marL="0">
              <a:buNone/>
            </a:pPr>
            <a:r>
              <a:rPr lang="en-US" sz="1300" b="1" dirty="0">
                <a:solidFill>
                  <a:schemeClr val="tx2"/>
                </a:solidFill>
              </a:rPr>
              <a:t>Proven kit </a:t>
            </a:r>
            <a:pPr indent="0" marL="0">
              <a:buNone/>
            </a:pPr>
            <a:r>
              <a:rPr lang="en-US" sz="1300" dirty="0">
                <a:solidFill>
                  <a:schemeClr val="tx1"/>
                </a:solidFill>
              </a:rPr>
              <a:t>at moderate cost: reach trucks, carton flow, a put-to-light wall.</a:t>
            </a:r>
            <a:endParaRPr lang="en-US" sz="1300" dirty="0"/>
          </a:p>
        </p:txBody>
      </p:sp>
      <p:sp>
        <p:nvSpPr>
          <p:cNvPr id="16" name="Text 13"/>
          <p:cNvSpPr txBox="1"/>
          <p:nvPr/>
        </p:nvSpPr>
        <p:spPr>
          <a:xfrm>
            <a:off x="7863840" y="4069080"/>
            <a:ext cx="3779215" cy="274320"/>
          </a:xfrm>
          <a:prstGeom prst="rect">
            <a:avLst/>
          </a:prstGeom>
          <a:noFill/>
          <a:ln/>
        </p:spPr>
        <p:txBody>
          <a:bodyPr wrap="square" lIns="0" tIns="0" rIns="0" bIns="0" rtlCol="0" anchor="t"/>
          <a:lstStyle/>
          <a:p>
            <a:pPr indent="0" marL="0">
              <a:buNone/>
            </a:pPr>
            <a:r>
              <a:rPr lang="en-US" sz="1200" b="1" dirty="0">
                <a:solidFill>
                  <a:schemeClr val="tx2"/>
                </a:solidFill>
              </a:rPr>
              <a:t>Robustness: scores with other weights</a:t>
            </a:r>
            <a:endParaRPr lang="en-US" sz="12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7863840" y="4389120"/>
          <a:ext cx="3779215" cy="914400"/>
        </p:xfrm>
        <a:graphic>
          <a:graphicData uri="http://schemas.openxmlformats.org/drawingml/2006/table">
            <a:tbl>
              <a:tblPr/>
              <a:tblGrid>
                <a:gridCol w="1584655"/>
                <a:gridCol w="731520"/>
                <a:gridCol w="731520"/>
                <a:gridCol w="731520"/>
              </a:tblGrid>
              <a:tr h="329184">
                <a:tc>
                  <a:txBody>
                    <a:bodyPr/>
                    <a:lstStyle/>
                    <a:p>
                      <a:pPr indent="0" marL="0">
                        <a:buNone/>
                      </a:pPr>
                      <a:r>
                        <a:rPr lang="en-US" sz="1200" b="1" dirty="0">
                          <a:solidFill>
                            <a:schemeClr val="accent2"/>
                          </a:solidFill>
                        </a:rPr>
                        <a:t>Weights</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b="1" dirty="0">
                          <a:solidFill>
                            <a:schemeClr val="accent2"/>
                          </a:solidFill>
                        </a:rPr>
                        <a:t>A</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2"/>
                          </a:solidFill>
                        </a:rPr>
                        <a:t>B</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200" b="1" dirty="0">
                          <a:solidFill>
                            <a:schemeClr val="accent2"/>
                          </a:solidFill>
                        </a:rPr>
                        <a:t>C</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1"/>
                    </a:solidFill>
                  </a:tcPr>
                </a:tc>
              </a:tr>
              <a:tr h="329184">
                <a:tc>
                  <a:txBody>
                    <a:bodyPr/>
                    <a:lstStyle/>
                    <a:p>
                      <a:pPr indent="0" marL="0">
                        <a:buNone/>
                      </a:pPr>
                      <a:r>
                        <a:rPr lang="en-US" sz="1200" dirty="0">
                          <a:solidFill>
                            <a:schemeClr val="tx1"/>
                          </a:solidFill>
                        </a:rPr>
                        <a:t>Base case</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3.05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1"/>
                          </a:solidFill>
                        </a:rPr>
                        <a:t>3.75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200" dirty="0">
                          <a:solidFill>
                            <a:schemeClr val="tx1"/>
                          </a:solidFill>
                        </a:rPr>
                        <a:t>3.70</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1"/>
                    </a:solidFill>
                  </a:tcPr>
                </a:tc>
              </a:tr>
              <a:tr h="329184">
                <a:tc>
                  <a:txBody>
                    <a:bodyPr/>
                    <a:lstStyle/>
                    <a:p>
                      <a:pPr indent="0" marL="0">
                        <a:buNone/>
                      </a:pPr>
                      <a:r>
                        <a:rPr lang="en-US" sz="1200" dirty="0">
                          <a:solidFill>
                            <a:schemeClr val="tx1"/>
                          </a:solidFill>
                        </a:rPr>
                        <a:t>Cost-driven</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3.35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1"/>
                          </a:solidFill>
                        </a:rPr>
                        <a:t>3.65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200" dirty="0">
                          <a:solidFill>
                            <a:schemeClr val="tx1"/>
                          </a:solidFill>
                        </a:rPr>
                        <a:t>3.35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1"/>
                    </a:solidFill>
                  </a:tcPr>
                </a:tc>
              </a:tr>
              <a:tr h="329184">
                <a:tc>
                  <a:txBody>
                    <a:bodyPr/>
                    <a:lstStyle/>
                    <a:p>
                      <a:pPr indent="0" marL="0">
                        <a:buNone/>
                      </a:pPr>
                      <a:r>
                        <a:rPr lang="en-US" sz="1200" dirty="0">
                          <a:solidFill>
                            <a:schemeClr val="tx1"/>
                          </a:solidFill>
                        </a:rPr>
                        <a:t>Space-driven</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3.55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1"/>
                          </a:solidFill>
                        </a:rPr>
                        <a:t>4.75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2"/>
                    </a:solidFill>
                  </a:tcPr>
                </a:tc>
                <a:tc>
                  <a:txBody>
                    <a:bodyPr/>
                    <a:lstStyle/>
                    <a:p>
                      <a:pPr algn="ctr" indent="0" marL="0">
                        <a:buNone/>
                      </a:pPr>
                      <a:r>
                        <a:rPr lang="en-US" sz="1200" dirty="0">
                          <a:solidFill>
                            <a:schemeClr val="tx1"/>
                          </a:solidFill>
                        </a:rPr>
                        <a:t>4.85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solidFill>
                      <a:schemeClr val="bg1"/>
                    </a:solidFill>
                  </a:tcPr>
                </a:tc>
              </a:tr>
            </a:tbl>
          </a:graphicData>
        </a:graphic>
      </p:graphicFrame>
      <p:sp>
        <p:nvSpPr>
          <p:cNvPr id="18" name="Text 14"/>
          <p:cNvSpPr txBox="1"/>
          <p:nvPr/>
        </p:nvSpPr>
        <p:spPr>
          <a:xfrm>
            <a:off x="7863840" y="5788152"/>
            <a:ext cx="3779215" cy="411480"/>
          </a:xfrm>
          <a:prstGeom prst="rect">
            <a:avLst/>
          </a:prstGeom>
          <a:noFill/>
          <a:ln/>
        </p:spPr>
        <p:txBody>
          <a:bodyPr wrap="square" lIns="0" tIns="0" rIns="0" bIns="0" rtlCol="0" anchor="t"/>
          <a:lstStyle/>
          <a:p>
            <a:pPr indent="0" marL="0">
              <a:buNone/>
            </a:pPr>
            <a:r>
              <a:rPr lang="en-US" sz="1100" dirty="0">
                <a:solidFill>
                  <a:schemeClr val="accent2"/>
                </a:solidFill>
              </a:rPr>
              <a:t>Only when space is all that counts does C edge ahead (4.85 vs 4.75).</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WHY CHANGE</a:t>
            </a:r>
            <a:pPr indent="0" marL="0">
              <a:buNone/>
            </a:pPr>
            <a:r>
              <a:rPr lang="en-US" sz="900" spc="100" kern="0" dirty="0">
                <a:solidFill>
                  <a:schemeClr val="accent3"/>
                </a:solidFill>
              </a:rPr>
              <a:t>   ·   </a:t>
            </a:r>
            <a:pPr indent="0" marL="0">
              <a:buNone/>
            </a:pPr>
            <a:r>
              <a:rPr lang="en-US" sz="900" b="1" spc="100" kern="0" dirty="0">
                <a:solidFill>
                  <a:schemeClr val="accent1"/>
                </a:solidFill>
              </a:rPr>
              <a:t>OUR DESIGN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PERFORMANCE</a:t>
            </a:r>
            <a:pPr indent="0" marL="0">
              <a:buNone/>
            </a:pPr>
            <a:r>
              <a:rPr lang="en-US" sz="900" spc="100" kern="0" dirty="0">
                <a:solidFill>
                  <a:schemeClr val="accent3"/>
                </a:solidFill>
              </a:rPr>
              <a:t>   ·   </a:t>
            </a:r>
            <a:pPr indent="0" marL="0">
              <a:buNone/>
            </a:pPr>
            <a:r>
              <a:rPr lang="en-US" sz="900" spc="100" kern="0" dirty="0">
                <a:solidFill>
                  <a:schemeClr val="accent3"/>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The layout moves goods one way: in on the west wall, through the racks and the fast-pick row, out on the east wall</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team layout drawing, to scale (Deliverable 2 §2); areas measured on the drawing</a:t>
            </a:r>
            <a:endParaRPr lang="en-US" sz="900" dirty="0"/>
          </a:p>
        </p:txBody>
      </p:sp>
      <p:sp>
        <p:nvSpPr>
          <p:cNvPr id="5" name="Owner marker"/>
          <p:cNvSpPr/>
          <p:nvPr/>
        </p:nvSpPr>
        <p:spPr>
          <a:xfrm>
            <a:off x="9098280" y="338328"/>
            <a:ext cx="118872" cy="118872"/>
          </a:xfrm>
          <a:prstGeom prst="rect">
            <a:avLst/>
          </a:prstGeom>
          <a:solidFill>
            <a:srgbClr val="C2410C"/>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Vidhi</a:t>
            </a:r>
            <a:pPr indent="0" marL="0">
              <a:buNone/>
            </a:pPr>
            <a:r>
              <a:rPr lang="en-US" sz="1000" dirty="0">
                <a:solidFill>
                  <a:schemeClr val="accent2"/>
                </a:solidFill>
              </a:rPr>
              <a:t> · presenter</a:t>
            </a:r>
            <a:endParaRPr lang="en-US" sz="1000" dirty="0"/>
          </a:p>
        </p:txBody>
      </p:sp>
      <p:pic>
        <p:nvPicPr>
          <p:cNvPr id="7" name="Image 0" descr="Warehouse layout with the numbered route of an order line">    </p:cNvPr>
          <p:cNvPicPr>
            <a:picLocks noChangeAspect="1"/>
          </p:cNvPicPr>
          <p:nvPr/>
        </p:nvPicPr>
        <p:blipFill>
          <a:blip r:embed="rId1"/>
          <a:stretch>
            <a:fillRect/>
          </a:stretch>
        </p:blipFill>
        <p:spPr>
          <a:xfrm>
            <a:off x="548640" y="1737360"/>
            <a:ext cx="6383482" cy="4434840"/>
          </a:xfrm>
          <a:prstGeom prst="rect">
            <a:avLst/>
          </a:prstGeom>
        </p:spPr>
      </p:pic>
      <p:sp>
        <p:nvSpPr>
          <p:cNvPr id="8" name="Text 5"/>
          <p:cNvSpPr txBox="1"/>
          <p:nvPr/>
        </p:nvSpPr>
        <p:spPr>
          <a:xfrm>
            <a:off x="7360920" y="1737360"/>
            <a:ext cx="4282135" cy="274320"/>
          </a:xfrm>
          <a:prstGeom prst="rect">
            <a:avLst/>
          </a:prstGeom>
          <a:noFill/>
          <a:ln/>
        </p:spPr>
        <p:txBody>
          <a:bodyPr wrap="square" lIns="0" tIns="0" rIns="0" bIns="0" rtlCol="0" anchor="t"/>
          <a:lstStyle/>
          <a:p>
            <a:pPr indent="0" marL="0">
              <a:buNone/>
            </a:pPr>
            <a:r>
              <a:rPr lang="en-US" sz="1300" b="1" dirty="0">
                <a:solidFill>
                  <a:schemeClr val="tx2"/>
                </a:solidFill>
              </a:rPr>
              <a:t>The route of an order line</a:t>
            </a:r>
            <a:endParaRPr lang="en-US" sz="1300" dirty="0"/>
          </a:p>
        </p:txBody>
      </p:sp>
      <p:sp>
        <p:nvSpPr>
          <p:cNvPr id="9" name="Text 6"/>
          <p:cNvSpPr/>
          <p:nvPr/>
        </p:nvSpPr>
        <p:spPr>
          <a:xfrm>
            <a:off x="7360920" y="2121408"/>
            <a:ext cx="292608" cy="292608"/>
          </a:xfrm>
          <a:prstGeom prst="ellipse">
            <a:avLst/>
          </a:prstGeom>
          <a:solidFill>
            <a:schemeClr val="bg1"/>
          </a:solidFill>
          <a:ln w="25400">
            <a:solidFill>
              <a:srgbClr val="2B6CB0"/>
            </a:solidFill>
          </a:ln>
        </p:spPr>
        <p:txBody>
          <a:bodyPr wrap="square" lIns="0" tIns="0" rIns="0" bIns="0" rtlCol="0" anchor="ctr"/>
          <a:lstStyle/>
          <a:p>
            <a:pPr algn="ctr" indent="0" marL="0">
              <a:buNone/>
            </a:pPr>
            <a:r>
              <a:rPr lang="en-US" sz="1100" b="1" dirty="0">
                <a:solidFill>
                  <a:srgbClr val="2B6CB0"/>
                </a:solidFill>
              </a:rPr>
              <a:t>1</a:t>
            </a:r>
            <a:endParaRPr lang="en-US" sz="1100" dirty="0"/>
          </a:p>
        </p:txBody>
      </p:sp>
      <p:sp>
        <p:nvSpPr>
          <p:cNvPr id="10" name="Text 7"/>
          <p:cNvSpPr txBox="1"/>
          <p:nvPr/>
        </p:nvSpPr>
        <p:spPr>
          <a:xfrm>
            <a:off x="7790688" y="2157984"/>
            <a:ext cx="3852367" cy="274320"/>
          </a:xfrm>
          <a:prstGeom prst="rect">
            <a:avLst/>
          </a:prstGeom>
          <a:noFill/>
          <a:ln/>
        </p:spPr>
        <p:txBody>
          <a:bodyPr wrap="square" lIns="0" tIns="0" rIns="0" bIns="0" rtlCol="0" anchor="t"/>
          <a:lstStyle/>
          <a:p>
            <a:pPr indent="0" marL="0">
              <a:buNone/>
            </a:pPr>
            <a:r>
              <a:rPr lang="en-US" sz="1300" dirty="0">
                <a:solidFill>
                  <a:schemeClr val="tx1"/>
                </a:solidFill>
              </a:rPr>
              <a:t>Trailers unloaded and checked at doors R2 / R3</a:t>
            </a:r>
            <a:endParaRPr lang="en-US" sz="1300" dirty="0"/>
          </a:p>
        </p:txBody>
      </p:sp>
      <p:sp>
        <p:nvSpPr>
          <p:cNvPr id="11" name="Text 8"/>
          <p:cNvSpPr/>
          <p:nvPr/>
        </p:nvSpPr>
        <p:spPr>
          <a:xfrm>
            <a:off x="7360920" y="2551176"/>
            <a:ext cx="292608" cy="292608"/>
          </a:xfrm>
          <a:prstGeom prst="ellipse">
            <a:avLst/>
          </a:prstGeom>
          <a:solidFill>
            <a:schemeClr val="bg1"/>
          </a:solidFill>
          <a:ln w="25400">
            <a:solidFill>
              <a:srgbClr val="D97706"/>
            </a:solidFill>
          </a:ln>
        </p:spPr>
        <p:txBody>
          <a:bodyPr wrap="square" lIns="0" tIns="0" rIns="0" bIns="0" rtlCol="0" anchor="ctr"/>
          <a:lstStyle/>
          <a:p>
            <a:pPr algn="ctr" indent="0" marL="0">
              <a:buNone/>
            </a:pPr>
            <a:r>
              <a:rPr lang="en-US" sz="1100" b="1" dirty="0">
                <a:solidFill>
                  <a:srgbClr val="D97706"/>
                </a:solidFill>
              </a:rPr>
              <a:t>C</a:t>
            </a:r>
            <a:endParaRPr lang="en-US" sz="1100" dirty="0"/>
          </a:p>
        </p:txBody>
      </p:sp>
      <p:sp>
        <p:nvSpPr>
          <p:cNvPr id="12" name="Text 9"/>
          <p:cNvSpPr txBox="1"/>
          <p:nvPr/>
        </p:nvSpPr>
        <p:spPr>
          <a:xfrm>
            <a:off x="7790688" y="2587752"/>
            <a:ext cx="3852367" cy="274320"/>
          </a:xfrm>
          <a:prstGeom prst="rect">
            <a:avLst/>
          </a:prstGeom>
          <a:noFill/>
          <a:ln/>
        </p:spPr>
        <p:txBody>
          <a:bodyPr wrap="square" lIns="0" tIns="0" rIns="0" bIns="0" rtlCol="0" anchor="t"/>
          <a:lstStyle/>
          <a:p>
            <a:pPr indent="0" marL="0">
              <a:buNone/>
            </a:pPr>
            <a:r>
              <a:rPr lang="en-US" sz="1300" dirty="0">
                <a:solidFill>
                  <a:schemeClr val="tx1"/>
                </a:solidFill>
              </a:rPr>
              <a:t>Containers unpacked at R1, built onto pallets</a:t>
            </a:r>
            <a:endParaRPr lang="en-US" sz="1300" dirty="0"/>
          </a:p>
        </p:txBody>
      </p:sp>
      <p:sp>
        <p:nvSpPr>
          <p:cNvPr id="13" name="Text 10"/>
          <p:cNvSpPr/>
          <p:nvPr/>
        </p:nvSpPr>
        <p:spPr>
          <a:xfrm>
            <a:off x="7360920" y="2980944"/>
            <a:ext cx="292608" cy="292608"/>
          </a:xfrm>
          <a:prstGeom prst="ellipse">
            <a:avLst/>
          </a:prstGeom>
          <a:solidFill>
            <a:schemeClr val="bg1"/>
          </a:solidFill>
          <a:ln w="25400">
            <a:solidFill>
              <a:srgbClr val="2B6CB0"/>
            </a:solidFill>
          </a:ln>
        </p:spPr>
        <p:txBody>
          <a:bodyPr wrap="square" lIns="0" tIns="0" rIns="0" bIns="0" rtlCol="0" anchor="ctr"/>
          <a:lstStyle/>
          <a:p>
            <a:pPr algn="ctr" indent="0" marL="0">
              <a:buNone/>
            </a:pPr>
            <a:r>
              <a:rPr lang="en-US" sz="1100" b="1" dirty="0">
                <a:solidFill>
                  <a:srgbClr val="2B6CB0"/>
                </a:solidFill>
              </a:rPr>
              <a:t>2</a:t>
            </a:r>
            <a:endParaRPr lang="en-US" sz="1100" dirty="0"/>
          </a:p>
        </p:txBody>
      </p:sp>
      <p:sp>
        <p:nvSpPr>
          <p:cNvPr id="14" name="Text 11"/>
          <p:cNvSpPr txBox="1"/>
          <p:nvPr/>
        </p:nvSpPr>
        <p:spPr>
          <a:xfrm>
            <a:off x="7790688" y="3017520"/>
            <a:ext cx="3852367" cy="274320"/>
          </a:xfrm>
          <a:prstGeom prst="rect">
            <a:avLst/>
          </a:prstGeom>
          <a:noFill/>
          <a:ln/>
        </p:spPr>
        <p:txBody>
          <a:bodyPr wrap="square" lIns="0" tIns="0" rIns="0" bIns="0" rtlCol="0" anchor="t"/>
          <a:lstStyle/>
          <a:p>
            <a:pPr indent="0" marL="0">
              <a:buNone/>
            </a:pPr>
            <a:r>
              <a:rPr lang="en-US" sz="1300" dirty="0">
                <a:solidFill>
                  <a:schemeClr val="tx1"/>
                </a:solidFill>
              </a:rPr>
              <a:t>Reach truck puts the pallets away in the racks</a:t>
            </a:r>
            <a:endParaRPr lang="en-US" sz="1300" dirty="0"/>
          </a:p>
        </p:txBody>
      </p:sp>
      <p:sp>
        <p:nvSpPr>
          <p:cNvPr id="15" name="Text 12"/>
          <p:cNvSpPr/>
          <p:nvPr/>
        </p:nvSpPr>
        <p:spPr>
          <a:xfrm>
            <a:off x="7360920" y="3410712"/>
            <a:ext cx="292608" cy="292608"/>
          </a:xfrm>
          <a:prstGeom prst="ellipse">
            <a:avLst/>
          </a:prstGeom>
          <a:solidFill>
            <a:schemeClr val="bg1"/>
          </a:solidFill>
          <a:ln w="25400">
            <a:solidFill>
              <a:srgbClr val="2F855A"/>
            </a:solidFill>
          </a:ln>
        </p:spPr>
        <p:txBody>
          <a:bodyPr wrap="square" lIns="0" tIns="0" rIns="0" bIns="0" rtlCol="0" anchor="ctr"/>
          <a:lstStyle/>
          <a:p>
            <a:pPr algn="ctr" indent="0" marL="0">
              <a:buNone/>
            </a:pPr>
            <a:r>
              <a:rPr lang="en-US" sz="1100" b="1" dirty="0">
                <a:solidFill>
                  <a:srgbClr val="2F855A"/>
                </a:solidFill>
              </a:rPr>
              <a:t>3</a:t>
            </a:r>
            <a:endParaRPr lang="en-US" sz="1100" dirty="0"/>
          </a:p>
        </p:txBody>
      </p:sp>
      <p:sp>
        <p:nvSpPr>
          <p:cNvPr id="16" name="Text 13"/>
          <p:cNvSpPr txBox="1"/>
          <p:nvPr/>
        </p:nvSpPr>
        <p:spPr>
          <a:xfrm>
            <a:off x="7790688" y="3447288"/>
            <a:ext cx="3852367" cy="274320"/>
          </a:xfrm>
          <a:prstGeom prst="rect">
            <a:avLst/>
          </a:prstGeom>
          <a:noFill/>
          <a:ln/>
        </p:spPr>
        <p:txBody>
          <a:bodyPr wrap="square" lIns="0" tIns="0" rIns="0" bIns="0" rtlCol="0" anchor="t"/>
          <a:lstStyle/>
          <a:p>
            <a:pPr indent="0" marL="0">
              <a:buNone/>
            </a:pPr>
            <a:r>
              <a:rPr lang="en-US" sz="1300" dirty="0">
                <a:solidFill>
                  <a:schemeClr val="tx1"/>
                </a:solidFill>
              </a:rPr>
              <a:t>Refills drop cases into the fast-pick area</a:t>
            </a:r>
            <a:endParaRPr lang="en-US" sz="1300" dirty="0"/>
          </a:p>
        </p:txBody>
      </p:sp>
      <p:sp>
        <p:nvSpPr>
          <p:cNvPr id="17" name="Text 14"/>
          <p:cNvSpPr/>
          <p:nvPr/>
        </p:nvSpPr>
        <p:spPr>
          <a:xfrm>
            <a:off x="7360920" y="3840480"/>
            <a:ext cx="292608" cy="292608"/>
          </a:xfrm>
          <a:prstGeom prst="ellipse">
            <a:avLst/>
          </a:prstGeom>
          <a:solidFill>
            <a:schemeClr val="bg1"/>
          </a:solidFill>
          <a:ln w="25400">
            <a:solidFill>
              <a:srgbClr val="D40011"/>
            </a:solidFill>
          </a:ln>
        </p:spPr>
        <p:txBody>
          <a:bodyPr wrap="square" lIns="0" tIns="0" rIns="0" bIns="0" rtlCol="0" anchor="ctr"/>
          <a:lstStyle/>
          <a:p>
            <a:pPr algn="ctr" indent="0" marL="0">
              <a:buNone/>
            </a:pPr>
            <a:r>
              <a:rPr lang="en-US" sz="1100" b="1" dirty="0">
                <a:solidFill>
                  <a:srgbClr val="D40011"/>
                </a:solidFill>
              </a:rPr>
              <a:t>4</a:t>
            </a:r>
            <a:endParaRPr lang="en-US" sz="1100" dirty="0"/>
          </a:p>
        </p:txBody>
      </p:sp>
      <p:sp>
        <p:nvSpPr>
          <p:cNvPr id="18" name="Text 15"/>
          <p:cNvSpPr txBox="1"/>
          <p:nvPr/>
        </p:nvSpPr>
        <p:spPr>
          <a:xfrm>
            <a:off x="7790688" y="3877056"/>
            <a:ext cx="3852367" cy="274320"/>
          </a:xfrm>
          <a:prstGeom prst="rect">
            <a:avLst/>
          </a:prstGeom>
          <a:noFill/>
          <a:ln/>
        </p:spPr>
        <p:txBody>
          <a:bodyPr wrap="square" lIns="0" tIns="0" rIns="0" bIns="0" rtlCol="0" anchor="t"/>
          <a:lstStyle/>
          <a:p>
            <a:pPr indent="0" marL="0">
              <a:buNone/>
            </a:pPr>
            <a:r>
              <a:rPr lang="en-US" sz="1300" dirty="0">
                <a:solidFill>
                  <a:schemeClr val="tx1"/>
                </a:solidFill>
              </a:rPr>
              <a:t>Orders picked in waves and taken to packing</a:t>
            </a:r>
            <a:endParaRPr lang="en-US" sz="1300" dirty="0"/>
          </a:p>
        </p:txBody>
      </p:sp>
      <p:sp>
        <p:nvSpPr>
          <p:cNvPr id="19" name="Text 16"/>
          <p:cNvSpPr/>
          <p:nvPr/>
        </p:nvSpPr>
        <p:spPr>
          <a:xfrm>
            <a:off x="7360920" y="4270248"/>
            <a:ext cx="292608" cy="292608"/>
          </a:xfrm>
          <a:prstGeom prst="ellipse">
            <a:avLst/>
          </a:prstGeom>
          <a:solidFill>
            <a:schemeClr val="bg1"/>
          </a:solidFill>
          <a:ln w="25400">
            <a:solidFill>
              <a:srgbClr val="D40011"/>
            </a:solidFill>
          </a:ln>
        </p:spPr>
        <p:txBody>
          <a:bodyPr wrap="square" lIns="0" tIns="0" rIns="0" bIns="0" rtlCol="0" anchor="ctr"/>
          <a:lstStyle/>
          <a:p>
            <a:pPr algn="ctr" indent="0" marL="0">
              <a:buNone/>
            </a:pPr>
            <a:r>
              <a:rPr lang="en-US" sz="1100" b="1" dirty="0">
                <a:solidFill>
                  <a:srgbClr val="D40011"/>
                </a:solidFill>
              </a:rPr>
              <a:t>5</a:t>
            </a:r>
            <a:endParaRPr lang="en-US" sz="1100" dirty="0"/>
          </a:p>
        </p:txBody>
      </p:sp>
      <p:sp>
        <p:nvSpPr>
          <p:cNvPr id="20" name="Text 17"/>
          <p:cNvSpPr txBox="1"/>
          <p:nvPr/>
        </p:nvSpPr>
        <p:spPr>
          <a:xfrm>
            <a:off x="7790688" y="4306824"/>
            <a:ext cx="3852367" cy="274320"/>
          </a:xfrm>
          <a:prstGeom prst="rect">
            <a:avLst/>
          </a:prstGeom>
          <a:noFill/>
          <a:ln/>
        </p:spPr>
        <p:txBody>
          <a:bodyPr wrap="square" lIns="0" tIns="0" rIns="0" bIns="0" rtlCol="0" anchor="t"/>
          <a:lstStyle/>
          <a:p>
            <a:pPr indent="0" marL="0">
              <a:buNone/>
            </a:pPr>
            <a:r>
              <a:rPr lang="en-US" sz="1300" dirty="0">
                <a:solidFill>
                  <a:schemeClr val="tx1"/>
                </a:solidFill>
              </a:rPr>
              <a:t>Sorted at the put-to-light wall and packed</a:t>
            </a:r>
            <a:endParaRPr lang="en-US" sz="1300" dirty="0"/>
          </a:p>
        </p:txBody>
      </p:sp>
      <p:sp>
        <p:nvSpPr>
          <p:cNvPr id="21" name="Text 18"/>
          <p:cNvSpPr/>
          <p:nvPr/>
        </p:nvSpPr>
        <p:spPr>
          <a:xfrm>
            <a:off x="7360920" y="4700016"/>
            <a:ext cx="292608" cy="292608"/>
          </a:xfrm>
          <a:prstGeom prst="ellipse">
            <a:avLst/>
          </a:prstGeom>
          <a:solidFill>
            <a:schemeClr val="bg1"/>
          </a:solidFill>
          <a:ln w="25400">
            <a:solidFill>
              <a:srgbClr val="D40011"/>
            </a:solidFill>
          </a:ln>
        </p:spPr>
        <p:txBody>
          <a:bodyPr wrap="square" lIns="0" tIns="0" rIns="0" bIns="0" rtlCol="0" anchor="ctr"/>
          <a:lstStyle/>
          <a:p>
            <a:pPr algn="ctr" indent="0" marL="0">
              <a:buNone/>
            </a:pPr>
            <a:r>
              <a:rPr lang="en-US" sz="1100" b="1" dirty="0">
                <a:solidFill>
                  <a:srgbClr val="D40011"/>
                </a:solidFill>
              </a:rPr>
              <a:t>6</a:t>
            </a:r>
            <a:endParaRPr lang="en-US" sz="1100" dirty="0"/>
          </a:p>
        </p:txBody>
      </p:sp>
      <p:sp>
        <p:nvSpPr>
          <p:cNvPr id="22" name="Text 19"/>
          <p:cNvSpPr txBox="1"/>
          <p:nvPr/>
        </p:nvSpPr>
        <p:spPr>
          <a:xfrm>
            <a:off x="7790688" y="4736592"/>
            <a:ext cx="3852367" cy="274320"/>
          </a:xfrm>
          <a:prstGeom prst="rect">
            <a:avLst/>
          </a:prstGeom>
          <a:noFill/>
          <a:ln/>
        </p:spPr>
        <p:txBody>
          <a:bodyPr wrap="square" lIns="0" tIns="0" rIns="0" bIns="0" rtlCol="0" anchor="t"/>
          <a:lstStyle/>
          <a:p>
            <a:pPr indent="0" marL="0">
              <a:buNone/>
            </a:pPr>
            <a:r>
              <a:rPr lang="en-US" sz="1300" dirty="0">
                <a:solidFill>
                  <a:schemeClr val="tx1"/>
                </a:solidFill>
              </a:rPr>
              <a:t>Staged in the lane of its door and loaded</a:t>
            </a:r>
            <a:endParaRPr lang="en-US" sz="1300" dirty="0"/>
          </a:p>
        </p:txBody>
      </p:sp>
      <p:sp>
        <p:nvSpPr>
          <p:cNvPr id="23" name="Shape 20"/>
          <p:cNvSpPr/>
          <p:nvPr/>
        </p:nvSpPr>
        <p:spPr>
          <a:xfrm>
            <a:off x="7360920" y="5138928"/>
            <a:ext cx="4282135" cy="0"/>
          </a:xfrm>
          <a:prstGeom prst="line">
            <a:avLst/>
          </a:prstGeom>
          <a:noFill/>
          <a:ln w="9525">
            <a:solidFill>
              <a:schemeClr val="accent4"/>
            </a:solidFill>
            <a:prstDash val="solid"/>
          </a:ln>
        </p:spPr>
      </p:sp>
      <p:sp>
        <p:nvSpPr>
          <p:cNvPr id="24" name="Text 21"/>
          <p:cNvSpPr txBox="1"/>
          <p:nvPr/>
        </p:nvSpPr>
        <p:spPr>
          <a:xfrm>
            <a:off x="7360920" y="5257800"/>
            <a:ext cx="1335938" cy="411480"/>
          </a:xfrm>
          <a:prstGeom prst="rect">
            <a:avLst/>
          </a:prstGeom>
          <a:noFill/>
          <a:ln/>
        </p:spPr>
        <p:txBody>
          <a:bodyPr wrap="square" lIns="0" tIns="0" rIns="0" bIns="0" rtlCol="0" anchor="t"/>
          <a:lstStyle/>
          <a:p>
            <a:pPr indent="0" marL="0">
              <a:buNone/>
            </a:pPr>
            <a:r>
              <a:rPr lang="en-US" sz="2200" dirty="0">
                <a:solidFill>
                  <a:schemeClr val="tx2"/>
                </a:solidFill>
                <a:latin typeface="Cambria" pitchFamily="34" charset="0"/>
                <a:ea typeface="Cambria" pitchFamily="34" charset="-122"/>
                <a:cs typeface="Cambria" pitchFamily="34" charset="-120"/>
              </a:rPr>
              <a:t>6,731 m²</a:t>
            </a:r>
            <a:endParaRPr lang="en-US" sz="2200" dirty="0"/>
          </a:p>
        </p:txBody>
      </p:sp>
      <p:sp>
        <p:nvSpPr>
          <p:cNvPr id="25" name="Text 22"/>
          <p:cNvSpPr txBox="1"/>
          <p:nvPr/>
        </p:nvSpPr>
        <p:spPr>
          <a:xfrm>
            <a:off x="7360920" y="5669280"/>
            <a:ext cx="1335938" cy="274320"/>
          </a:xfrm>
          <a:prstGeom prst="rect">
            <a:avLst/>
          </a:prstGeom>
          <a:noFill/>
          <a:ln/>
        </p:spPr>
        <p:txBody>
          <a:bodyPr wrap="square" lIns="0" tIns="0" rIns="0" bIns="0" rtlCol="0" anchor="t"/>
          <a:lstStyle/>
          <a:p>
            <a:pPr indent="0" marL="0">
              <a:buNone/>
            </a:pPr>
            <a:r>
              <a:rPr lang="en-US" sz="1100" dirty="0">
                <a:solidFill>
                  <a:schemeClr val="accent2"/>
                </a:solidFill>
              </a:rPr>
              <a:t>96% of 7,000 m²</a:t>
            </a:r>
            <a:endParaRPr lang="en-US" sz="1100" dirty="0"/>
          </a:p>
        </p:txBody>
      </p:sp>
      <p:sp>
        <p:nvSpPr>
          <p:cNvPr id="26" name="Text 23"/>
          <p:cNvSpPr txBox="1"/>
          <p:nvPr/>
        </p:nvSpPr>
        <p:spPr>
          <a:xfrm>
            <a:off x="8788298" y="5257800"/>
            <a:ext cx="1335938" cy="411480"/>
          </a:xfrm>
          <a:prstGeom prst="rect">
            <a:avLst/>
          </a:prstGeom>
          <a:noFill/>
          <a:ln/>
        </p:spPr>
        <p:txBody>
          <a:bodyPr wrap="square" lIns="0" tIns="0" rIns="0" bIns="0" rtlCol="0" anchor="t"/>
          <a:lstStyle/>
          <a:p>
            <a:pPr indent="0" marL="0">
              <a:buNone/>
            </a:pPr>
            <a:r>
              <a:rPr lang="en-US" sz="2200" dirty="0">
                <a:solidFill>
                  <a:schemeClr val="tx2"/>
                </a:solidFill>
                <a:latin typeface="Cambria" pitchFamily="34" charset="0"/>
                <a:ea typeface="Cambria" pitchFamily="34" charset="-122"/>
                <a:cs typeface="Cambria" pitchFamily="34" charset="-120"/>
              </a:rPr>
              <a:t>8,960</a:t>
            </a:r>
            <a:endParaRPr lang="en-US" sz="2200" dirty="0"/>
          </a:p>
        </p:txBody>
      </p:sp>
      <p:sp>
        <p:nvSpPr>
          <p:cNvPr id="27" name="Text 24"/>
          <p:cNvSpPr txBox="1"/>
          <p:nvPr/>
        </p:nvSpPr>
        <p:spPr>
          <a:xfrm>
            <a:off x="8788298" y="5669280"/>
            <a:ext cx="1335938" cy="274320"/>
          </a:xfrm>
          <a:prstGeom prst="rect">
            <a:avLst/>
          </a:prstGeom>
          <a:noFill/>
          <a:ln/>
        </p:spPr>
        <p:txBody>
          <a:bodyPr wrap="square" lIns="0" tIns="0" rIns="0" bIns="0" rtlCol="0" anchor="t"/>
          <a:lstStyle/>
          <a:p>
            <a:pPr indent="0" marL="0">
              <a:buNone/>
            </a:pPr>
            <a:r>
              <a:rPr lang="en-US" sz="1100" dirty="0">
                <a:solidFill>
                  <a:schemeClr val="accent2"/>
                </a:solidFill>
              </a:rPr>
              <a:t>pallet places</a:t>
            </a:r>
            <a:endParaRPr lang="en-US" sz="1100" dirty="0"/>
          </a:p>
        </p:txBody>
      </p:sp>
      <p:sp>
        <p:nvSpPr>
          <p:cNvPr id="28" name="Text 25"/>
          <p:cNvSpPr txBox="1"/>
          <p:nvPr/>
        </p:nvSpPr>
        <p:spPr>
          <a:xfrm>
            <a:off x="10215677" y="5257800"/>
            <a:ext cx="1335938" cy="411480"/>
          </a:xfrm>
          <a:prstGeom prst="rect">
            <a:avLst/>
          </a:prstGeom>
          <a:noFill/>
          <a:ln/>
        </p:spPr>
        <p:txBody>
          <a:bodyPr wrap="square" lIns="0" tIns="0" rIns="0" bIns="0" rtlCol="0" anchor="t"/>
          <a:lstStyle/>
          <a:p>
            <a:pPr indent="0" marL="0">
              <a:buNone/>
            </a:pPr>
            <a:r>
              <a:rPr lang="en-US" sz="2200" dirty="0">
                <a:solidFill>
                  <a:schemeClr val="tx2"/>
                </a:solidFill>
                <a:latin typeface="Cambria" pitchFamily="34" charset="0"/>
                <a:ea typeface="Cambria" pitchFamily="34" charset="-122"/>
                <a:cs typeface="Cambria" pitchFamily="34" charset="-120"/>
              </a:rPr>
              <a:t>3 + 5</a:t>
            </a:r>
            <a:endParaRPr lang="en-US" sz="2200" dirty="0"/>
          </a:p>
        </p:txBody>
      </p:sp>
      <p:sp>
        <p:nvSpPr>
          <p:cNvPr id="29" name="Text 26"/>
          <p:cNvSpPr txBox="1"/>
          <p:nvPr/>
        </p:nvSpPr>
        <p:spPr>
          <a:xfrm>
            <a:off x="10215677" y="5669280"/>
            <a:ext cx="1335938" cy="274320"/>
          </a:xfrm>
          <a:prstGeom prst="rect">
            <a:avLst/>
          </a:prstGeom>
          <a:noFill/>
          <a:ln/>
        </p:spPr>
        <p:txBody>
          <a:bodyPr wrap="square" lIns="0" tIns="0" rIns="0" bIns="0" rtlCol="0" anchor="t"/>
          <a:lstStyle/>
          <a:p>
            <a:pPr indent="0" marL="0">
              <a:buNone/>
            </a:pPr>
            <a:r>
              <a:rPr lang="en-US" sz="1100" dirty="0">
                <a:solidFill>
                  <a:schemeClr val="accent2"/>
                </a:solidFill>
              </a:rPr>
              <a:t>doors in / out</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WHY CHANGE</a:t>
            </a:r>
            <a:pPr indent="0" marL="0">
              <a:buNone/>
            </a:pPr>
            <a:r>
              <a:rPr lang="en-US" sz="900" spc="100" kern="0" dirty="0">
                <a:solidFill>
                  <a:schemeClr val="accent3"/>
                </a:solidFill>
              </a:rPr>
              <a:t>   ·   </a:t>
            </a:r>
            <a:pPr indent="0" marL="0">
              <a:buNone/>
            </a:pPr>
            <a:r>
              <a:rPr lang="en-US" sz="900" spc="100" kern="0" dirty="0">
                <a:solidFill>
                  <a:schemeClr val="accent3"/>
                </a:solidFill>
              </a:rPr>
              <a:t>OUR DESIGN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PERFORMANCE</a:t>
            </a:r>
            <a:pPr indent="0" marL="0">
              <a:buNone/>
            </a:pPr>
            <a:r>
              <a:rPr lang="en-US" sz="900" spc="100" kern="0" dirty="0">
                <a:solidFill>
                  <a:schemeClr val="accent3"/>
                </a:solidFill>
              </a:rPr>
              <a:t>   ·   </a:t>
            </a:r>
            <a:pPr indent="0" marL="0">
              <a:buNone/>
            </a:pPr>
            <a:r>
              <a:rPr lang="en-US" sz="900" spc="100" kern="0" dirty="0">
                <a:solidFill>
                  <a:schemeClr val="accent3"/>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Receiving keeps pallet trailers and loose containers apart, so a 40 ft container is unloaded and palletised in ~3.3 hours</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inbound receipts April–June 2025 (Assa Abloy &amp; DHL Supply Chain, 2025); dock-to-stock benchmark (Extensiv, n.d.); Deliverable 2 §4.1 and §4.6</a:t>
            </a:r>
            <a:endParaRPr lang="en-US" sz="900" dirty="0"/>
          </a:p>
        </p:txBody>
      </p:sp>
      <p:sp>
        <p:nvSpPr>
          <p:cNvPr id="5" name="Owner marker"/>
          <p:cNvSpPr/>
          <p:nvPr/>
        </p:nvSpPr>
        <p:spPr>
          <a:xfrm>
            <a:off x="9098280" y="338328"/>
            <a:ext cx="118872" cy="118872"/>
          </a:xfrm>
          <a:prstGeom prst="rect">
            <a:avLst/>
          </a:prstGeom>
          <a:solidFill>
            <a:srgbClr val="C2410C"/>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Vidhi</a:t>
            </a:r>
            <a:pPr indent="0" marL="0">
              <a:buNone/>
            </a:pPr>
            <a:r>
              <a:rPr lang="en-US" sz="1000" dirty="0">
                <a:solidFill>
                  <a:schemeClr val="accent2"/>
                </a:solidFill>
              </a:rPr>
              <a:t> · Receiving owner</a:t>
            </a:r>
            <a:endParaRPr lang="en-US" sz="1000" dirty="0"/>
          </a:p>
        </p:txBody>
      </p:sp>
      <p:pic>
        <p:nvPicPr>
          <p:cNvPr id="7" name="Image 0" descr="Receiving and the container zone, enlarged, with letters A to I">    </p:cNvPr>
          <p:cNvPicPr>
            <a:picLocks noChangeAspect="1"/>
          </p:cNvPicPr>
          <p:nvPr/>
        </p:nvPicPr>
        <p:blipFill>
          <a:blip r:embed="rId1"/>
          <a:stretch>
            <a:fillRect/>
          </a:stretch>
        </p:blipFill>
        <p:spPr>
          <a:xfrm>
            <a:off x="548640" y="1737360"/>
            <a:ext cx="2342275" cy="4434840"/>
          </a:xfrm>
          <a:prstGeom prst="rect">
            <a:avLst/>
          </a:prstGeom>
        </p:spPr>
      </p:pic>
      <p:sp>
        <p:nvSpPr>
          <p:cNvPr id="8" name="Text 5"/>
          <p:cNvSpPr txBox="1"/>
          <p:nvPr/>
        </p:nvSpPr>
        <p:spPr>
          <a:xfrm>
            <a:off x="3210955" y="1737360"/>
            <a:ext cx="4607165" cy="274320"/>
          </a:xfrm>
          <a:prstGeom prst="rect">
            <a:avLst/>
          </a:prstGeom>
          <a:noFill/>
          <a:ln/>
        </p:spPr>
        <p:txBody>
          <a:bodyPr wrap="square" lIns="0" tIns="0" rIns="0" bIns="0" rtlCol="0" anchor="t"/>
          <a:lstStyle/>
          <a:p>
            <a:pPr indent="0" marL="0">
              <a:buNone/>
            </a:pPr>
            <a:r>
              <a:rPr lang="en-US" sz="1300" b="1" dirty="0">
                <a:solidFill>
                  <a:schemeClr val="tx2"/>
                </a:solidFill>
              </a:rPr>
              <a:t>Key to the drawing</a:t>
            </a:r>
            <a:endParaRPr lang="en-US" sz="1300" dirty="0"/>
          </a:p>
        </p:txBody>
      </p:sp>
      <p:sp>
        <p:nvSpPr>
          <p:cNvPr id="9" name="Text 6"/>
          <p:cNvSpPr/>
          <p:nvPr/>
        </p:nvSpPr>
        <p:spPr>
          <a:xfrm>
            <a:off x="3210955" y="2103120"/>
            <a:ext cx="274320" cy="274320"/>
          </a:xfrm>
          <a:prstGeom prst="ellipse">
            <a:avLst/>
          </a:prstGeom>
          <a:solidFill>
            <a:schemeClr val="bg1"/>
          </a:solidFill>
          <a:ln w="25400">
            <a:solidFill>
              <a:srgbClr val="1F2933"/>
            </a:solidFill>
          </a:ln>
        </p:spPr>
        <p:txBody>
          <a:bodyPr wrap="square" lIns="0" tIns="0" rIns="0" bIns="0" rtlCol="0" anchor="ctr"/>
          <a:lstStyle/>
          <a:p>
            <a:pPr algn="ctr" indent="0" marL="0">
              <a:buNone/>
            </a:pPr>
            <a:r>
              <a:rPr lang="en-US" sz="1100" b="1" dirty="0">
                <a:solidFill>
                  <a:srgbClr val="1F2933"/>
                </a:solidFill>
              </a:rPr>
              <a:t>A</a:t>
            </a:r>
            <a:endParaRPr lang="en-US" sz="1100" dirty="0"/>
          </a:p>
        </p:txBody>
      </p:sp>
      <p:sp>
        <p:nvSpPr>
          <p:cNvPr id="10" name="Text 7"/>
          <p:cNvSpPr txBox="1"/>
          <p:nvPr/>
        </p:nvSpPr>
        <p:spPr>
          <a:xfrm>
            <a:off x="3595003" y="2121408"/>
            <a:ext cx="4223117" cy="420624"/>
          </a:xfrm>
          <a:prstGeom prst="rect">
            <a:avLst/>
          </a:prstGeom>
          <a:noFill/>
          <a:ln/>
        </p:spPr>
        <p:txBody>
          <a:bodyPr wrap="square" lIns="0" tIns="0" rIns="0" bIns="0" rtlCol="0" anchor="t"/>
          <a:lstStyle/>
          <a:p>
            <a:pPr indent="0" marL="0">
              <a:buNone/>
            </a:pPr>
            <a:r>
              <a:rPr lang="en-US" sz="1200" b="1" dirty="0">
                <a:solidFill>
                  <a:schemeClr val="tx2"/>
                </a:solidFill>
              </a:rPr>
              <a:t>Doors R2 and R3</a:t>
            </a:r>
            <a:pPr indent="0" marL="0">
              <a:buNone/>
            </a:pPr>
            <a:r>
              <a:rPr lang="en-US" sz="1200" dirty="0">
                <a:solidFill>
                  <a:schemeClr val="tx1"/>
                </a:solidFill>
              </a:rPr>
              <a:t> — pallet trailers dock here</a:t>
            </a:r>
            <a:endParaRPr lang="en-US" sz="1200" dirty="0"/>
          </a:p>
        </p:txBody>
      </p:sp>
      <p:sp>
        <p:nvSpPr>
          <p:cNvPr id="11" name="Text 8"/>
          <p:cNvSpPr/>
          <p:nvPr/>
        </p:nvSpPr>
        <p:spPr>
          <a:xfrm>
            <a:off x="3210955" y="2551176"/>
            <a:ext cx="274320" cy="274320"/>
          </a:xfrm>
          <a:prstGeom prst="ellipse">
            <a:avLst/>
          </a:prstGeom>
          <a:solidFill>
            <a:schemeClr val="bg1"/>
          </a:solidFill>
          <a:ln w="25400">
            <a:solidFill>
              <a:srgbClr val="1F2933"/>
            </a:solidFill>
          </a:ln>
        </p:spPr>
        <p:txBody>
          <a:bodyPr wrap="square" lIns="0" tIns="0" rIns="0" bIns="0" rtlCol="0" anchor="ctr"/>
          <a:lstStyle/>
          <a:p>
            <a:pPr algn="ctr" indent="0" marL="0">
              <a:buNone/>
            </a:pPr>
            <a:r>
              <a:rPr lang="en-US" sz="1100" b="1" dirty="0">
                <a:solidFill>
                  <a:srgbClr val="1F2933"/>
                </a:solidFill>
              </a:rPr>
              <a:t>B</a:t>
            </a:r>
            <a:endParaRPr lang="en-US" sz="1100" dirty="0"/>
          </a:p>
        </p:txBody>
      </p:sp>
      <p:sp>
        <p:nvSpPr>
          <p:cNvPr id="12" name="Text 9"/>
          <p:cNvSpPr txBox="1"/>
          <p:nvPr/>
        </p:nvSpPr>
        <p:spPr>
          <a:xfrm>
            <a:off x="3595003" y="2569464"/>
            <a:ext cx="4223117" cy="420624"/>
          </a:xfrm>
          <a:prstGeom prst="rect">
            <a:avLst/>
          </a:prstGeom>
          <a:noFill/>
          <a:ln/>
        </p:spPr>
        <p:txBody>
          <a:bodyPr wrap="square" lIns="0" tIns="0" rIns="0" bIns="0" rtlCol="0" anchor="t"/>
          <a:lstStyle/>
          <a:p>
            <a:pPr indent="0" marL="0">
              <a:buNone/>
            </a:pPr>
            <a:r>
              <a:rPr lang="en-US" sz="1200" b="1" dirty="0">
                <a:solidFill>
                  <a:schemeClr val="tx2"/>
                </a:solidFill>
              </a:rPr>
              <a:t>Unload lanes</a:t>
            </a:r>
            <a:pPr indent="0" marL="0">
              <a:buNone/>
            </a:pPr>
            <a:r>
              <a:rPr lang="en-US" sz="1200" dirty="0">
                <a:solidFill>
                  <a:schemeClr val="tx1"/>
                </a:solidFill>
              </a:rPr>
              <a:t> — 9 pallet places per lane (ERE 225)</a:t>
            </a:r>
            <a:endParaRPr lang="en-US" sz="1200" dirty="0"/>
          </a:p>
        </p:txBody>
      </p:sp>
      <p:sp>
        <p:nvSpPr>
          <p:cNvPr id="13" name="Text 10"/>
          <p:cNvSpPr/>
          <p:nvPr/>
        </p:nvSpPr>
        <p:spPr>
          <a:xfrm>
            <a:off x="3210955" y="2999232"/>
            <a:ext cx="274320" cy="274320"/>
          </a:xfrm>
          <a:prstGeom prst="ellipse">
            <a:avLst/>
          </a:prstGeom>
          <a:solidFill>
            <a:schemeClr val="bg1"/>
          </a:solidFill>
          <a:ln w="25400">
            <a:solidFill>
              <a:srgbClr val="1F2933"/>
            </a:solidFill>
          </a:ln>
        </p:spPr>
        <p:txBody>
          <a:bodyPr wrap="square" lIns="0" tIns="0" rIns="0" bIns="0" rtlCol="0" anchor="ctr"/>
          <a:lstStyle/>
          <a:p>
            <a:pPr algn="ctr" indent="0" marL="0">
              <a:buNone/>
            </a:pPr>
            <a:r>
              <a:rPr lang="en-US" sz="1100" b="1" dirty="0">
                <a:solidFill>
                  <a:srgbClr val="1F2933"/>
                </a:solidFill>
              </a:rPr>
              <a:t>C</a:t>
            </a:r>
            <a:endParaRPr lang="en-US" sz="1100" dirty="0"/>
          </a:p>
        </p:txBody>
      </p:sp>
      <p:sp>
        <p:nvSpPr>
          <p:cNvPr id="14" name="Text 11"/>
          <p:cNvSpPr txBox="1"/>
          <p:nvPr/>
        </p:nvSpPr>
        <p:spPr>
          <a:xfrm>
            <a:off x="3595003" y="3017520"/>
            <a:ext cx="4223117" cy="420624"/>
          </a:xfrm>
          <a:prstGeom prst="rect">
            <a:avLst/>
          </a:prstGeom>
          <a:noFill/>
          <a:ln/>
        </p:spPr>
        <p:txBody>
          <a:bodyPr wrap="square" lIns="0" tIns="0" rIns="0" bIns="0" rtlCol="0" anchor="t"/>
          <a:lstStyle/>
          <a:p>
            <a:pPr indent="0" marL="0">
              <a:buNone/>
            </a:pPr>
            <a:r>
              <a:rPr lang="en-US" sz="1200" b="1" dirty="0">
                <a:solidFill>
                  <a:schemeClr val="tx2"/>
                </a:solidFill>
              </a:rPr>
              <a:t>Check bench</a:t>
            </a:r>
            <a:pPr indent="0" marL="0">
              <a:buNone/>
            </a:pPr>
            <a:r>
              <a:rPr lang="en-US" sz="1200" dirty="0">
                <a:solidFill>
                  <a:schemeClr val="tx1"/>
                </a:solidFill>
              </a:rPr>
              <a:t> — count, check and scan each pallet</a:t>
            </a:r>
            <a:endParaRPr lang="en-US" sz="1200" dirty="0"/>
          </a:p>
        </p:txBody>
      </p:sp>
      <p:sp>
        <p:nvSpPr>
          <p:cNvPr id="15" name="Text 12"/>
          <p:cNvSpPr/>
          <p:nvPr/>
        </p:nvSpPr>
        <p:spPr>
          <a:xfrm>
            <a:off x="3210955" y="3447288"/>
            <a:ext cx="274320" cy="274320"/>
          </a:xfrm>
          <a:prstGeom prst="ellipse">
            <a:avLst/>
          </a:prstGeom>
          <a:solidFill>
            <a:schemeClr val="bg1"/>
          </a:solidFill>
          <a:ln w="25400">
            <a:solidFill>
              <a:srgbClr val="1F2933"/>
            </a:solidFill>
          </a:ln>
        </p:spPr>
        <p:txBody>
          <a:bodyPr wrap="square" lIns="0" tIns="0" rIns="0" bIns="0" rtlCol="0" anchor="ctr"/>
          <a:lstStyle/>
          <a:p>
            <a:pPr algn="ctr" indent="0" marL="0">
              <a:buNone/>
            </a:pPr>
            <a:r>
              <a:rPr lang="en-US" sz="1100" b="1" dirty="0">
                <a:solidFill>
                  <a:srgbClr val="1F2933"/>
                </a:solidFill>
              </a:rPr>
              <a:t>D</a:t>
            </a:r>
            <a:endParaRPr lang="en-US" sz="1100" dirty="0"/>
          </a:p>
        </p:txBody>
      </p:sp>
      <p:sp>
        <p:nvSpPr>
          <p:cNvPr id="16" name="Text 13"/>
          <p:cNvSpPr txBox="1"/>
          <p:nvPr/>
        </p:nvSpPr>
        <p:spPr>
          <a:xfrm>
            <a:off x="3595003" y="3465576"/>
            <a:ext cx="4223117" cy="420624"/>
          </a:xfrm>
          <a:prstGeom prst="rect">
            <a:avLst/>
          </a:prstGeom>
          <a:noFill/>
          <a:ln/>
        </p:spPr>
        <p:txBody>
          <a:bodyPr wrap="square" lIns="0" tIns="0" rIns="0" bIns="0" rtlCol="0" anchor="t"/>
          <a:lstStyle/>
          <a:p>
            <a:pPr indent="0" marL="0">
              <a:buNone/>
            </a:pPr>
            <a:r>
              <a:rPr lang="en-US" sz="1200" b="1" dirty="0">
                <a:solidFill>
                  <a:schemeClr val="tx2"/>
                </a:solidFill>
              </a:rPr>
              <a:t>Pick-up points</a:t>
            </a:r>
            <a:pPr indent="0" marL="0">
              <a:buNone/>
            </a:pPr>
            <a:r>
              <a:rPr lang="en-US" sz="1200" dirty="0">
                <a:solidFill>
                  <a:schemeClr val="tx1"/>
                </a:solidFill>
              </a:rPr>
              <a:t> — the reach truck collects checked pallets</a:t>
            </a:r>
            <a:endParaRPr lang="en-US" sz="1200" dirty="0"/>
          </a:p>
        </p:txBody>
      </p:sp>
      <p:sp>
        <p:nvSpPr>
          <p:cNvPr id="17" name="Text 14"/>
          <p:cNvSpPr/>
          <p:nvPr/>
        </p:nvSpPr>
        <p:spPr>
          <a:xfrm>
            <a:off x="3210955" y="3895344"/>
            <a:ext cx="274320" cy="274320"/>
          </a:xfrm>
          <a:prstGeom prst="ellipse">
            <a:avLst/>
          </a:prstGeom>
          <a:solidFill>
            <a:schemeClr val="bg1"/>
          </a:solidFill>
          <a:ln w="25400">
            <a:solidFill>
              <a:srgbClr val="1F2933"/>
            </a:solidFill>
          </a:ln>
        </p:spPr>
        <p:txBody>
          <a:bodyPr wrap="square" lIns="0" tIns="0" rIns="0" bIns="0" rtlCol="0" anchor="ctr"/>
          <a:lstStyle/>
          <a:p>
            <a:pPr algn="ctr" indent="0" marL="0">
              <a:buNone/>
            </a:pPr>
            <a:r>
              <a:rPr lang="en-US" sz="1100" b="1" dirty="0">
                <a:solidFill>
                  <a:srgbClr val="1F2933"/>
                </a:solidFill>
              </a:rPr>
              <a:t>E</a:t>
            </a:r>
            <a:endParaRPr lang="en-US" sz="1100" dirty="0"/>
          </a:p>
        </p:txBody>
      </p:sp>
      <p:sp>
        <p:nvSpPr>
          <p:cNvPr id="18" name="Text 15"/>
          <p:cNvSpPr txBox="1"/>
          <p:nvPr/>
        </p:nvSpPr>
        <p:spPr>
          <a:xfrm>
            <a:off x="3595003" y="3913632"/>
            <a:ext cx="4223117" cy="420624"/>
          </a:xfrm>
          <a:prstGeom prst="rect">
            <a:avLst/>
          </a:prstGeom>
          <a:noFill/>
          <a:ln/>
        </p:spPr>
        <p:txBody>
          <a:bodyPr wrap="square" lIns="0" tIns="0" rIns="0" bIns="0" rtlCol="0" anchor="t"/>
          <a:lstStyle/>
          <a:p>
            <a:pPr indent="0" marL="0">
              <a:buNone/>
            </a:pPr>
            <a:r>
              <a:rPr lang="en-US" sz="1200" b="1" dirty="0">
                <a:solidFill>
                  <a:schemeClr val="tx2"/>
                </a:solidFill>
              </a:rPr>
              <a:t>R2 half</a:t>
            </a:r>
            <a:pPr indent="0" marL="0">
              <a:buNone/>
            </a:pPr>
            <a:r>
              <a:rPr lang="en-US" sz="1200" dirty="0">
                <a:solidFill>
                  <a:schemeClr val="tx1"/>
                </a:solidFill>
              </a:rPr>
              <a:t> — lent to containers on busy days (+131 m²)</a:t>
            </a:r>
            <a:endParaRPr lang="en-US" sz="1200" dirty="0"/>
          </a:p>
        </p:txBody>
      </p:sp>
      <p:sp>
        <p:nvSpPr>
          <p:cNvPr id="19" name="Text 16"/>
          <p:cNvSpPr/>
          <p:nvPr/>
        </p:nvSpPr>
        <p:spPr>
          <a:xfrm>
            <a:off x="3210955" y="4343400"/>
            <a:ext cx="274320" cy="274320"/>
          </a:xfrm>
          <a:prstGeom prst="ellipse">
            <a:avLst/>
          </a:prstGeom>
          <a:solidFill>
            <a:schemeClr val="bg1"/>
          </a:solidFill>
          <a:ln w="25400">
            <a:solidFill>
              <a:srgbClr val="1F2933"/>
            </a:solidFill>
          </a:ln>
        </p:spPr>
        <p:txBody>
          <a:bodyPr wrap="square" lIns="0" tIns="0" rIns="0" bIns="0" rtlCol="0" anchor="ctr"/>
          <a:lstStyle/>
          <a:p>
            <a:pPr algn="ctr" indent="0" marL="0">
              <a:buNone/>
            </a:pPr>
            <a:r>
              <a:rPr lang="en-US" sz="1100" b="1" dirty="0">
                <a:solidFill>
                  <a:srgbClr val="1F2933"/>
                </a:solidFill>
              </a:rPr>
              <a:t>F</a:t>
            </a:r>
            <a:endParaRPr lang="en-US" sz="1100" dirty="0"/>
          </a:p>
        </p:txBody>
      </p:sp>
      <p:sp>
        <p:nvSpPr>
          <p:cNvPr id="20" name="Text 17"/>
          <p:cNvSpPr txBox="1"/>
          <p:nvPr/>
        </p:nvSpPr>
        <p:spPr>
          <a:xfrm>
            <a:off x="3595003" y="4361688"/>
            <a:ext cx="4223117" cy="420624"/>
          </a:xfrm>
          <a:prstGeom prst="rect">
            <a:avLst/>
          </a:prstGeom>
          <a:noFill/>
          <a:ln/>
        </p:spPr>
        <p:txBody>
          <a:bodyPr wrap="square" lIns="0" tIns="0" rIns="0" bIns="0" rtlCol="0" anchor="t"/>
          <a:lstStyle/>
          <a:p>
            <a:pPr indent="0" marL="0">
              <a:buNone/>
            </a:pPr>
            <a:r>
              <a:rPr lang="en-US" sz="1200" b="1" dirty="0">
                <a:solidFill>
                  <a:schemeClr val="tx2"/>
                </a:solidFill>
              </a:rPr>
              <a:t>Door R1 + roller conveyor</a:t>
            </a:r>
            <a:pPr indent="0" marL="0">
              <a:buNone/>
            </a:pPr>
            <a:r>
              <a:rPr lang="en-US" sz="1200" dirty="0">
                <a:solidFill>
                  <a:schemeClr val="tx1"/>
                </a:solidFill>
              </a:rPr>
              <a:t> — cartons roll out of the container</a:t>
            </a:r>
            <a:endParaRPr lang="en-US" sz="1200" dirty="0"/>
          </a:p>
        </p:txBody>
      </p:sp>
      <p:sp>
        <p:nvSpPr>
          <p:cNvPr id="21" name="Text 18"/>
          <p:cNvSpPr/>
          <p:nvPr/>
        </p:nvSpPr>
        <p:spPr>
          <a:xfrm>
            <a:off x="3210955" y="4791456"/>
            <a:ext cx="274320" cy="274320"/>
          </a:xfrm>
          <a:prstGeom prst="ellipse">
            <a:avLst/>
          </a:prstGeom>
          <a:solidFill>
            <a:schemeClr val="bg1"/>
          </a:solidFill>
          <a:ln w="25400">
            <a:solidFill>
              <a:srgbClr val="1F2933"/>
            </a:solidFill>
          </a:ln>
        </p:spPr>
        <p:txBody>
          <a:bodyPr wrap="square" lIns="0" tIns="0" rIns="0" bIns="0" rtlCol="0" anchor="ctr"/>
          <a:lstStyle/>
          <a:p>
            <a:pPr algn="ctr" indent="0" marL="0">
              <a:buNone/>
            </a:pPr>
            <a:r>
              <a:rPr lang="en-US" sz="1100" b="1" dirty="0">
                <a:solidFill>
                  <a:srgbClr val="1F2933"/>
                </a:solidFill>
              </a:rPr>
              <a:t>G</a:t>
            </a:r>
            <a:endParaRPr lang="en-US" sz="1100" dirty="0"/>
          </a:p>
        </p:txBody>
      </p:sp>
      <p:sp>
        <p:nvSpPr>
          <p:cNvPr id="22" name="Text 19"/>
          <p:cNvSpPr txBox="1"/>
          <p:nvPr/>
        </p:nvSpPr>
        <p:spPr>
          <a:xfrm>
            <a:off x="3595003" y="4809744"/>
            <a:ext cx="4223117" cy="420624"/>
          </a:xfrm>
          <a:prstGeom prst="rect">
            <a:avLst/>
          </a:prstGeom>
          <a:noFill/>
          <a:ln/>
        </p:spPr>
        <p:txBody>
          <a:bodyPr wrap="square" lIns="0" tIns="0" rIns="0" bIns="0" rtlCol="0" anchor="t"/>
          <a:lstStyle/>
          <a:p>
            <a:pPr indent="0" marL="0">
              <a:buNone/>
            </a:pPr>
            <a:r>
              <a:rPr lang="en-US" sz="1200" b="1" dirty="0">
                <a:solidFill>
                  <a:schemeClr val="tx2"/>
                </a:solidFill>
              </a:rPr>
              <a:t>Build spots</a:t>
            </a:r>
            <a:pPr indent="0" marL="0">
              <a:buNone/>
            </a:pPr>
            <a:r>
              <a:rPr lang="en-US" sz="1200" dirty="0">
                <a:solidFill>
                  <a:schemeClr val="tx1"/>
                </a:solidFill>
              </a:rPr>
              <a:t> — 12 pallets built at once, one per item</a:t>
            </a:r>
            <a:endParaRPr lang="en-US" sz="1200" dirty="0"/>
          </a:p>
        </p:txBody>
      </p:sp>
      <p:sp>
        <p:nvSpPr>
          <p:cNvPr id="23" name="Text 20"/>
          <p:cNvSpPr/>
          <p:nvPr/>
        </p:nvSpPr>
        <p:spPr>
          <a:xfrm>
            <a:off x="3210955" y="5239512"/>
            <a:ext cx="274320" cy="274320"/>
          </a:xfrm>
          <a:prstGeom prst="ellipse">
            <a:avLst/>
          </a:prstGeom>
          <a:solidFill>
            <a:schemeClr val="bg1"/>
          </a:solidFill>
          <a:ln w="25400">
            <a:solidFill>
              <a:srgbClr val="1F2933"/>
            </a:solidFill>
          </a:ln>
        </p:spPr>
        <p:txBody>
          <a:bodyPr wrap="square" lIns="0" tIns="0" rIns="0" bIns="0" rtlCol="0" anchor="ctr"/>
          <a:lstStyle/>
          <a:p>
            <a:pPr algn="ctr" indent="0" marL="0">
              <a:buNone/>
            </a:pPr>
            <a:r>
              <a:rPr lang="en-US" sz="1100" b="1" dirty="0">
                <a:solidFill>
                  <a:srgbClr val="1F2933"/>
                </a:solidFill>
              </a:rPr>
              <a:t>H</a:t>
            </a:r>
            <a:endParaRPr lang="en-US" sz="1100" dirty="0"/>
          </a:p>
        </p:txBody>
      </p:sp>
      <p:sp>
        <p:nvSpPr>
          <p:cNvPr id="24" name="Text 21"/>
          <p:cNvSpPr txBox="1"/>
          <p:nvPr/>
        </p:nvSpPr>
        <p:spPr>
          <a:xfrm>
            <a:off x="3595003" y="5257800"/>
            <a:ext cx="4223117" cy="420624"/>
          </a:xfrm>
          <a:prstGeom prst="rect">
            <a:avLst/>
          </a:prstGeom>
          <a:noFill/>
          <a:ln/>
        </p:spPr>
        <p:txBody>
          <a:bodyPr wrap="square" lIns="0" tIns="0" rIns="0" bIns="0" rtlCol="0" anchor="t"/>
          <a:lstStyle/>
          <a:p>
            <a:pPr indent="0" marL="0">
              <a:buNone/>
            </a:pPr>
            <a:r>
              <a:rPr lang="en-US" sz="1200" b="1" dirty="0">
                <a:solidFill>
                  <a:schemeClr val="tx2"/>
                </a:solidFill>
              </a:rPr>
              <a:t>Finished pallets</a:t>
            </a:r>
            <a:pPr indent="0" marL="0">
              <a:buNone/>
            </a:pPr>
            <a:r>
              <a:rPr lang="en-US" sz="1200" dirty="0">
                <a:solidFill>
                  <a:schemeClr val="tx1"/>
                </a:solidFill>
              </a:rPr>
              <a:t> — room for 35 pallets waiting for putaway</a:t>
            </a:r>
            <a:endParaRPr lang="en-US" sz="1200" dirty="0"/>
          </a:p>
        </p:txBody>
      </p:sp>
      <p:sp>
        <p:nvSpPr>
          <p:cNvPr id="25" name="Text 22"/>
          <p:cNvSpPr/>
          <p:nvPr/>
        </p:nvSpPr>
        <p:spPr>
          <a:xfrm>
            <a:off x="3210955" y="5687568"/>
            <a:ext cx="274320" cy="274320"/>
          </a:xfrm>
          <a:prstGeom prst="ellipse">
            <a:avLst/>
          </a:prstGeom>
          <a:solidFill>
            <a:schemeClr val="bg1"/>
          </a:solidFill>
          <a:ln w="25400">
            <a:solidFill>
              <a:srgbClr val="1F2933"/>
            </a:solidFill>
          </a:ln>
        </p:spPr>
        <p:txBody>
          <a:bodyPr wrap="square" lIns="0" tIns="0" rIns="0" bIns="0" rtlCol="0" anchor="ctr"/>
          <a:lstStyle/>
          <a:p>
            <a:pPr algn="ctr" indent="0" marL="0">
              <a:buNone/>
            </a:pPr>
            <a:r>
              <a:rPr lang="en-US" sz="1100" b="1" dirty="0">
                <a:solidFill>
                  <a:srgbClr val="1F2933"/>
                </a:solidFill>
              </a:rPr>
              <a:t>I</a:t>
            </a:r>
            <a:endParaRPr lang="en-US" sz="1100" dirty="0"/>
          </a:p>
        </p:txBody>
      </p:sp>
      <p:sp>
        <p:nvSpPr>
          <p:cNvPr id="26" name="Text 23"/>
          <p:cNvSpPr txBox="1"/>
          <p:nvPr/>
        </p:nvSpPr>
        <p:spPr>
          <a:xfrm>
            <a:off x="3595003" y="5705856"/>
            <a:ext cx="4223117" cy="420624"/>
          </a:xfrm>
          <a:prstGeom prst="rect">
            <a:avLst/>
          </a:prstGeom>
          <a:noFill/>
          <a:ln/>
        </p:spPr>
        <p:txBody>
          <a:bodyPr wrap="square" lIns="0" tIns="0" rIns="0" bIns="0" rtlCol="0" anchor="t"/>
          <a:lstStyle/>
          <a:p>
            <a:pPr indent="0" marL="0">
              <a:buNone/>
            </a:pPr>
            <a:r>
              <a:rPr lang="en-US" sz="1200" b="1" dirty="0">
                <a:solidFill>
                  <a:schemeClr val="tx2"/>
                </a:solidFill>
              </a:rPr>
              <a:t>Wrap and label</a:t>
            </a:r>
            <a:pPr indent="0" marL="0">
              <a:buNone/>
            </a:pPr>
            <a:r>
              <a:rPr lang="en-US" sz="1200" dirty="0">
                <a:solidFill>
                  <a:schemeClr val="tx1"/>
                </a:solidFill>
              </a:rPr>
              <a:t> — stretch-wrap, print the label, scan</a:t>
            </a:r>
            <a:endParaRPr lang="en-US" sz="1200" dirty="0"/>
          </a:p>
        </p:txBody>
      </p:sp>
      <p:sp>
        <p:nvSpPr>
          <p:cNvPr id="27" name="Receiving numbers"/>
          <p:cNvSpPr/>
          <p:nvPr/>
        </p:nvSpPr>
        <p:spPr>
          <a:xfrm>
            <a:off x="8092440" y="1737360"/>
            <a:ext cx="3550615" cy="4434840"/>
          </a:xfrm>
          <a:prstGeom prst="rect">
            <a:avLst/>
          </a:prstGeom>
          <a:solidFill>
            <a:schemeClr val="bg2"/>
          </a:solidFill>
          <a:ln/>
        </p:spPr>
      </p:sp>
      <p:sp>
        <p:nvSpPr>
          <p:cNvPr id="28" name="Text 25"/>
          <p:cNvSpPr txBox="1"/>
          <p:nvPr/>
        </p:nvSpPr>
        <p:spPr>
          <a:xfrm>
            <a:off x="8321040" y="1920240"/>
            <a:ext cx="3093415" cy="475488"/>
          </a:xfrm>
          <a:prstGeom prst="rect">
            <a:avLst/>
          </a:prstGeom>
          <a:noFill/>
          <a:ln/>
        </p:spPr>
        <p:txBody>
          <a:bodyPr wrap="square" lIns="0" tIns="0" rIns="0" bIns="0" rtlCol="0" anchor="t"/>
          <a:lstStyle/>
          <a:p>
            <a:pPr indent="0" marL="0">
              <a:buNone/>
            </a:pPr>
            <a:r>
              <a:rPr lang="en-US" sz="2800" dirty="0">
                <a:solidFill>
                  <a:schemeClr val="accent1"/>
                </a:solidFill>
                <a:latin typeface="Cambria" pitchFamily="34" charset="0"/>
                <a:ea typeface="Cambria" pitchFamily="34" charset="-122"/>
                <a:cs typeface="Cambria" pitchFamily="34" charset="-120"/>
              </a:rPr>
              <a:t>99</a:t>
            </a:r>
            <a:endParaRPr lang="en-US" sz="2800" dirty="0"/>
          </a:p>
        </p:txBody>
      </p:sp>
      <p:sp>
        <p:nvSpPr>
          <p:cNvPr id="29" name="Text 26"/>
          <p:cNvSpPr txBox="1"/>
          <p:nvPr/>
        </p:nvSpPr>
        <p:spPr>
          <a:xfrm>
            <a:off x="8321040" y="2395728"/>
            <a:ext cx="3093415" cy="457200"/>
          </a:xfrm>
          <a:prstGeom prst="rect">
            <a:avLst/>
          </a:prstGeom>
          <a:noFill/>
          <a:ln/>
        </p:spPr>
        <p:txBody>
          <a:bodyPr wrap="square" lIns="0" tIns="0" rIns="0" bIns="0" rtlCol="0" anchor="t"/>
          <a:lstStyle/>
          <a:p>
            <a:pPr indent="0" marL="0">
              <a:buNone/>
            </a:pPr>
            <a:r>
              <a:rPr lang="en-US" sz="1200" dirty="0">
                <a:solidFill>
                  <a:schemeClr val="tx1"/>
                </a:solidFill>
              </a:rPr>
              <a:t>inbound loads a day (busiest day 167)</a:t>
            </a:r>
            <a:endParaRPr lang="en-US" sz="1200" dirty="0"/>
          </a:p>
        </p:txBody>
      </p:sp>
      <p:sp>
        <p:nvSpPr>
          <p:cNvPr id="30" name="Text 27"/>
          <p:cNvSpPr txBox="1"/>
          <p:nvPr/>
        </p:nvSpPr>
        <p:spPr>
          <a:xfrm>
            <a:off x="8321040" y="2971800"/>
            <a:ext cx="3093415" cy="475488"/>
          </a:xfrm>
          <a:prstGeom prst="rect">
            <a:avLst/>
          </a:prstGeom>
          <a:noFill/>
          <a:ln/>
        </p:spPr>
        <p:txBody>
          <a:bodyPr wrap="square" lIns="0" tIns="0" rIns="0" bIns="0" rtlCol="0" anchor="t"/>
          <a:lstStyle/>
          <a:p>
            <a:pPr indent="0" marL="0">
              <a:buNone/>
            </a:pPr>
            <a:r>
              <a:rPr lang="en-US" sz="2800" dirty="0">
                <a:solidFill>
                  <a:schemeClr val="accent1"/>
                </a:solidFill>
                <a:latin typeface="Cambria" pitchFamily="34" charset="0"/>
                <a:ea typeface="Cambria" pitchFamily="34" charset="-122"/>
                <a:cs typeface="Cambria" pitchFamily="34" charset="-120"/>
              </a:rPr>
              <a:t>41%</a:t>
            </a:r>
            <a:endParaRPr lang="en-US" sz="2800" dirty="0"/>
          </a:p>
        </p:txBody>
      </p:sp>
      <p:sp>
        <p:nvSpPr>
          <p:cNvPr id="31" name="Text 28"/>
          <p:cNvSpPr txBox="1"/>
          <p:nvPr/>
        </p:nvSpPr>
        <p:spPr>
          <a:xfrm>
            <a:off x="8321040" y="3447288"/>
            <a:ext cx="3093415" cy="457200"/>
          </a:xfrm>
          <a:prstGeom prst="rect">
            <a:avLst/>
          </a:prstGeom>
          <a:noFill/>
          <a:ln/>
        </p:spPr>
        <p:txBody>
          <a:bodyPr wrap="square" lIns="0" tIns="0" rIns="0" bIns="0" rtlCol="0" anchor="t"/>
          <a:lstStyle/>
          <a:p>
            <a:pPr indent="0" marL="0">
              <a:buNone/>
            </a:pPr>
            <a:r>
              <a:rPr lang="en-US" sz="1200" dirty="0">
                <a:solidFill>
                  <a:schemeClr val="tx1"/>
                </a:solidFill>
              </a:rPr>
              <a:t>of loads come from Asia, loose in containers</a:t>
            </a:r>
            <a:endParaRPr lang="en-US" sz="1200" dirty="0"/>
          </a:p>
        </p:txBody>
      </p:sp>
      <p:sp>
        <p:nvSpPr>
          <p:cNvPr id="32" name="Text 29"/>
          <p:cNvSpPr txBox="1"/>
          <p:nvPr/>
        </p:nvSpPr>
        <p:spPr>
          <a:xfrm>
            <a:off x="8321040" y="4023360"/>
            <a:ext cx="3093415" cy="475488"/>
          </a:xfrm>
          <a:prstGeom prst="rect">
            <a:avLst/>
          </a:prstGeom>
          <a:noFill/>
          <a:ln/>
        </p:spPr>
        <p:txBody>
          <a:bodyPr wrap="square" lIns="0" tIns="0" rIns="0" bIns="0" rtlCol="0" anchor="t"/>
          <a:lstStyle/>
          <a:p>
            <a:pPr indent="0" marL="0">
              <a:buNone/>
            </a:pPr>
            <a:r>
              <a:rPr lang="en-US" sz="2800" dirty="0">
                <a:solidFill>
                  <a:schemeClr val="accent1"/>
                </a:solidFill>
                <a:latin typeface="Cambria" pitchFamily="34" charset="0"/>
                <a:ea typeface="Cambria" pitchFamily="34" charset="-122"/>
                <a:cs typeface="Cambria" pitchFamily="34" charset="-120"/>
              </a:rPr>
              <a:t>91%</a:t>
            </a:r>
            <a:endParaRPr lang="en-US" sz="2800" dirty="0"/>
          </a:p>
        </p:txBody>
      </p:sp>
      <p:sp>
        <p:nvSpPr>
          <p:cNvPr id="33" name="Text 30"/>
          <p:cNvSpPr txBox="1"/>
          <p:nvPr/>
        </p:nvSpPr>
        <p:spPr>
          <a:xfrm>
            <a:off x="8321040" y="4498848"/>
            <a:ext cx="3093415" cy="457200"/>
          </a:xfrm>
          <a:prstGeom prst="rect">
            <a:avLst/>
          </a:prstGeom>
          <a:noFill/>
          <a:ln/>
        </p:spPr>
        <p:txBody>
          <a:bodyPr wrap="square" lIns="0" tIns="0" rIns="0" bIns="0" rtlCol="0" anchor="t"/>
          <a:lstStyle/>
          <a:p>
            <a:pPr indent="0" marL="0">
              <a:buNone/>
            </a:pPr>
            <a:r>
              <a:rPr lang="en-US" sz="1200" dirty="0">
                <a:solidFill>
                  <a:schemeClr val="tx1"/>
                </a:solidFill>
              </a:rPr>
              <a:t>of containers fit the 190 m² zone; 97% when R2's half is lent</a:t>
            </a:r>
            <a:endParaRPr lang="en-US" sz="1200" dirty="0"/>
          </a:p>
        </p:txBody>
      </p:sp>
      <p:sp>
        <p:nvSpPr>
          <p:cNvPr id="34" name="Text 31"/>
          <p:cNvSpPr txBox="1"/>
          <p:nvPr/>
        </p:nvSpPr>
        <p:spPr>
          <a:xfrm>
            <a:off x="8321040" y="5074920"/>
            <a:ext cx="3093415" cy="475488"/>
          </a:xfrm>
          <a:prstGeom prst="rect">
            <a:avLst/>
          </a:prstGeom>
          <a:noFill/>
          <a:ln/>
        </p:spPr>
        <p:txBody>
          <a:bodyPr wrap="square" lIns="0" tIns="0" rIns="0" bIns="0" rtlCol="0" anchor="t"/>
          <a:lstStyle/>
          <a:p>
            <a:pPr indent="0" marL="0">
              <a:buNone/>
            </a:pPr>
            <a:r>
              <a:rPr lang="en-US" sz="2800" dirty="0">
                <a:solidFill>
                  <a:schemeClr val="accent1"/>
                </a:solidFill>
                <a:latin typeface="Cambria" pitchFamily="34" charset="0"/>
                <a:ea typeface="Cambria" pitchFamily="34" charset="-122"/>
                <a:cs typeface="Cambria" pitchFamily="34" charset="-120"/>
              </a:rPr>
              <a:t>~1.5 h</a:t>
            </a:r>
            <a:endParaRPr lang="en-US" sz="2800" dirty="0"/>
          </a:p>
        </p:txBody>
      </p:sp>
      <p:sp>
        <p:nvSpPr>
          <p:cNvPr id="35" name="Text 32"/>
          <p:cNvSpPr txBox="1"/>
          <p:nvPr/>
        </p:nvSpPr>
        <p:spPr>
          <a:xfrm>
            <a:off x="8321040" y="5550408"/>
            <a:ext cx="3093415" cy="457200"/>
          </a:xfrm>
          <a:prstGeom prst="rect">
            <a:avLst/>
          </a:prstGeom>
          <a:noFill/>
          <a:ln/>
        </p:spPr>
        <p:txBody>
          <a:bodyPr wrap="square" lIns="0" tIns="0" rIns="0" bIns="0" rtlCol="0" anchor="t"/>
          <a:lstStyle/>
          <a:p>
            <a:pPr indent="0" marL="0">
              <a:buNone/>
            </a:pPr>
            <a:r>
              <a:rPr lang="en-US" sz="1200" dirty="0">
                <a:solidFill>
                  <a:schemeClr val="tx1"/>
                </a:solidFill>
              </a:rPr>
              <a:t>dock-to-stock per pallet trailer (benchmark &lt; 3.5 h)</a:t>
            </a:r>
            <a:endParaRPr lang="en-US" sz="12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WHY CHANGE</a:t>
            </a:r>
            <a:pPr indent="0" marL="0">
              <a:buNone/>
            </a:pPr>
            <a:r>
              <a:rPr lang="en-US" sz="900" spc="100" kern="0" dirty="0">
                <a:solidFill>
                  <a:schemeClr val="accent3"/>
                </a:solidFill>
              </a:rPr>
              <a:t>   ·   </a:t>
            </a:r>
            <a:pPr indent="0" marL="0">
              <a:buNone/>
            </a:pPr>
            <a:r>
              <a:rPr lang="en-US" sz="900" spc="100" kern="0" dirty="0">
                <a:solidFill>
                  <a:schemeClr val="accent3"/>
                </a:solidFill>
              </a:rPr>
              <a:t>OUR DESIGN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PERFORMANCE</a:t>
            </a:r>
            <a:pPr indent="0" marL="0">
              <a:buNone/>
            </a:pPr>
            <a:r>
              <a:rPr lang="en-US" sz="900" spc="100" kern="0" dirty="0">
                <a:solidFill>
                  <a:schemeClr val="accent3"/>
                </a:solidFill>
              </a:rPr>
              <a:t>   ·   </a:t>
            </a:r>
            <a:pPr indent="0" marL="0">
              <a:buNone/>
            </a:pPr>
            <a:r>
              <a:rPr lang="en-US" sz="900" spc="100" kern="0" dirty="0">
                <a:solidFill>
                  <a:schemeClr val="accent3"/>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8,960 rack places hold today's peak at 84% full — but at the current stock growth they are full in about 4 months</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stock snapshots 1 April, 1 May and 1 June 2025 (Assa Abloy &amp; DHL Supply Chain, 2025); Deliverable 2 §2–3 and Deliverable 3 §4</a:t>
            </a:r>
            <a:endParaRPr lang="en-US" sz="900" dirty="0"/>
          </a:p>
        </p:txBody>
      </p:sp>
      <p:sp>
        <p:nvSpPr>
          <p:cNvPr id="5" name="Owner marker"/>
          <p:cNvSpPr/>
          <p:nvPr/>
        </p:nvSpPr>
        <p:spPr>
          <a:xfrm>
            <a:off x="9098280" y="338328"/>
            <a:ext cx="118872" cy="118872"/>
          </a:xfrm>
          <a:prstGeom prst="rect">
            <a:avLst/>
          </a:prstGeom>
          <a:solidFill>
            <a:srgbClr val="1D4ED8"/>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Storage owner</a:t>
            </a:r>
            <a:endParaRPr lang="en-US" sz="1000" dirty="0"/>
          </a:p>
        </p:txBody>
      </p:sp>
      <p:sp>
        <p:nvSpPr>
          <p:cNvPr id="7" name="Text 5"/>
          <p:cNvSpPr txBox="1"/>
          <p:nvPr/>
        </p:nvSpPr>
        <p:spPr>
          <a:xfrm>
            <a:off x="548640" y="1737360"/>
            <a:ext cx="5120640" cy="274320"/>
          </a:xfrm>
          <a:prstGeom prst="rect">
            <a:avLst/>
          </a:prstGeom>
          <a:noFill/>
          <a:ln/>
        </p:spPr>
        <p:txBody>
          <a:bodyPr wrap="square" lIns="0" tIns="0" rIns="0" bIns="0" rtlCol="0" anchor="t"/>
          <a:lstStyle/>
          <a:p>
            <a:pPr indent="0" marL="0">
              <a:buNone/>
            </a:pPr>
            <a:r>
              <a:rPr lang="en-US" sz="1300" b="1" dirty="0">
                <a:solidFill>
                  <a:schemeClr val="tx2"/>
                </a:solidFill>
              </a:rPr>
              <a:t>Pallet places at the peak (June 2025)</a:t>
            </a:r>
            <a:endParaRPr lang="en-US" sz="1300" dirty="0"/>
          </a:p>
        </p:txBody>
      </p:sp>
      <p:graphicFrame>
        <p:nvGraphicFramePr>
          <p:cNvPr id="8" name="Chart 0" descr=""/>
          <p:cNvGraphicFramePr/>
          <p:nvPr/>
        </p:nvGraphicFramePr>
        <p:xfrm>
          <a:off x="411480" y="2057400"/>
          <a:ext cx="5257800" cy="28803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4956048"/>
            <a:ext cx="5120640" cy="411480"/>
          </a:xfrm>
          <a:prstGeom prst="rect">
            <a:avLst/>
          </a:prstGeom>
          <a:noFill/>
          <a:ln/>
        </p:spPr>
        <p:txBody>
          <a:bodyPr wrap="square" lIns="0" tIns="0" rIns="0" bIns="0" rtlCol="0" anchor="t"/>
          <a:lstStyle/>
          <a:p>
            <a:pPr indent="0" marL="0">
              <a:buNone/>
            </a:pPr>
            <a:r>
              <a:rPr lang="en-US" sz="1100" dirty="0">
                <a:solidFill>
                  <a:schemeClr val="accent2"/>
                </a:solidFill>
              </a:rPr>
              <a:t>−1,005 places: 2,657 small, slow items move to bin shelving next to packing.</a:t>
            </a:r>
            <a:endParaRPr lang="en-US" sz="1100" dirty="0"/>
          </a:p>
        </p:txBody>
      </p:sp>
      <p:sp>
        <p:nvSpPr>
          <p:cNvPr id="10" name="Text 7"/>
          <p:cNvSpPr txBox="1"/>
          <p:nvPr/>
        </p:nvSpPr>
        <p:spPr>
          <a:xfrm>
            <a:off x="548640" y="5413248"/>
            <a:ext cx="5120640" cy="777240"/>
          </a:xfrm>
          <a:prstGeom prst="rect">
            <a:avLst/>
          </a:prstGeom>
          <a:noFill/>
          <a:ln w="15875">
            <a:solidFill>
              <a:schemeClr val="accent5"/>
            </a:solidFill>
          </a:ln>
        </p:spPr>
        <p:txBody>
          <a:bodyPr wrap="square" lIns="127000" tIns="50800" rIns="127000" bIns="50800" rtlCol="0" anchor="ctr"/>
          <a:lstStyle/>
          <a:p>
            <a:pPr indent="0" marL="0">
              <a:buNone/>
            </a:pPr>
            <a:r>
              <a:rPr lang="en-US" sz="1200" b="1" dirty="0">
                <a:solidFill>
                  <a:schemeClr val="accent5"/>
                </a:solidFill>
              </a:rPr>
              <a:t>Risk: </a:t>
            </a:r>
            <a:pPr indent="0" marL="0">
              <a:buNone/>
            </a:pPr>
            <a:r>
              <a:rPr lang="en-US" sz="1200" dirty="0">
                <a:solidFill>
                  <a:schemeClr val="tx1"/>
                </a:solidFill>
              </a:rPr>
              <a:t>stock grows ~16% per quarter, so the racks are full in ~4 months (~6 with the reserved 12th module). 21% of loads are over a year old: clearing dead stock is the main lever.</a:t>
            </a:r>
            <a:endParaRPr lang="en-US" sz="1200" dirty="0"/>
          </a:p>
        </p:txBody>
      </p:sp>
      <p:sp>
        <p:nvSpPr>
          <p:cNvPr id="11" name="Text 8"/>
          <p:cNvSpPr txBox="1"/>
          <p:nvPr/>
        </p:nvSpPr>
        <p:spPr>
          <a:xfrm>
            <a:off x="6172200" y="1737360"/>
            <a:ext cx="5470855" cy="274320"/>
          </a:xfrm>
          <a:prstGeom prst="rect">
            <a:avLst/>
          </a:prstGeom>
          <a:noFill/>
          <a:ln/>
        </p:spPr>
        <p:txBody>
          <a:bodyPr wrap="square" lIns="0" tIns="0" rIns="0" bIns="0" rtlCol="0" anchor="t"/>
          <a:lstStyle/>
          <a:p>
            <a:pPr indent="0" marL="0">
              <a:buNone/>
            </a:pPr>
            <a:r>
              <a:rPr lang="en-US" sz="1300" b="1" dirty="0">
                <a:solidFill>
                  <a:schemeClr val="tx2"/>
                </a:solidFill>
              </a:rPr>
              <a:t>How storage works</a:t>
            </a:r>
            <a:endParaRPr lang="en-US" sz="1300" dirty="0"/>
          </a:p>
        </p:txBody>
      </p:sp>
      <p:sp>
        <p:nvSpPr>
          <p:cNvPr id="12" name="Text 9"/>
          <p:cNvSpPr txBox="1"/>
          <p:nvPr/>
        </p:nvSpPr>
        <p:spPr>
          <a:xfrm>
            <a:off x="6172200" y="2084832"/>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1</a:t>
            </a:r>
            <a:endParaRPr lang="en-US" sz="1800" dirty="0"/>
          </a:p>
        </p:txBody>
      </p:sp>
      <p:sp>
        <p:nvSpPr>
          <p:cNvPr id="13" name="Text 10"/>
          <p:cNvSpPr txBox="1"/>
          <p:nvPr/>
        </p:nvSpPr>
        <p:spPr>
          <a:xfrm>
            <a:off x="6556248" y="2121408"/>
            <a:ext cx="5086807" cy="658368"/>
          </a:xfrm>
          <a:prstGeom prst="rect">
            <a:avLst/>
          </a:prstGeom>
          <a:noFill/>
          <a:ln/>
        </p:spPr>
        <p:txBody>
          <a:bodyPr wrap="square" lIns="0" tIns="0" rIns="0" bIns="0" rtlCol="0" anchor="t"/>
          <a:lstStyle/>
          <a:p>
            <a:pPr indent="0" marL="0">
              <a:buNone/>
            </a:pPr>
            <a:r>
              <a:rPr lang="en-US" sz="1250" b="1" dirty="0">
                <a:solidFill>
                  <a:schemeClr val="tx2"/>
                </a:solidFill>
              </a:rPr>
              <a:t>Every pallet reachable. </a:t>
            </a:r>
            <a:pPr indent="0" marL="0">
              <a:buNone/>
            </a:pPr>
            <a:r>
              <a:rPr lang="en-US" sz="1250" dirty="0">
                <a:solidFill>
                  <a:schemeClr val="tx1"/>
                </a:solidFill>
              </a:rPr>
              <a:t>Single-deep racks back-to-back, 8 levels, 10 aisles; one reach-truck type (ETV 216i) for putaway and refills.</a:t>
            </a:r>
            <a:endParaRPr lang="en-US" sz="1250" dirty="0"/>
          </a:p>
        </p:txBody>
      </p:sp>
      <p:sp>
        <p:nvSpPr>
          <p:cNvPr id="14" name="Text 11"/>
          <p:cNvSpPr txBox="1"/>
          <p:nvPr/>
        </p:nvSpPr>
        <p:spPr>
          <a:xfrm>
            <a:off x="6172200" y="2816352"/>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2</a:t>
            </a:r>
            <a:endParaRPr lang="en-US" sz="1800" dirty="0"/>
          </a:p>
        </p:txBody>
      </p:sp>
      <p:sp>
        <p:nvSpPr>
          <p:cNvPr id="15" name="Text 12"/>
          <p:cNvSpPr txBox="1"/>
          <p:nvPr/>
        </p:nvSpPr>
        <p:spPr>
          <a:xfrm>
            <a:off x="6556248" y="2852928"/>
            <a:ext cx="5086807" cy="658368"/>
          </a:xfrm>
          <a:prstGeom prst="rect">
            <a:avLst/>
          </a:prstGeom>
          <a:noFill/>
          <a:ln/>
        </p:spPr>
        <p:txBody>
          <a:bodyPr wrap="square" lIns="0" tIns="0" rIns="0" bIns="0" rtlCol="0" anchor="t"/>
          <a:lstStyle/>
          <a:p>
            <a:pPr indent="0" marL="0">
              <a:buNone/>
            </a:pPr>
            <a:r>
              <a:rPr lang="en-US" sz="1250" b="1" dirty="0">
                <a:solidFill>
                  <a:schemeClr val="tx2"/>
                </a:solidFill>
              </a:rPr>
              <a:t>A place by demand. </a:t>
            </a:r>
            <a:pPr indent="0" marL="0">
              <a:buNone/>
            </a:pPr>
            <a:r>
              <a:rPr lang="en-US" sz="1250" dirty="0">
                <a:solidFill>
                  <a:schemeClr val="tx1"/>
                </a:solidFill>
              </a:rPr>
              <a:t>Fast movers' reserve close to the fast-pick area, slow movers further away; heavy pallets low; long goods in their own module.</a:t>
            </a:r>
            <a:endParaRPr lang="en-US" sz="1250" dirty="0"/>
          </a:p>
        </p:txBody>
      </p:sp>
      <p:sp>
        <p:nvSpPr>
          <p:cNvPr id="16" name="Text 13"/>
          <p:cNvSpPr txBox="1"/>
          <p:nvPr/>
        </p:nvSpPr>
        <p:spPr>
          <a:xfrm>
            <a:off x="6172200" y="3547872"/>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3</a:t>
            </a:r>
            <a:endParaRPr lang="en-US" sz="1800" dirty="0"/>
          </a:p>
        </p:txBody>
      </p:sp>
      <p:sp>
        <p:nvSpPr>
          <p:cNvPr id="17" name="Text 14"/>
          <p:cNvSpPr txBox="1"/>
          <p:nvPr/>
        </p:nvSpPr>
        <p:spPr>
          <a:xfrm>
            <a:off x="6556248" y="3584448"/>
            <a:ext cx="5086807" cy="658368"/>
          </a:xfrm>
          <a:prstGeom prst="rect">
            <a:avLst/>
          </a:prstGeom>
          <a:noFill/>
          <a:ln/>
        </p:spPr>
        <p:txBody>
          <a:bodyPr wrap="square" lIns="0" tIns="0" rIns="0" bIns="0" rtlCol="0" anchor="t"/>
          <a:lstStyle/>
          <a:p>
            <a:pPr indent="0" marL="0">
              <a:buNone/>
            </a:pPr>
            <a:r>
              <a:rPr lang="en-US" sz="1250" b="1" dirty="0">
                <a:solidFill>
                  <a:schemeClr val="tx2"/>
                </a:solidFill>
              </a:rPr>
              <a:t>Refilled from behind. </a:t>
            </a:r>
            <a:pPr indent="0" marL="0">
              <a:buNone/>
            </a:pPr>
            <a:r>
              <a:rPr lang="en-US" sz="1250" dirty="0">
                <a:solidFill>
                  <a:schemeClr val="tx1"/>
                </a:solidFill>
              </a:rPr>
              <a:t>31 carton-flow bays (930 lanes): the reach truck refills from the back, pickers take from the front.</a:t>
            </a:r>
            <a:endParaRPr lang="en-US" sz="1250" dirty="0"/>
          </a:p>
        </p:txBody>
      </p:sp>
      <p:pic>
        <p:nvPicPr>
          <p:cNvPr id="18" name="Image 0" descr="Cross-section of the fast-pick area: refill side, carton flow, pick aisle">    </p:cNvPr>
          <p:cNvPicPr>
            <a:picLocks noChangeAspect="1"/>
          </p:cNvPicPr>
          <p:nvPr/>
        </p:nvPicPr>
        <p:blipFill>
          <a:blip r:embed="rId2"/>
          <a:stretch>
            <a:fillRect/>
          </a:stretch>
        </p:blipFill>
        <p:spPr>
          <a:xfrm>
            <a:off x="6263640" y="4406713"/>
            <a:ext cx="5287975" cy="1792919"/>
          </a:xfrm>
          <a:prstGeom prst="rect">
            <a:avLst/>
          </a:prstGeom>
        </p:spPr>
      </p:pic>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WHY CHANGE</a:t>
            </a:r>
            <a:pPr indent="0" marL="0">
              <a:buNone/>
            </a:pPr>
            <a:r>
              <a:rPr lang="en-US" sz="900" spc="100" kern="0" dirty="0">
                <a:solidFill>
                  <a:schemeClr val="accent3"/>
                </a:solidFill>
              </a:rPr>
              <a:t>   ·   </a:t>
            </a:r>
            <a:pPr indent="0" marL="0">
              <a:buNone/>
            </a:pPr>
            <a:r>
              <a:rPr lang="en-US" sz="900" spc="100" kern="0" dirty="0">
                <a:solidFill>
                  <a:schemeClr val="accent3"/>
                </a:solidFill>
              </a:rPr>
              <a:t>OUR DESIGN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PERFORMANCE</a:t>
            </a:r>
            <a:pPr indent="0" marL="0">
              <a:buNone/>
            </a:pPr>
            <a:r>
              <a:rPr lang="en-US" sz="900" spc="100" kern="0" dirty="0">
                <a:solidFill>
                  <a:schemeClr val="accent3"/>
                </a:solidFill>
              </a:rPr>
              <a:t>   ·   </a:t>
            </a:r>
            <a:pPr indent="0" marL="0">
              <a:buNone/>
            </a:pPr>
            <a:r>
              <a:rPr lang="en-US" sz="900" spc="100" kern="0" dirty="0">
                <a:solidFill>
                  <a:schemeClr val="accent3"/>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Batch picking from a fast-pick area cuts picking from ~31 to ~12 picker-hours a day</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model on WMS order lines April–June 2025 (Assa Abloy &amp; DHL Supply Chain, 2025) (Deliverable 3 §2.2); today = one order per tour, staffed for the 08:00 peak; batching (de Koster et al., 2007)</a:t>
            </a:r>
            <a:endParaRPr lang="en-US" sz="900" dirty="0"/>
          </a:p>
        </p:txBody>
      </p:sp>
      <p:sp>
        <p:nvSpPr>
          <p:cNvPr id="5" name="Owner marker"/>
          <p:cNvSpPr/>
          <p:nvPr/>
        </p:nvSpPr>
        <p:spPr>
          <a:xfrm>
            <a:off x="9098280" y="338328"/>
            <a:ext cx="118872" cy="118872"/>
          </a:xfrm>
          <a:prstGeom prst="rect">
            <a:avLst/>
          </a:prstGeom>
          <a:solidFill>
            <a:srgbClr val="15803D"/>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Arnau</a:t>
            </a:r>
            <a:pPr indent="0" marL="0">
              <a:buNone/>
            </a:pPr>
            <a:r>
              <a:rPr lang="en-US" sz="1000" dirty="0">
                <a:solidFill>
                  <a:schemeClr val="accent2"/>
                </a:solidFill>
              </a:rPr>
              <a:t> · Picking owner</a:t>
            </a:r>
            <a:endParaRPr lang="en-US" sz="1000" dirty="0"/>
          </a:p>
        </p:txBody>
      </p:sp>
      <p:sp>
        <p:nvSpPr>
          <p:cNvPr id="7" name="Text 5"/>
          <p:cNvSpPr txBox="1"/>
          <p:nvPr/>
        </p:nvSpPr>
        <p:spPr>
          <a:xfrm>
            <a:off x="548640" y="1737360"/>
            <a:ext cx="4937760" cy="274320"/>
          </a:xfrm>
          <a:prstGeom prst="rect">
            <a:avLst/>
          </a:prstGeom>
          <a:noFill/>
          <a:ln/>
        </p:spPr>
        <p:txBody>
          <a:bodyPr wrap="square" lIns="0" tIns="0" rIns="0" bIns="0" rtlCol="0" anchor="t"/>
          <a:lstStyle/>
          <a:p>
            <a:pPr indent="0" marL="0">
              <a:buNone/>
            </a:pPr>
            <a:r>
              <a:rPr lang="en-US" sz="1300" b="1" dirty="0">
                <a:solidFill>
                  <a:schemeClr val="tx2"/>
                </a:solidFill>
              </a:rPr>
              <a:t>Picker-hours on an average day</a:t>
            </a:r>
            <a:endParaRPr lang="en-US" sz="1300" dirty="0"/>
          </a:p>
        </p:txBody>
      </p:sp>
      <p:sp>
        <p:nvSpPr>
          <p:cNvPr id="8" name="Text 6"/>
          <p:cNvSpPr txBox="1"/>
          <p:nvPr/>
        </p:nvSpPr>
        <p:spPr>
          <a:xfrm>
            <a:off x="548640" y="2002536"/>
            <a:ext cx="4937760" cy="237744"/>
          </a:xfrm>
          <a:prstGeom prst="rect">
            <a:avLst/>
          </a:prstGeom>
          <a:noFill/>
          <a:ln/>
        </p:spPr>
        <p:txBody>
          <a:bodyPr wrap="square" lIns="0" tIns="0" rIns="0" bIns="0" rtlCol="0" anchor="t"/>
          <a:lstStyle/>
          <a:p>
            <a:pPr indent="0" marL="0">
              <a:buNone/>
            </a:pPr>
            <a:r>
              <a:rPr lang="en-US" sz="1100" dirty="0">
                <a:solidFill>
                  <a:schemeClr val="accent2"/>
                </a:solidFill>
              </a:rPr>
              <a:t>modelled on the same order lines</a:t>
            </a:r>
            <a:endParaRPr lang="en-US" sz="1100" dirty="0"/>
          </a:p>
        </p:txBody>
      </p:sp>
      <p:graphicFrame>
        <p:nvGraphicFramePr>
          <p:cNvPr id="9" name="Chart 0" descr=""/>
          <p:cNvGraphicFramePr/>
          <p:nvPr/>
        </p:nvGraphicFramePr>
        <p:xfrm>
          <a:off x="411480" y="2286000"/>
          <a:ext cx="4937760" cy="38862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806440" y="1737360"/>
            <a:ext cx="5836615" cy="274320"/>
          </a:xfrm>
          <a:prstGeom prst="rect">
            <a:avLst/>
          </a:prstGeom>
          <a:noFill/>
          <a:ln/>
        </p:spPr>
        <p:txBody>
          <a:bodyPr wrap="square" lIns="0" tIns="0" rIns="0" bIns="0" rtlCol="0" anchor="t"/>
          <a:lstStyle/>
          <a:p>
            <a:pPr indent="0" marL="0">
              <a:buNone/>
            </a:pPr>
            <a:r>
              <a:rPr lang="en-US" sz="1300" b="1" dirty="0">
                <a:solidFill>
                  <a:schemeClr val="tx2"/>
                </a:solidFill>
              </a:rPr>
              <a:t>How it works</a:t>
            </a:r>
            <a:endParaRPr lang="en-US" sz="1300" dirty="0"/>
          </a:p>
        </p:txBody>
      </p:sp>
      <p:sp>
        <p:nvSpPr>
          <p:cNvPr id="11" name="Text 8"/>
          <p:cNvSpPr txBox="1"/>
          <p:nvPr/>
        </p:nvSpPr>
        <p:spPr>
          <a:xfrm>
            <a:off x="5806440" y="2084832"/>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1</a:t>
            </a:r>
            <a:endParaRPr lang="en-US" sz="1800" dirty="0"/>
          </a:p>
        </p:txBody>
      </p:sp>
      <p:sp>
        <p:nvSpPr>
          <p:cNvPr id="12" name="Text 9"/>
          <p:cNvSpPr txBox="1"/>
          <p:nvPr/>
        </p:nvSpPr>
        <p:spPr>
          <a:xfrm>
            <a:off x="6190488" y="2121408"/>
            <a:ext cx="5452567" cy="914400"/>
          </a:xfrm>
          <a:prstGeom prst="rect">
            <a:avLst/>
          </a:prstGeom>
          <a:noFill/>
          <a:ln/>
        </p:spPr>
        <p:txBody>
          <a:bodyPr wrap="square" lIns="0" tIns="0" rIns="0" bIns="0" rtlCol="0" anchor="t"/>
          <a:lstStyle/>
          <a:p>
            <a:pPr indent="0" marL="0">
              <a:buNone/>
            </a:pPr>
            <a:r>
              <a:rPr lang="en-US" sz="1250" b="1" dirty="0">
                <a:solidFill>
                  <a:schemeClr val="tx2"/>
                </a:solidFill>
              </a:rPr>
              <a:t>Split orders by size. </a:t>
            </a:r>
            <a:pPr indent="0" marL="0">
              <a:buNone/>
            </a:pPr>
            <a:r>
              <a:rPr lang="en-US" sz="1250" dirty="0">
                <a:solidFill>
                  <a:schemeClr val="tx1"/>
                </a:solidFill>
              </a:rPr>
              <a:t>84% of orders are small (median 7 litres) and go on a trolley with 6 totes. The other 16% carry 88% of the volume and are picked straight onto a pallet.</a:t>
            </a:r>
            <a:endParaRPr lang="en-US" sz="1250" dirty="0"/>
          </a:p>
        </p:txBody>
      </p:sp>
      <p:sp>
        <p:nvSpPr>
          <p:cNvPr id="13" name="Text 10"/>
          <p:cNvSpPr txBox="1"/>
          <p:nvPr/>
        </p:nvSpPr>
        <p:spPr>
          <a:xfrm>
            <a:off x="5806440" y="3072384"/>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2</a:t>
            </a:r>
            <a:endParaRPr lang="en-US" sz="1800" dirty="0"/>
          </a:p>
        </p:txBody>
      </p:sp>
      <p:sp>
        <p:nvSpPr>
          <p:cNvPr id="14" name="Text 11"/>
          <p:cNvSpPr txBox="1"/>
          <p:nvPr/>
        </p:nvSpPr>
        <p:spPr>
          <a:xfrm>
            <a:off x="6190488" y="3108960"/>
            <a:ext cx="5452567" cy="914400"/>
          </a:xfrm>
          <a:prstGeom prst="rect">
            <a:avLst/>
          </a:prstGeom>
          <a:noFill/>
          <a:ln/>
        </p:spPr>
        <p:txBody>
          <a:bodyPr wrap="square" lIns="0" tIns="0" rIns="0" bIns="0" rtlCol="0" anchor="t"/>
          <a:lstStyle/>
          <a:p>
            <a:pPr indent="0" marL="0">
              <a:buNone/>
            </a:pPr>
            <a:r>
              <a:rPr lang="en-US" sz="1250" b="1" dirty="0">
                <a:solidFill>
                  <a:schemeClr val="tx2"/>
                </a:solidFill>
              </a:rPr>
              <a:t>Pick best-sellers close by. </a:t>
            </a:r>
            <a:pPr indent="0" marL="0">
              <a:buNone/>
            </a:pPr>
            <a:r>
              <a:rPr lang="en-US" sz="1250" dirty="0">
                <a:solidFill>
                  <a:schemeClr val="tx1"/>
                </a:solidFill>
              </a:rPr>
              <a:t>The 1,409 best-sellers sit in carton flow, shelves and pallet faces: 71% of lines are picked there, with ~14 m of walking per line.</a:t>
            </a:r>
            <a:endParaRPr lang="en-US" sz="1250" dirty="0"/>
          </a:p>
        </p:txBody>
      </p:sp>
      <p:sp>
        <p:nvSpPr>
          <p:cNvPr id="15" name="Text 12"/>
          <p:cNvSpPr txBox="1"/>
          <p:nvPr/>
        </p:nvSpPr>
        <p:spPr>
          <a:xfrm>
            <a:off x="5806440" y="4059936"/>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3</a:t>
            </a:r>
            <a:endParaRPr lang="en-US" sz="1800" dirty="0"/>
          </a:p>
        </p:txBody>
      </p:sp>
      <p:sp>
        <p:nvSpPr>
          <p:cNvPr id="16" name="Text 13"/>
          <p:cNvSpPr txBox="1"/>
          <p:nvPr/>
        </p:nvSpPr>
        <p:spPr>
          <a:xfrm>
            <a:off x="6190488" y="4096512"/>
            <a:ext cx="5452567" cy="914400"/>
          </a:xfrm>
          <a:prstGeom prst="rect">
            <a:avLst/>
          </a:prstGeom>
          <a:noFill/>
          <a:ln/>
        </p:spPr>
        <p:txBody>
          <a:bodyPr wrap="square" lIns="0" tIns="0" rIns="0" bIns="0" rtlCol="0" anchor="t"/>
          <a:lstStyle/>
          <a:p>
            <a:pPr indent="0" marL="0">
              <a:buNone/>
            </a:pPr>
            <a:r>
              <a:rPr lang="en-US" sz="1250" b="1" dirty="0">
                <a:solidFill>
                  <a:schemeClr val="tx2"/>
                </a:solidFill>
              </a:rPr>
              <a:t>Batch, then sort. </a:t>
            </a:r>
            <a:pPr indent="0" marL="0">
              <a:buNone/>
            </a:pPr>
            <a:r>
              <a:rPr lang="en-US" sz="1250" dirty="0">
                <a:solidFill>
                  <a:schemeClr val="tx1"/>
                </a:solidFill>
              </a:rPr>
              <a:t>One trolley tour picks ~31 lines for many orders; the put-to-light wall (120 slots) sorts them into orders and checks every item.</a:t>
            </a:r>
            <a:endParaRPr lang="en-US" sz="1250" dirty="0"/>
          </a:p>
        </p:txBody>
      </p:sp>
      <p:sp>
        <p:nvSpPr>
          <p:cNvPr id="17" name="Text 14"/>
          <p:cNvSpPr txBox="1"/>
          <p:nvPr/>
        </p:nvSpPr>
        <p:spPr>
          <a:xfrm>
            <a:off x="5806440" y="5047488"/>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4</a:t>
            </a:r>
            <a:endParaRPr lang="en-US" sz="1800" dirty="0"/>
          </a:p>
        </p:txBody>
      </p:sp>
      <p:sp>
        <p:nvSpPr>
          <p:cNvPr id="18" name="Text 15"/>
          <p:cNvSpPr txBox="1"/>
          <p:nvPr/>
        </p:nvSpPr>
        <p:spPr>
          <a:xfrm>
            <a:off x="6190488" y="5084064"/>
            <a:ext cx="5452567" cy="914400"/>
          </a:xfrm>
          <a:prstGeom prst="rect">
            <a:avLst/>
          </a:prstGeom>
          <a:noFill/>
          <a:ln/>
        </p:spPr>
        <p:txBody>
          <a:bodyPr wrap="square" lIns="0" tIns="0" rIns="0" bIns="0" rtlCol="0" anchor="t"/>
          <a:lstStyle/>
          <a:p>
            <a:pPr indent="0" marL="0">
              <a:buNone/>
            </a:pPr>
            <a:r>
              <a:rPr lang="en-US" sz="1250" b="1" dirty="0">
                <a:solidFill>
                  <a:schemeClr val="tx2"/>
                </a:solidFill>
              </a:rPr>
              <a:t>Release in three waves. </a:t>
            </a:r>
            <a:pPr indent="0" marL="0">
              <a:buNone/>
            </a:pPr>
            <a:r>
              <a:rPr lang="en-US" sz="1250" dirty="0">
                <a:solidFill>
                  <a:schemeClr val="tx1"/>
                </a:solidFill>
              </a:rPr>
              <a:t>Instead of one evening release, so there is no 08:00 rush and the first wave starts at 06:00.</a:t>
            </a:r>
            <a:endParaRPr lang="en-US" sz="125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WHY CHANGE</a:t>
            </a:r>
            <a:pPr indent="0" marL="0">
              <a:buNone/>
            </a:pPr>
            <a:r>
              <a:rPr lang="en-US" sz="900" spc="100" kern="0" dirty="0">
                <a:solidFill>
                  <a:schemeClr val="accent3"/>
                </a:solidFill>
              </a:rPr>
              <a:t>   ·   </a:t>
            </a:r>
            <a:pPr indent="0" marL="0">
              <a:buNone/>
            </a:pPr>
            <a:r>
              <a:rPr lang="en-US" sz="900" spc="100" kern="0" dirty="0">
                <a:solidFill>
                  <a:schemeClr val="accent3"/>
                </a:solidFill>
              </a:rPr>
              <a:t>OUR DESIGN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PERFORMANCE</a:t>
            </a:r>
            <a:pPr indent="0" marL="0">
              <a:buNone/>
            </a:pPr>
            <a:r>
              <a:rPr lang="en-US" sz="900" spc="100" kern="0" dirty="0">
                <a:solidFill>
                  <a:schemeClr val="accent3"/>
                </a:solidFill>
              </a:rPr>
              <a:t>   ·   </a:t>
            </a:r>
            <a:pPr indent="0" marL="0">
              <a:buNone/>
            </a:pPr>
            <a:r>
              <a:rPr lang="en-US" sz="900" spc="100" kern="0" dirty="0">
                <a:solidFill>
                  <a:schemeClr val="accent3"/>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A fixed trailer departure plan gets 65% of orders out within 24 hours and every wave staged before its trailer leaves</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shipments April–June 2025 (Assa Abloy &amp; DHL Supply Chain, 2025); departure plan and lead times modelled (Deliverable 2 §4.5, Deliverable 3 §2.1)</a:t>
            </a:r>
            <a:endParaRPr lang="en-US" sz="900" dirty="0"/>
          </a:p>
        </p:txBody>
      </p:sp>
      <p:sp>
        <p:nvSpPr>
          <p:cNvPr id="5" name="Owner marker"/>
          <p:cNvSpPr/>
          <p:nvPr/>
        </p:nvSpPr>
        <p:spPr>
          <a:xfrm>
            <a:off x="9098280" y="338328"/>
            <a:ext cx="118872" cy="118872"/>
          </a:xfrm>
          <a:prstGeom prst="rect">
            <a:avLst/>
          </a:prstGeom>
          <a:solidFill>
            <a:srgbClr val="7C3AED"/>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Rachel</a:t>
            </a:r>
            <a:pPr indent="0" marL="0">
              <a:buNone/>
            </a:pPr>
            <a:r>
              <a:rPr lang="en-US" sz="1000" dirty="0">
                <a:solidFill>
                  <a:schemeClr val="accent2"/>
                </a:solidFill>
              </a:rPr>
              <a:t> · Shipping owner</a:t>
            </a:r>
            <a:endParaRPr lang="en-US" sz="1000" dirty="0"/>
          </a:p>
        </p:txBody>
      </p:sp>
      <p:sp>
        <p:nvSpPr>
          <p:cNvPr id="7" name="Text 5"/>
          <p:cNvSpPr txBox="1"/>
          <p:nvPr/>
        </p:nvSpPr>
        <p:spPr>
          <a:xfrm>
            <a:off x="548640" y="1737360"/>
            <a:ext cx="5212080" cy="274320"/>
          </a:xfrm>
          <a:prstGeom prst="rect">
            <a:avLst/>
          </a:prstGeom>
          <a:noFill/>
          <a:ln/>
        </p:spPr>
        <p:txBody>
          <a:bodyPr wrap="square" lIns="0" tIns="0" rIns="0" bIns="0" rtlCol="0" anchor="t"/>
          <a:lstStyle/>
          <a:p>
            <a:pPr indent="0" marL="0">
              <a:buNone/>
            </a:pPr>
            <a:r>
              <a:rPr lang="en-US" sz="1300" b="1" dirty="0">
                <a:solidFill>
                  <a:schemeClr val="tx2"/>
                </a:solidFill>
              </a:rPr>
              <a:t>Service today vs our design, %</a:t>
            </a:r>
            <a:endParaRPr lang="en-US" sz="1300" dirty="0"/>
          </a:p>
        </p:txBody>
      </p:sp>
      <p:graphicFrame>
        <p:nvGraphicFramePr>
          <p:cNvPr id="8" name="Chart 0" descr=""/>
          <p:cNvGraphicFramePr/>
          <p:nvPr/>
        </p:nvGraphicFramePr>
        <p:xfrm>
          <a:off x="411480" y="2011680"/>
          <a:ext cx="5349240" cy="2514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4663440"/>
            <a:ext cx="5303520" cy="256032"/>
          </a:xfrm>
          <a:prstGeom prst="rect">
            <a:avLst/>
          </a:prstGeom>
          <a:noFill/>
          <a:ln/>
        </p:spPr>
        <p:txBody>
          <a:bodyPr wrap="square" lIns="0" tIns="0" rIns="0" bIns="0" rtlCol="0" anchor="t"/>
          <a:lstStyle/>
          <a:p>
            <a:pPr indent="0" marL="0">
              <a:buNone/>
            </a:pPr>
            <a:r>
              <a:rPr lang="en-US" sz="1200" b="1" dirty="0">
                <a:solidFill>
                  <a:schemeClr val="tx2"/>
                </a:solidFill>
              </a:rPr>
              <a:t>The day plan: three waves feed 14 trailer departures</a:t>
            </a:r>
            <a:endParaRPr lang="en-US" sz="1200" dirty="0"/>
          </a:p>
        </p:txBody>
      </p:sp>
      <p:sp>
        <p:nvSpPr>
          <p:cNvPr id="10" name="Text 7"/>
          <p:cNvSpPr txBox="1"/>
          <p:nvPr/>
        </p:nvSpPr>
        <p:spPr>
          <a:xfrm>
            <a:off x="548640" y="5029200"/>
            <a:ext cx="777240" cy="274320"/>
          </a:xfrm>
          <a:prstGeom prst="rect">
            <a:avLst/>
          </a:prstGeom>
          <a:noFill/>
          <a:ln/>
        </p:spPr>
        <p:txBody>
          <a:bodyPr wrap="square" lIns="0" tIns="0" rIns="0" bIns="0" rtlCol="0" anchor="ctr"/>
          <a:lstStyle/>
          <a:p>
            <a:pPr indent="0" marL="0">
              <a:buNone/>
            </a:pPr>
            <a:r>
              <a:rPr lang="en-US" sz="1000" dirty="0">
                <a:solidFill>
                  <a:schemeClr val="accent2"/>
                </a:solidFill>
              </a:rPr>
              <a:t>Waves</a:t>
            </a:r>
            <a:endParaRPr lang="en-US" sz="1000" dirty="0"/>
          </a:p>
        </p:txBody>
      </p:sp>
      <p:sp>
        <p:nvSpPr>
          <p:cNvPr id="11" name="Text 8"/>
          <p:cNvSpPr txBox="1"/>
          <p:nvPr/>
        </p:nvSpPr>
        <p:spPr>
          <a:xfrm>
            <a:off x="548640" y="5440680"/>
            <a:ext cx="777240" cy="274320"/>
          </a:xfrm>
          <a:prstGeom prst="rect">
            <a:avLst/>
          </a:prstGeom>
          <a:noFill/>
          <a:ln/>
        </p:spPr>
        <p:txBody>
          <a:bodyPr wrap="square" lIns="0" tIns="0" rIns="0" bIns="0" rtlCol="0" anchor="ctr"/>
          <a:lstStyle/>
          <a:p>
            <a:pPr indent="0" marL="0">
              <a:buNone/>
            </a:pPr>
            <a:r>
              <a:rPr lang="en-US" sz="1000" dirty="0">
                <a:solidFill>
                  <a:schemeClr val="accent2"/>
                </a:solidFill>
              </a:rPr>
              <a:t>Trailers</a:t>
            </a:r>
            <a:endParaRPr lang="en-US" sz="1000" dirty="0"/>
          </a:p>
        </p:txBody>
      </p:sp>
      <p:sp>
        <p:nvSpPr>
          <p:cNvPr id="12" name="Text 9"/>
          <p:cNvSpPr/>
          <p:nvPr/>
        </p:nvSpPr>
        <p:spPr>
          <a:xfrm>
            <a:off x="1371600" y="5029200"/>
            <a:ext cx="1354559" cy="274320"/>
          </a:xfrm>
          <a:prstGeom prst="rect">
            <a:avLst/>
          </a:prstGeom>
          <a:solidFill>
            <a:schemeClr val="tx2"/>
          </a:solidFill>
          <a:ln/>
        </p:spPr>
        <p:txBody>
          <a:bodyPr wrap="square" lIns="0" tIns="0" rIns="0" bIns="0" rtlCol="0" anchor="ctr"/>
          <a:lstStyle/>
          <a:p>
            <a:pPr algn="ctr" indent="0" marL="0">
              <a:buNone/>
            </a:pPr>
            <a:r>
              <a:rPr lang="en-US" sz="1000" b="1" dirty="0">
                <a:solidFill>
                  <a:schemeClr val="bg1"/>
                </a:solidFill>
              </a:rPr>
              <a:t>W1</a:t>
            </a:r>
            <a:endParaRPr lang="en-US" sz="1000" dirty="0"/>
          </a:p>
        </p:txBody>
      </p:sp>
      <p:sp>
        <p:nvSpPr>
          <p:cNvPr id="13" name="Text 10"/>
          <p:cNvSpPr/>
          <p:nvPr/>
        </p:nvSpPr>
        <p:spPr>
          <a:xfrm>
            <a:off x="2753591" y="5029200"/>
            <a:ext cx="1255845" cy="274320"/>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W2</a:t>
            </a:r>
            <a:endParaRPr lang="en-US" sz="1000" dirty="0"/>
          </a:p>
        </p:txBody>
      </p:sp>
      <p:sp>
        <p:nvSpPr>
          <p:cNvPr id="14" name="Text 11"/>
          <p:cNvSpPr/>
          <p:nvPr/>
        </p:nvSpPr>
        <p:spPr>
          <a:xfrm>
            <a:off x="4036868" y="5029200"/>
            <a:ext cx="959704" cy="274320"/>
          </a:xfrm>
          <a:prstGeom prst="rect">
            <a:avLst/>
          </a:prstGeom>
          <a:solidFill>
            <a:schemeClr val="accent2"/>
          </a:solidFill>
          <a:ln/>
        </p:spPr>
        <p:txBody>
          <a:bodyPr wrap="square" lIns="0" tIns="0" rIns="0" bIns="0" rtlCol="0" anchor="ctr"/>
          <a:lstStyle/>
          <a:p>
            <a:pPr algn="ctr" indent="0" marL="0">
              <a:buNone/>
            </a:pPr>
            <a:r>
              <a:rPr lang="en-US" sz="1000" b="1" dirty="0">
                <a:solidFill>
                  <a:schemeClr val="bg1"/>
                </a:solidFill>
              </a:rPr>
              <a:t>W3</a:t>
            </a:r>
            <a:endParaRPr lang="en-US" sz="1000" dirty="0"/>
          </a:p>
        </p:txBody>
      </p:sp>
      <p:sp>
        <p:nvSpPr>
          <p:cNvPr id="15" name="Shape 12"/>
          <p:cNvSpPr/>
          <p:nvPr/>
        </p:nvSpPr>
        <p:spPr>
          <a:xfrm>
            <a:off x="3089009" y="5605272"/>
            <a:ext cx="118872" cy="118872"/>
          </a:xfrm>
          <a:prstGeom prst="triangle">
            <a:avLst/>
          </a:prstGeom>
          <a:solidFill>
            <a:schemeClr val="tx2"/>
          </a:solidFill>
          <a:ln/>
        </p:spPr>
      </p:sp>
      <p:sp>
        <p:nvSpPr>
          <p:cNvPr id="16" name="Shape 13"/>
          <p:cNvSpPr/>
          <p:nvPr/>
        </p:nvSpPr>
        <p:spPr>
          <a:xfrm>
            <a:off x="3286437" y="5605272"/>
            <a:ext cx="118872" cy="118872"/>
          </a:xfrm>
          <a:prstGeom prst="triangle">
            <a:avLst/>
          </a:prstGeom>
          <a:solidFill>
            <a:schemeClr val="tx2"/>
          </a:solidFill>
          <a:ln/>
        </p:spPr>
      </p:sp>
      <p:sp>
        <p:nvSpPr>
          <p:cNvPr id="17" name="Shape 14"/>
          <p:cNvSpPr/>
          <p:nvPr/>
        </p:nvSpPr>
        <p:spPr>
          <a:xfrm>
            <a:off x="4273573" y="5605272"/>
            <a:ext cx="118872" cy="118872"/>
          </a:xfrm>
          <a:prstGeom prst="triangle">
            <a:avLst/>
          </a:prstGeom>
          <a:solidFill>
            <a:schemeClr val="tx2"/>
          </a:solidFill>
          <a:ln/>
        </p:spPr>
      </p:sp>
      <p:sp>
        <p:nvSpPr>
          <p:cNvPr id="18" name="Shape 15"/>
          <p:cNvSpPr/>
          <p:nvPr/>
        </p:nvSpPr>
        <p:spPr>
          <a:xfrm>
            <a:off x="4471000" y="5605272"/>
            <a:ext cx="118872" cy="118872"/>
          </a:xfrm>
          <a:prstGeom prst="triangle">
            <a:avLst/>
          </a:prstGeom>
          <a:solidFill>
            <a:schemeClr val="tx2"/>
          </a:solidFill>
          <a:ln/>
        </p:spPr>
      </p:sp>
      <p:sp>
        <p:nvSpPr>
          <p:cNvPr id="19" name="Shape 16"/>
          <p:cNvSpPr/>
          <p:nvPr/>
        </p:nvSpPr>
        <p:spPr>
          <a:xfrm>
            <a:off x="4471000" y="5458968"/>
            <a:ext cx="118872" cy="118872"/>
          </a:xfrm>
          <a:prstGeom prst="triangle">
            <a:avLst/>
          </a:prstGeom>
          <a:solidFill>
            <a:schemeClr val="tx2"/>
          </a:solidFill>
          <a:ln/>
        </p:spPr>
      </p:sp>
      <p:sp>
        <p:nvSpPr>
          <p:cNvPr id="20" name="Shape 17"/>
          <p:cNvSpPr/>
          <p:nvPr/>
        </p:nvSpPr>
        <p:spPr>
          <a:xfrm>
            <a:off x="4668428" y="5605272"/>
            <a:ext cx="118872" cy="118872"/>
          </a:xfrm>
          <a:prstGeom prst="triangle">
            <a:avLst/>
          </a:prstGeom>
          <a:solidFill>
            <a:schemeClr val="tx2"/>
          </a:solidFill>
          <a:ln/>
        </p:spPr>
      </p:sp>
      <p:sp>
        <p:nvSpPr>
          <p:cNvPr id="21" name="Shape 18"/>
          <p:cNvSpPr/>
          <p:nvPr/>
        </p:nvSpPr>
        <p:spPr>
          <a:xfrm>
            <a:off x="4865855" y="5605272"/>
            <a:ext cx="118872" cy="118872"/>
          </a:xfrm>
          <a:prstGeom prst="triangle">
            <a:avLst/>
          </a:prstGeom>
          <a:solidFill>
            <a:schemeClr val="tx2"/>
          </a:solidFill>
          <a:ln/>
        </p:spPr>
      </p:sp>
      <p:sp>
        <p:nvSpPr>
          <p:cNvPr id="22" name="Shape 19"/>
          <p:cNvSpPr/>
          <p:nvPr/>
        </p:nvSpPr>
        <p:spPr>
          <a:xfrm>
            <a:off x="4865855" y="5458968"/>
            <a:ext cx="118872" cy="118872"/>
          </a:xfrm>
          <a:prstGeom prst="triangle">
            <a:avLst/>
          </a:prstGeom>
          <a:solidFill>
            <a:schemeClr val="tx2"/>
          </a:solidFill>
          <a:ln/>
        </p:spPr>
      </p:sp>
      <p:sp>
        <p:nvSpPr>
          <p:cNvPr id="23" name="Shape 20"/>
          <p:cNvSpPr/>
          <p:nvPr/>
        </p:nvSpPr>
        <p:spPr>
          <a:xfrm>
            <a:off x="5260709" y="5605272"/>
            <a:ext cx="118872" cy="118872"/>
          </a:xfrm>
          <a:prstGeom prst="triangle">
            <a:avLst/>
          </a:prstGeom>
          <a:solidFill>
            <a:schemeClr val="tx2"/>
          </a:solidFill>
          <a:ln/>
        </p:spPr>
      </p:sp>
      <p:sp>
        <p:nvSpPr>
          <p:cNvPr id="24" name="Shape 21"/>
          <p:cNvSpPr/>
          <p:nvPr/>
        </p:nvSpPr>
        <p:spPr>
          <a:xfrm>
            <a:off x="5359423" y="5605272"/>
            <a:ext cx="118872" cy="118872"/>
          </a:xfrm>
          <a:prstGeom prst="triangle">
            <a:avLst/>
          </a:prstGeom>
          <a:solidFill>
            <a:schemeClr val="tx2"/>
          </a:solidFill>
          <a:ln/>
        </p:spPr>
      </p:sp>
      <p:sp>
        <p:nvSpPr>
          <p:cNvPr id="25" name="Shape 22"/>
          <p:cNvSpPr/>
          <p:nvPr/>
        </p:nvSpPr>
        <p:spPr>
          <a:xfrm>
            <a:off x="5359423" y="5458968"/>
            <a:ext cx="118872" cy="118872"/>
          </a:xfrm>
          <a:prstGeom prst="triangle">
            <a:avLst/>
          </a:prstGeom>
          <a:solidFill>
            <a:schemeClr val="tx2"/>
          </a:solidFill>
          <a:ln/>
        </p:spPr>
      </p:sp>
      <p:sp>
        <p:nvSpPr>
          <p:cNvPr id="26" name="Shape 23"/>
          <p:cNvSpPr/>
          <p:nvPr/>
        </p:nvSpPr>
        <p:spPr>
          <a:xfrm>
            <a:off x="5458137" y="5605272"/>
            <a:ext cx="118872" cy="118872"/>
          </a:xfrm>
          <a:prstGeom prst="triangle">
            <a:avLst/>
          </a:prstGeom>
          <a:solidFill>
            <a:schemeClr val="tx2"/>
          </a:solidFill>
          <a:ln/>
        </p:spPr>
      </p:sp>
      <p:sp>
        <p:nvSpPr>
          <p:cNvPr id="27" name="Shape 24"/>
          <p:cNvSpPr/>
          <p:nvPr/>
        </p:nvSpPr>
        <p:spPr>
          <a:xfrm>
            <a:off x="5458137" y="5458968"/>
            <a:ext cx="118872" cy="118872"/>
          </a:xfrm>
          <a:prstGeom prst="triangle">
            <a:avLst/>
          </a:prstGeom>
          <a:solidFill>
            <a:schemeClr val="tx2"/>
          </a:solidFill>
          <a:ln/>
        </p:spPr>
      </p:sp>
      <p:sp>
        <p:nvSpPr>
          <p:cNvPr id="28" name="Shape 25"/>
          <p:cNvSpPr/>
          <p:nvPr/>
        </p:nvSpPr>
        <p:spPr>
          <a:xfrm>
            <a:off x="5556850" y="5605272"/>
            <a:ext cx="118872" cy="118872"/>
          </a:xfrm>
          <a:prstGeom prst="triangle">
            <a:avLst/>
          </a:prstGeom>
          <a:solidFill>
            <a:schemeClr val="tx2"/>
          </a:solidFill>
          <a:ln/>
        </p:spPr>
      </p:sp>
      <p:sp>
        <p:nvSpPr>
          <p:cNvPr id="29" name="Shape 26"/>
          <p:cNvSpPr/>
          <p:nvPr/>
        </p:nvSpPr>
        <p:spPr>
          <a:xfrm>
            <a:off x="1371600" y="5788152"/>
            <a:ext cx="4343400" cy="0"/>
          </a:xfrm>
          <a:prstGeom prst="line">
            <a:avLst/>
          </a:prstGeom>
          <a:noFill/>
          <a:ln w="9525">
            <a:solidFill>
              <a:schemeClr val="accent3"/>
            </a:solidFill>
            <a:prstDash val="solid"/>
          </a:ln>
        </p:spPr>
      </p:sp>
      <p:sp>
        <p:nvSpPr>
          <p:cNvPr id="30" name="Text 27"/>
          <p:cNvSpPr txBox="1"/>
          <p:nvPr/>
        </p:nvSpPr>
        <p:spPr>
          <a:xfrm>
            <a:off x="1097280"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06:00</a:t>
            </a:r>
            <a:endParaRPr lang="en-US" sz="900" dirty="0"/>
          </a:p>
        </p:txBody>
      </p:sp>
      <p:sp>
        <p:nvSpPr>
          <p:cNvPr id="31" name="Text 28"/>
          <p:cNvSpPr txBox="1"/>
          <p:nvPr/>
        </p:nvSpPr>
        <p:spPr>
          <a:xfrm>
            <a:off x="1886989"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08:00</a:t>
            </a:r>
            <a:endParaRPr lang="en-US" sz="900" dirty="0"/>
          </a:p>
        </p:txBody>
      </p:sp>
      <p:sp>
        <p:nvSpPr>
          <p:cNvPr id="32" name="Text 29"/>
          <p:cNvSpPr txBox="1"/>
          <p:nvPr/>
        </p:nvSpPr>
        <p:spPr>
          <a:xfrm>
            <a:off x="2676698"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10:00</a:t>
            </a:r>
            <a:endParaRPr lang="en-US" sz="900" dirty="0"/>
          </a:p>
        </p:txBody>
      </p:sp>
      <p:sp>
        <p:nvSpPr>
          <p:cNvPr id="33" name="Text 30"/>
          <p:cNvSpPr txBox="1"/>
          <p:nvPr/>
        </p:nvSpPr>
        <p:spPr>
          <a:xfrm>
            <a:off x="3466407"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12:00</a:t>
            </a:r>
            <a:endParaRPr lang="en-US" sz="900" dirty="0"/>
          </a:p>
        </p:txBody>
      </p:sp>
      <p:sp>
        <p:nvSpPr>
          <p:cNvPr id="34" name="Text 31"/>
          <p:cNvSpPr txBox="1"/>
          <p:nvPr/>
        </p:nvSpPr>
        <p:spPr>
          <a:xfrm>
            <a:off x="4256116"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14:00</a:t>
            </a:r>
            <a:endParaRPr lang="en-US" sz="900" dirty="0"/>
          </a:p>
        </p:txBody>
      </p:sp>
      <p:sp>
        <p:nvSpPr>
          <p:cNvPr id="35" name="Text 32"/>
          <p:cNvSpPr txBox="1"/>
          <p:nvPr/>
        </p:nvSpPr>
        <p:spPr>
          <a:xfrm>
            <a:off x="5045825"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16:00</a:t>
            </a:r>
            <a:endParaRPr lang="en-US" sz="900" dirty="0"/>
          </a:p>
        </p:txBody>
      </p:sp>
      <p:sp>
        <p:nvSpPr>
          <p:cNvPr id="36" name="Text 33"/>
          <p:cNvSpPr txBox="1"/>
          <p:nvPr/>
        </p:nvSpPr>
        <p:spPr>
          <a:xfrm>
            <a:off x="6172200" y="1737360"/>
            <a:ext cx="2643988" cy="548640"/>
          </a:xfrm>
          <a:prstGeom prst="rect">
            <a:avLst/>
          </a:prstGeom>
          <a:noFill/>
          <a:ln/>
        </p:spPr>
        <p:txBody>
          <a:bodyPr wrap="square" lIns="0" tIns="0" rIns="0" bIns="0" rtlCol="0" anchor="t"/>
          <a:lstStyle/>
          <a:p>
            <a:pPr indent="0" marL="0">
              <a:buNone/>
            </a:pPr>
            <a:r>
              <a:rPr lang="en-US" sz="3000" dirty="0">
                <a:solidFill>
                  <a:schemeClr val="accent1"/>
                </a:solidFill>
                <a:latin typeface="Cambria" pitchFamily="34" charset="0"/>
                <a:ea typeface="Cambria" pitchFamily="34" charset="-122"/>
                <a:cs typeface="Cambria" pitchFamily="34" charset="-120"/>
              </a:rPr>
              <a:t>15 → 4</a:t>
            </a:r>
            <a:endParaRPr lang="en-US" sz="3000" dirty="0"/>
          </a:p>
        </p:txBody>
      </p:sp>
      <p:sp>
        <p:nvSpPr>
          <p:cNvPr id="37" name="Text 34"/>
          <p:cNvSpPr txBox="1"/>
          <p:nvPr/>
        </p:nvSpPr>
        <p:spPr>
          <a:xfrm>
            <a:off x="6172200" y="2304288"/>
            <a:ext cx="2598268" cy="685800"/>
          </a:xfrm>
          <a:prstGeom prst="rect">
            <a:avLst/>
          </a:prstGeom>
          <a:noFill/>
          <a:ln/>
        </p:spPr>
        <p:txBody>
          <a:bodyPr wrap="square" lIns="0" tIns="0" rIns="0" bIns="0" rtlCol="0" anchor="t"/>
          <a:lstStyle/>
          <a:p>
            <a:pPr indent="0" marL="0">
              <a:buNone/>
            </a:pPr>
            <a:r>
              <a:rPr lang="en-US" sz="1200" dirty="0">
                <a:solidFill>
                  <a:schemeClr val="tx1"/>
                </a:solidFill>
              </a:rPr>
              <a:t>trailers at the doors at once on a busy day: parked all day today; max 4 of 5 doors with time slots</a:t>
            </a:r>
            <a:endParaRPr lang="en-US" sz="1200" dirty="0"/>
          </a:p>
        </p:txBody>
      </p:sp>
      <p:sp>
        <p:nvSpPr>
          <p:cNvPr id="38" name="Text 35"/>
          <p:cNvSpPr txBox="1"/>
          <p:nvPr/>
        </p:nvSpPr>
        <p:spPr>
          <a:xfrm>
            <a:off x="8999068" y="1737360"/>
            <a:ext cx="2643988" cy="548640"/>
          </a:xfrm>
          <a:prstGeom prst="rect">
            <a:avLst/>
          </a:prstGeom>
          <a:noFill/>
          <a:ln/>
        </p:spPr>
        <p:txBody>
          <a:bodyPr wrap="square" lIns="0" tIns="0" rIns="0" bIns="0" rtlCol="0" anchor="t"/>
          <a:lstStyle/>
          <a:p>
            <a:pPr indent="0" marL="0">
              <a:buNone/>
            </a:pPr>
            <a:r>
              <a:rPr lang="en-US" sz="3000" dirty="0">
                <a:solidFill>
                  <a:schemeClr val="accent1"/>
                </a:solidFill>
                <a:latin typeface="Cambria" pitchFamily="34" charset="0"/>
                <a:ea typeface="Cambria" pitchFamily="34" charset="-122"/>
                <a:cs typeface="Cambria" pitchFamily="34" charset="-120"/>
              </a:rPr>
              <a:t>102 → 70 h</a:t>
            </a:r>
            <a:endParaRPr lang="en-US" sz="3000" dirty="0"/>
          </a:p>
        </p:txBody>
      </p:sp>
      <p:sp>
        <p:nvSpPr>
          <p:cNvPr id="39" name="Text 36"/>
          <p:cNvSpPr txBox="1"/>
          <p:nvPr/>
        </p:nvSpPr>
        <p:spPr>
          <a:xfrm>
            <a:off x="8999068" y="2304288"/>
            <a:ext cx="2598268" cy="685800"/>
          </a:xfrm>
          <a:prstGeom prst="rect">
            <a:avLst/>
          </a:prstGeom>
          <a:noFill/>
          <a:ln/>
        </p:spPr>
        <p:txBody>
          <a:bodyPr wrap="square" lIns="0" tIns="0" rIns="0" bIns="0" rtlCol="0" anchor="t"/>
          <a:lstStyle/>
          <a:p>
            <a:pPr indent="0" marL="0">
              <a:buNone/>
            </a:pPr>
            <a:r>
              <a:rPr lang="en-US" sz="1200" dirty="0">
                <a:solidFill>
                  <a:schemeClr val="tx1"/>
                </a:solidFill>
              </a:rPr>
              <a:t>order to trailer for the slowest 10% of orders</a:t>
            </a:r>
            <a:endParaRPr lang="en-US" sz="1200" dirty="0"/>
          </a:p>
        </p:txBody>
      </p:sp>
      <p:sp>
        <p:nvSpPr>
          <p:cNvPr id="40" name="Shape 37"/>
          <p:cNvSpPr/>
          <p:nvPr/>
        </p:nvSpPr>
        <p:spPr>
          <a:xfrm>
            <a:off x="6172200" y="3154680"/>
            <a:ext cx="5470855" cy="0"/>
          </a:xfrm>
          <a:prstGeom prst="line">
            <a:avLst/>
          </a:prstGeom>
          <a:noFill/>
          <a:ln w="9525">
            <a:solidFill>
              <a:schemeClr val="accent4"/>
            </a:solidFill>
            <a:prstDash val="solid"/>
          </a:ln>
        </p:spPr>
      </p:sp>
      <p:sp>
        <p:nvSpPr>
          <p:cNvPr id="41" name="Text 38"/>
          <p:cNvSpPr txBox="1"/>
          <p:nvPr/>
        </p:nvSpPr>
        <p:spPr>
          <a:xfrm>
            <a:off x="6172200" y="3291840"/>
            <a:ext cx="5470855" cy="274320"/>
          </a:xfrm>
          <a:prstGeom prst="rect">
            <a:avLst/>
          </a:prstGeom>
          <a:noFill/>
          <a:ln/>
        </p:spPr>
        <p:txBody>
          <a:bodyPr wrap="square" lIns="0" tIns="0" rIns="0" bIns="0" rtlCol="0" anchor="t"/>
          <a:lstStyle/>
          <a:p>
            <a:pPr indent="0" marL="0">
              <a:buNone/>
            </a:pPr>
            <a:r>
              <a:rPr lang="en-US" sz="1300" b="1" dirty="0">
                <a:solidFill>
                  <a:schemeClr val="tx2"/>
                </a:solidFill>
              </a:rPr>
              <a:t>How it works</a:t>
            </a:r>
            <a:endParaRPr lang="en-US" sz="1300" dirty="0"/>
          </a:p>
        </p:txBody>
      </p:sp>
      <p:sp>
        <p:nvSpPr>
          <p:cNvPr id="42" name="Text 39"/>
          <p:cNvSpPr txBox="1"/>
          <p:nvPr/>
        </p:nvSpPr>
        <p:spPr>
          <a:xfrm>
            <a:off x="6172200" y="3639312"/>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1</a:t>
            </a:r>
            <a:endParaRPr lang="en-US" sz="1800" dirty="0"/>
          </a:p>
        </p:txBody>
      </p:sp>
      <p:sp>
        <p:nvSpPr>
          <p:cNvPr id="43" name="Text 40"/>
          <p:cNvSpPr txBox="1"/>
          <p:nvPr/>
        </p:nvSpPr>
        <p:spPr>
          <a:xfrm>
            <a:off x="6556248" y="3675888"/>
            <a:ext cx="5086807" cy="749808"/>
          </a:xfrm>
          <a:prstGeom prst="rect">
            <a:avLst/>
          </a:prstGeom>
          <a:noFill/>
          <a:ln/>
        </p:spPr>
        <p:txBody>
          <a:bodyPr wrap="square" lIns="0" tIns="0" rIns="0" bIns="0" rtlCol="0" anchor="t"/>
          <a:lstStyle/>
          <a:p>
            <a:pPr indent="0" marL="0">
              <a:buNone/>
            </a:pPr>
            <a:r>
              <a:rPr lang="en-US" sz="1250" b="1" dirty="0">
                <a:solidFill>
                  <a:schemeClr val="tx2"/>
                </a:solidFill>
              </a:rPr>
              <a:t>Fixed slots. </a:t>
            </a:r>
            <a:pPr indent="0" marL="0">
              <a:buNone/>
            </a:pPr>
            <a:r>
              <a:rPr lang="en-US" sz="1250" dirty="0">
                <a:solidFill>
                  <a:schemeClr val="tx1"/>
                </a:solidFill>
              </a:rPr>
              <a:t>14 trailer slots a day, each with a time and a door (S1–S5); every wave ends at least 45 minutes before its trailers leave.</a:t>
            </a:r>
            <a:endParaRPr lang="en-US" sz="1250" dirty="0"/>
          </a:p>
        </p:txBody>
      </p:sp>
      <p:sp>
        <p:nvSpPr>
          <p:cNvPr id="44" name="Text 41"/>
          <p:cNvSpPr txBox="1"/>
          <p:nvPr/>
        </p:nvSpPr>
        <p:spPr>
          <a:xfrm>
            <a:off x="6172200" y="4462272"/>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2</a:t>
            </a:r>
            <a:endParaRPr lang="en-US" sz="1800" dirty="0"/>
          </a:p>
        </p:txBody>
      </p:sp>
      <p:sp>
        <p:nvSpPr>
          <p:cNvPr id="45" name="Text 42"/>
          <p:cNvSpPr txBox="1"/>
          <p:nvPr/>
        </p:nvSpPr>
        <p:spPr>
          <a:xfrm>
            <a:off x="6556248" y="4498848"/>
            <a:ext cx="5086807" cy="749808"/>
          </a:xfrm>
          <a:prstGeom prst="rect">
            <a:avLst/>
          </a:prstGeom>
          <a:noFill/>
          <a:ln/>
        </p:spPr>
        <p:txBody>
          <a:bodyPr wrap="square" lIns="0" tIns="0" rIns="0" bIns="0" rtlCol="0" anchor="t"/>
          <a:lstStyle/>
          <a:p>
            <a:pPr indent="0" marL="0">
              <a:buNone/>
            </a:pPr>
            <a:r>
              <a:rPr lang="en-US" sz="1250" b="1" dirty="0">
                <a:solidFill>
                  <a:schemeClr val="tx2"/>
                </a:solidFill>
              </a:rPr>
              <a:t>Same-day lane. </a:t>
            </a:r>
            <a:pPr indent="0" marL="0">
              <a:buNone/>
            </a:pPr>
            <a:r>
              <a:rPr lang="en-US" sz="1250" dirty="0">
                <a:solidFill>
                  <a:schemeClr val="tx1"/>
                </a:solidFill>
              </a:rPr>
              <a:t>orders received before 12:00 (32%) go in wave 3 and leave the same day.</a:t>
            </a:r>
            <a:endParaRPr lang="en-US" sz="1250" dirty="0"/>
          </a:p>
        </p:txBody>
      </p:sp>
      <p:sp>
        <p:nvSpPr>
          <p:cNvPr id="46" name="Text 43"/>
          <p:cNvSpPr txBox="1"/>
          <p:nvPr/>
        </p:nvSpPr>
        <p:spPr>
          <a:xfrm>
            <a:off x="6172200" y="5285232"/>
            <a:ext cx="32004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3</a:t>
            </a:r>
            <a:endParaRPr lang="en-US" sz="1800" dirty="0"/>
          </a:p>
        </p:txBody>
      </p:sp>
      <p:sp>
        <p:nvSpPr>
          <p:cNvPr id="47" name="Text 44"/>
          <p:cNvSpPr txBox="1"/>
          <p:nvPr/>
        </p:nvSpPr>
        <p:spPr>
          <a:xfrm>
            <a:off x="6556248" y="5321808"/>
            <a:ext cx="5086807" cy="749808"/>
          </a:xfrm>
          <a:prstGeom prst="rect">
            <a:avLst/>
          </a:prstGeom>
          <a:noFill/>
          <a:ln/>
        </p:spPr>
        <p:txBody>
          <a:bodyPr wrap="square" lIns="0" tIns="0" rIns="0" bIns="0" rtlCol="0" anchor="t"/>
          <a:lstStyle/>
          <a:p>
            <a:pPr indent="0" marL="0">
              <a:buNone/>
            </a:pPr>
            <a:r>
              <a:rPr lang="en-US" sz="1250" b="1" dirty="0">
                <a:solidFill>
                  <a:schemeClr val="tx2"/>
                </a:solidFill>
              </a:rPr>
              <a:t>Pack and stage by departure. </a:t>
            </a:r>
            <a:pPr indent="0" marL="0">
              <a:buNone/>
            </a:pPr>
            <a:r>
              <a:rPr lang="en-US" sz="1250" dirty="0">
                <a:solidFill>
                  <a:schemeClr val="tx1"/>
                </a:solidFill>
              </a:rPr>
              <a:t>4 pack stations at the put-to-light wall; one staging lane per door, 46% full on the busiest afternoon.</a:t>
            </a:r>
            <a:endParaRPr lang="en-US" sz="125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WHY CHANGE</a:t>
            </a:r>
            <a:pPr indent="0" marL="0">
              <a:buNone/>
            </a:pPr>
            <a:r>
              <a:rPr lang="en-US" sz="900" spc="100" kern="0" dirty="0">
                <a:solidFill>
                  <a:schemeClr val="accent3"/>
                </a:solidFill>
              </a:rPr>
              <a:t>   ·   </a:t>
            </a:r>
            <a:pPr indent="0" marL="0">
              <a:buNone/>
            </a:pPr>
            <a:r>
              <a:rPr lang="en-US" sz="900" spc="100" kern="0" dirty="0">
                <a:solidFill>
                  <a:schemeClr val="accent3"/>
                </a:solidFill>
              </a:rPr>
              <a:t>OUR DESIGN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b="1" spc="100" kern="0" dirty="0">
                <a:solidFill>
                  <a:schemeClr val="accent1"/>
                </a:solidFill>
              </a:rPr>
              <a:t>PERFORMANCE</a:t>
            </a:r>
            <a:pPr indent="0" marL="0">
              <a:buNone/>
            </a:pPr>
            <a:r>
              <a:rPr lang="en-US" sz="900" spc="100" kern="0" dirty="0">
                <a:solidFill>
                  <a:schemeClr val="accent3"/>
                </a:solidFill>
              </a:rPr>
              <a:t>   ·   </a:t>
            </a:r>
            <a:pPr indent="0" marL="0">
              <a:buNone/>
            </a:pPr>
            <a:r>
              <a:rPr lang="en-US" sz="900" spc="100" kern="0" dirty="0">
                <a:solidFill>
                  <a:schemeClr val="accent3"/>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Nine KPIs, each with an owner, track the five performance objectives — all but storage headroom meet their target</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KPI overview (Deliverable 3 §2); today = WMS data April–June 2025 (Assa Abloy &amp; DHL Supply Chain, 2025); benchmarks (Extensiv, n.d.); design values modelled</a:t>
            </a:r>
            <a:endParaRPr lang="en-US" sz="900" dirty="0"/>
          </a:p>
        </p:txBody>
      </p:sp>
      <p:sp>
        <p:nvSpPr>
          <p:cNvPr id="5" name="Owner marker"/>
          <p:cNvSpPr/>
          <p:nvPr/>
        </p:nvSpPr>
        <p:spPr>
          <a:xfrm>
            <a:off x="9098280" y="338328"/>
            <a:ext cx="118872" cy="118872"/>
          </a:xfrm>
          <a:prstGeom prst="rect">
            <a:avLst/>
          </a:prstGeom>
          <a:solidFill>
            <a:srgbClr val="7C3AED"/>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Rachel</a:t>
            </a:r>
            <a:pPr indent="0" marL="0">
              <a:buNone/>
            </a:pPr>
            <a:r>
              <a:rPr lang="en-US" sz="1000" dirty="0">
                <a:solidFill>
                  <a:schemeClr val="accent2"/>
                </a:solidFill>
              </a:rPr>
              <a:t> · presenter</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508760"/>
                <a:gridCol w="3520440"/>
                <a:gridCol w="1874520"/>
                <a:gridCol w="1371600"/>
                <a:gridCol w="1143000"/>
                <a:gridCol w="804672"/>
                <a:gridCol w="868680"/>
              </a:tblGrid>
              <a:tr h="329184">
                <a:tc>
                  <a:txBody>
                    <a:bodyPr/>
                    <a:lstStyle/>
                    <a:p>
                      <a:pPr algn="l" indent="0" marL="0">
                        <a:buNone/>
                      </a:pPr>
                      <a:r>
                        <a:rPr lang="en-US" sz="1100" b="1" dirty="0">
                          <a:solidFill>
                            <a:schemeClr val="accent2"/>
                          </a:solidFill>
                        </a:rPr>
                        <a:t>Objective</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l" indent="0" marL="0">
                        <a:buNone/>
                      </a:pPr>
                      <a:r>
                        <a:rPr lang="en-US" sz="1100" b="1" dirty="0">
                          <a:solidFill>
                            <a:schemeClr val="accent2"/>
                          </a:solidFill>
                        </a:rPr>
                        <a:t>KPI</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l" indent="0" marL="0">
                        <a:buNone/>
                      </a:pPr>
                      <a:r>
                        <a:rPr lang="en-US" sz="1100" b="1" dirty="0">
                          <a:solidFill>
                            <a:schemeClr val="accent2"/>
                          </a:solidFill>
                        </a:rPr>
                        <a:t>Today</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l" indent="0" marL="0">
                        <a:buNone/>
                      </a:pPr>
                      <a:r>
                        <a:rPr lang="en-US" sz="1100" b="1" dirty="0">
                          <a:solidFill>
                            <a:schemeClr val="accent2"/>
                          </a:solidFill>
                        </a:rPr>
                        <a:t>Our design</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l" indent="0" marL="0">
                        <a:buNone/>
                      </a:pPr>
                      <a:r>
                        <a:rPr lang="en-US" sz="1100" b="1" dirty="0">
                          <a:solidFill>
                            <a:schemeClr val="accent2"/>
                          </a:solidFill>
                        </a:rPr>
                        <a:t>Target</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l" indent="0" marL="0">
                        <a:buNone/>
                      </a:pPr>
                      <a:r>
                        <a:rPr lang="en-US" sz="1100" b="1" dirty="0">
                          <a:solidFill>
                            <a:schemeClr val="accent2"/>
                          </a:solidFill>
                        </a:rPr>
                        <a:t>Owner</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l" indent="0" marL="0">
                        <a:buNone/>
                      </a:pPr>
                      <a:r>
                        <a:rPr lang="en-US" sz="1100" b="1" dirty="0">
                          <a:solidFill>
                            <a:schemeClr val="accent2"/>
                          </a:solidFill>
                        </a:rPr>
                        <a:t>Status</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r>
              <a:tr h="402336">
                <a:tc>
                  <a:txBody>
                    <a:bodyPr/>
                    <a:lstStyle/>
                    <a:p>
                      <a:pPr indent="0" marL="0">
                        <a:buNone/>
                      </a:pPr>
                      <a:r>
                        <a:rPr lang="en-US" sz="1200" b="1" dirty="0">
                          <a:solidFill>
                            <a:schemeClr val="tx2"/>
                          </a:solidFill>
                        </a:rPr>
                        <a:t>Dependability</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On-time shipment (lines staged before departure)</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49.9%</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b="1" dirty="0">
                          <a:solidFill>
                            <a:schemeClr val="tx1"/>
                          </a:solidFill>
                        </a:rPr>
                        <a:t>≥ 98%</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 98%</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Rachel</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1"/>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Trailers at the doors at once (busy day)</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15, parked</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b="1" dirty="0">
                          <a:solidFill>
                            <a:schemeClr val="tx1"/>
                          </a:solidFill>
                        </a:rPr>
                        <a:t>max 4</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 5</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Rachel</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1"/>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r>
              <a:tr h="402336">
                <a:tc>
                  <a:txBody>
                    <a:bodyPr/>
                    <a:lstStyle/>
                    <a:p>
                      <a:pPr indent="0" marL="0">
                        <a:buNone/>
                      </a:pPr>
                      <a:r>
                        <a:rPr lang="en-US" sz="1200" b="1" dirty="0">
                          <a:solidFill>
                            <a:schemeClr val="tx2"/>
                          </a:solidFill>
                        </a:rPr>
                        <a:t>Speed</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Orders out within 24 hours</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37%</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b="1" dirty="0">
                          <a:solidFill>
                            <a:schemeClr val="tx1"/>
                          </a:solidFill>
                        </a:rPr>
                        <a:t>65%</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 60%</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Rachel</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1"/>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Dock-to-stock, pallet trailer</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1–3 days (big receipts)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b="1" dirty="0">
                          <a:solidFill>
                            <a:schemeClr val="tx1"/>
                          </a:solidFill>
                        </a:rPr>
                        <a:t>~1.5 h</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&lt; 3.5 h</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Vidhi</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1"/>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r>
              <a:tr h="402336">
                <a:tc>
                  <a:txBody>
                    <a:bodyPr/>
                    <a:lstStyle/>
                    <a:p>
                      <a:pPr indent="0" marL="0">
                        <a:buNone/>
                      </a:pPr>
                      <a:r>
                        <a:rPr lang="en-US" sz="1200" b="1" dirty="0">
                          <a:solidFill>
                            <a:schemeClr val="tx2"/>
                          </a:solidFill>
                        </a:rPr>
                        <a:t>Quality</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Pick accuracy (orders without error)</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not in the data</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b="1" dirty="0">
                          <a:solidFill>
                            <a:schemeClr val="tx1"/>
                          </a:solidFill>
                        </a:rPr>
                        <a:t>≥ 99.7%</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 99.3%</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Arnau</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1"/>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r>
              <a:tr h="402336">
                <a:tc>
                  <a:txBody>
                    <a:bodyPr/>
                    <a:lstStyle/>
                    <a:p>
                      <a:pPr indent="0" marL="0">
                        <a:buNone/>
                      </a:pPr>
                      <a:r>
                        <a:rPr lang="en-US" sz="1200" b="1" dirty="0">
                          <a:solidFill>
                            <a:schemeClr val="tx2"/>
                          </a:solidFill>
                        </a:rPr>
                        <a:t>Cost</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Fast-pick hit rate (lines from the fast-pick area)</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b="1" dirty="0">
                          <a:solidFill>
                            <a:schemeClr val="tx1"/>
                          </a:solidFill>
                        </a:rPr>
                        <a:t>71%</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 60%</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Arnau</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1"/>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Rack fill at the peak</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8,512 places used</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b="1" dirty="0">
                          <a:solidFill>
                            <a:schemeClr val="tx1"/>
                          </a:solidFill>
                        </a:rPr>
                        <a:t>84%</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 90%</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Gleb</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1"/>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r>
              <a:tr h="402336">
                <a:tc>
                  <a:txBody>
                    <a:bodyPr/>
                    <a:lstStyle/>
                    <a:p>
                      <a:pPr indent="0" marL="0">
                        <a:buNone/>
                      </a:pPr>
                      <a:r>
                        <a:rPr lang="en-US" sz="1200" b="1" dirty="0">
                          <a:solidFill>
                            <a:schemeClr val="tx2"/>
                          </a:solidFill>
                        </a:rPr>
                        <a:t>Flexibility</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Containers unpacked inside their zone</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b="1" dirty="0">
                          <a:solidFill>
                            <a:schemeClr val="tx1"/>
                          </a:solidFill>
                        </a:rPr>
                        <a:t>91%</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 90%</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Vidhi</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1"/>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9AA5B1"/>
                      </a:solidFill>
                      <a:prstDash val="solid"/>
                      <a:round/>
                      <a:headEnd type="none" w="med" len="med"/>
                      <a:tailEnd type="none" w="med" len="med"/>
                    </a:lnT>
                    <a:lnB w="6350" cap="flat" cmpd="sng" algn="ctr">
                      <a:solidFill>
                        <a:srgbClr val="D9DDE3"/>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Storage headroom</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b="1" dirty="0">
                          <a:solidFill>
                            <a:schemeClr val="tx1"/>
                          </a:solidFill>
                        </a:rPr>
                        <a:t>~4 months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 12 months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Gleb</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5"/>
                          </a:solidFill>
                        </a:rPr>
                        <a:t>● </a:t>
                      </a:r>
                      <a:pPr indent="0" marL="0">
                        <a:buNone/>
                      </a:pPr>
                      <a:r>
                        <a:rPr lang="en-US" sz="1200" b="1" dirty="0">
                          <a:solidFill>
                            <a:schemeClr val="accent5"/>
                          </a:solidFill>
                        </a:rPr>
                        <a:t>gap</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tcPr>
                </a:tc>
              </a:tr>
            </a:tbl>
          </a:graphicData>
        </a:graphic>
      </p:graphicFrame>
      <p:sp>
        <p:nvSpPr>
          <p:cNvPr id="8" name="Text 5"/>
          <p:cNvSpPr txBox="1"/>
          <p:nvPr/>
        </p:nvSpPr>
        <p:spPr>
          <a:xfrm>
            <a:off x="548640" y="5870448"/>
            <a:ext cx="11094415" cy="274320"/>
          </a:xfrm>
          <a:prstGeom prst="rect">
            <a:avLst/>
          </a:prstGeom>
          <a:noFill/>
          <a:ln/>
        </p:spPr>
        <p:txBody>
          <a:bodyPr wrap="square" lIns="0" tIns="0" rIns="0" bIns="0" rtlCol="0" anchor="t"/>
          <a:lstStyle/>
          <a:p>
            <a:pPr indent="0" marL="0">
              <a:buNone/>
            </a:pPr>
            <a:r>
              <a:rPr lang="en-US" sz="1100" dirty="0">
                <a:solidFill>
                  <a:schemeClr val="accent2"/>
                </a:solidFill>
              </a:rPr>
              <a:t>Checked every day in the start-of-day meeting of the four owners and weekly with the DHL operations manager (Deliverable 2 §7.5).</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WHY CHANGE</a:t>
            </a:r>
            <a:pPr indent="0" marL="0">
              <a:buNone/>
            </a:pPr>
            <a:r>
              <a:rPr lang="en-US" sz="900" spc="100" kern="0" dirty="0">
                <a:solidFill>
                  <a:schemeClr val="accent3"/>
                </a:solidFill>
              </a:rPr>
              <a:t>   ·   </a:t>
            </a:r>
            <a:pPr indent="0" marL="0">
              <a:buNone/>
            </a:pPr>
            <a:r>
              <a:rPr lang="en-US" sz="900" spc="100" kern="0" dirty="0">
                <a:solidFill>
                  <a:schemeClr val="accent3"/>
                </a:solidFill>
              </a:rPr>
              <a:t>OUR DESIGN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b="1" spc="100" kern="0" dirty="0">
                <a:solidFill>
                  <a:schemeClr val="accent1"/>
                </a:solidFill>
              </a:rPr>
              <a:t>PERFORMANCE</a:t>
            </a:r>
            <a:pPr indent="0" marL="0">
              <a:buNone/>
            </a:pPr>
            <a:r>
              <a:rPr lang="en-US" sz="900" spc="100" kern="0" dirty="0">
                <a:solidFill>
                  <a:schemeClr val="accent3"/>
                </a:solidFill>
              </a:rPr>
              <a:t>   ·   </a:t>
            </a:r>
            <a:pPr indent="0" marL="0">
              <a:buNone/>
            </a:pPr>
            <a:r>
              <a:rPr lang="en-US" sz="900" spc="100" kern="0" dirty="0">
                <a:solidFill>
                  <a:schemeClr val="accent3"/>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The full fit-out costs €1.63M, mostly new racking; the process changes alone cost €0.16M and pay back in ~1.6 years</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cost model (Deliverable 3 §3): racking prices (IndexBox, n.d.; T-Racking, n.d.); labour €20 per hour (Rogier, course teacher, personal communication, October 2026); benchmark prices, not supplier quotes</a:t>
            </a:r>
            <a:endParaRPr lang="en-US" sz="900" dirty="0"/>
          </a:p>
        </p:txBody>
      </p:sp>
      <p:sp>
        <p:nvSpPr>
          <p:cNvPr id="5" name="Owner marker"/>
          <p:cNvSpPr/>
          <p:nvPr/>
        </p:nvSpPr>
        <p:spPr>
          <a:xfrm>
            <a:off x="9098280" y="338328"/>
            <a:ext cx="118872" cy="118872"/>
          </a:xfrm>
          <a:prstGeom prst="rect">
            <a:avLst/>
          </a:prstGeom>
          <a:solidFill>
            <a:srgbClr val="7C3AED"/>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Rachel</a:t>
            </a:r>
            <a:pPr indent="0" marL="0">
              <a:buNone/>
            </a:pPr>
            <a:r>
              <a:rPr lang="en-US" sz="1000" dirty="0">
                <a:solidFill>
                  <a:schemeClr val="accent2"/>
                </a:solidFill>
              </a:rPr>
              <a:t> · presenter</a:t>
            </a:r>
            <a:endParaRPr lang="en-US" sz="1000" dirty="0"/>
          </a:p>
        </p:txBody>
      </p:sp>
      <p:sp>
        <p:nvSpPr>
          <p:cNvPr id="7" name="Text 5"/>
          <p:cNvSpPr txBox="1"/>
          <p:nvPr/>
        </p:nvSpPr>
        <p:spPr>
          <a:xfrm>
            <a:off x="548640" y="1737360"/>
            <a:ext cx="5852160" cy="274320"/>
          </a:xfrm>
          <a:prstGeom prst="rect">
            <a:avLst/>
          </a:prstGeom>
          <a:noFill/>
          <a:ln/>
        </p:spPr>
        <p:txBody>
          <a:bodyPr wrap="square" lIns="0" tIns="0" rIns="0" bIns="0" rtlCol="0" anchor="t"/>
          <a:lstStyle/>
          <a:p>
            <a:pPr indent="0" marL="0">
              <a:buNone/>
            </a:pPr>
            <a:r>
              <a:rPr lang="en-US" sz="1300" b="1" dirty="0">
                <a:solidFill>
                  <a:schemeClr val="tx2"/>
                </a:solidFill>
              </a:rPr>
              <a:t>Investment (CAPEX) by group, € thousand</a:t>
            </a:r>
            <a:endParaRPr lang="en-US" sz="1300" dirty="0"/>
          </a:p>
        </p:txBody>
      </p:sp>
      <p:graphicFrame>
        <p:nvGraphicFramePr>
          <p:cNvPr id="8" name="Chart 0" descr=""/>
          <p:cNvGraphicFramePr/>
          <p:nvPr/>
        </p:nvGraphicFramePr>
        <p:xfrm>
          <a:off x="411480" y="2057400"/>
          <a:ext cx="5852160" cy="36118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5687568"/>
            <a:ext cx="5760720" cy="502920"/>
          </a:xfrm>
          <a:prstGeom prst="rect">
            <a:avLst/>
          </a:prstGeom>
          <a:noFill/>
          <a:ln/>
        </p:spPr>
        <p:txBody>
          <a:bodyPr wrap="square" lIns="0" tIns="0" rIns="0" bIns="0" rtlCol="0" anchor="t"/>
          <a:lstStyle/>
          <a:p>
            <a:pPr indent="0" marL="0">
              <a:buNone/>
            </a:pPr>
            <a:r>
              <a:rPr lang="en-US" sz="1100" dirty="0">
                <a:solidFill>
                  <a:schemeClr val="accent2"/>
                </a:solidFill>
              </a:rPr>
              <a:t>Contingency = 10% of all items. Re-using today's racking would cut the investment to €0.52M (payback ~5 years); with all-new racking the payback is ~16 years.</a:t>
            </a:r>
            <a:endParaRPr lang="en-US" sz="1100" dirty="0"/>
          </a:p>
        </p:txBody>
      </p:sp>
      <p:sp>
        <p:nvSpPr>
          <p:cNvPr id="10" name="Cost tile 1"/>
          <p:cNvSpPr/>
          <p:nvPr/>
        </p:nvSpPr>
        <p:spPr>
          <a:xfrm>
            <a:off x="6583680" y="1737360"/>
            <a:ext cx="2438248" cy="2057400"/>
          </a:xfrm>
          <a:prstGeom prst="rect">
            <a:avLst/>
          </a:prstGeom>
          <a:solidFill>
            <a:schemeClr val="bg2"/>
          </a:solidFill>
          <a:ln/>
        </p:spPr>
      </p:sp>
      <p:sp>
        <p:nvSpPr>
          <p:cNvPr id="11" name="Text 8"/>
          <p:cNvSpPr txBox="1"/>
          <p:nvPr/>
        </p:nvSpPr>
        <p:spPr>
          <a:xfrm>
            <a:off x="6784848" y="1938528"/>
            <a:ext cx="2035912" cy="566928"/>
          </a:xfrm>
          <a:prstGeom prst="rect">
            <a:avLst/>
          </a:prstGeom>
          <a:noFill/>
          <a:ln/>
        </p:spPr>
        <p:txBody>
          <a:bodyPr wrap="square" lIns="0" tIns="0" rIns="0" bIns="0" rtlCol="0" anchor="t"/>
          <a:lstStyle/>
          <a:p>
            <a:pPr indent="0" marL="0">
              <a:buNone/>
            </a:pPr>
            <a:r>
              <a:rPr lang="en-US" sz="3000" dirty="0">
                <a:solidFill>
                  <a:schemeClr val="accent1"/>
                </a:solidFill>
                <a:latin typeface="Cambria" pitchFamily="34" charset="0"/>
                <a:ea typeface="Cambria" pitchFamily="34" charset="-122"/>
                <a:cs typeface="Cambria" pitchFamily="34" charset="-120"/>
              </a:rPr>
              <a:t>€0.16M</a:t>
            </a:r>
            <a:endParaRPr lang="en-US" sz="3000" dirty="0"/>
          </a:p>
        </p:txBody>
      </p:sp>
      <p:sp>
        <p:nvSpPr>
          <p:cNvPr id="12" name="Text 9"/>
          <p:cNvSpPr txBox="1"/>
          <p:nvPr/>
        </p:nvSpPr>
        <p:spPr>
          <a:xfrm>
            <a:off x="6784848" y="2560320"/>
            <a:ext cx="2035912" cy="1143000"/>
          </a:xfrm>
          <a:prstGeom prst="rect">
            <a:avLst/>
          </a:prstGeom>
          <a:noFill/>
          <a:ln/>
        </p:spPr>
        <p:txBody>
          <a:bodyPr wrap="square" lIns="0" tIns="0" rIns="0" bIns="0" rtlCol="0" anchor="t"/>
          <a:lstStyle/>
          <a:p>
            <a:pPr indent="0" marL="0">
              <a:buNone/>
            </a:pPr>
            <a:r>
              <a:rPr lang="en-US" sz="1200" dirty="0">
                <a:solidFill>
                  <a:schemeClr val="tx1"/>
                </a:solidFill>
              </a:rPr>
              <a:t>process changes (fast-pick, trolleys, put-to-light wall, WMS, scanners): payback ~1.6 years</a:t>
            </a:r>
            <a:endParaRPr lang="en-US" sz="1200" dirty="0"/>
          </a:p>
        </p:txBody>
      </p:sp>
      <p:sp>
        <p:nvSpPr>
          <p:cNvPr id="13" name="Cost tile 2"/>
          <p:cNvSpPr/>
          <p:nvPr/>
        </p:nvSpPr>
        <p:spPr>
          <a:xfrm>
            <a:off x="9204808" y="1737360"/>
            <a:ext cx="2438248" cy="2057400"/>
          </a:xfrm>
          <a:prstGeom prst="rect">
            <a:avLst/>
          </a:prstGeom>
          <a:solidFill>
            <a:schemeClr val="bg2"/>
          </a:solidFill>
          <a:ln/>
        </p:spPr>
      </p:sp>
      <p:sp>
        <p:nvSpPr>
          <p:cNvPr id="14" name="Text 11"/>
          <p:cNvSpPr txBox="1"/>
          <p:nvPr/>
        </p:nvSpPr>
        <p:spPr>
          <a:xfrm>
            <a:off x="9405976" y="1938528"/>
            <a:ext cx="2035912" cy="566928"/>
          </a:xfrm>
          <a:prstGeom prst="rect">
            <a:avLst/>
          </a:prstGeom>
          <a:noFill/>
          <a:ln/>
        </p:spPr>
        <p:txBody>
          <a:bodyPr wrap="square" lIns="0" tIns="0" rIns="0" bIns="0" rtlCol="0" anchor="t"/>
          <a:lstStyle/>
          <a:p>
            <a:pPr indent="0" marL="0">
              <a:buNone/>
            </a:pPr>
            <a:r>
              <a:rPr lang="en-US" sz="3000" dirty="0">
                <a:solidFill>
                  <a:schemeClr val="accent1"/>
                </a:solidFill>
                <a:latin typeface="Cambria" pitchFamily="34" charset="0"/>
                <a:ea typeface="Cambria" pitchFamily="34" charset="-122"/>
                <a:cs typeface="Cambria" pitchFamily="34" charset="-120"/>
              </a:rPr>
              <a:t>€101k</a:t>
            </a:r>
            <a:endParaRPr lang="en-US" sz="3000" dirty="0"/>
          </a:p>
        </p:txBody>
      </p:sp>
      <p:sp>
        <p:nvSpPr>
          <p:cNvPr id="15" name="Text 12"/>
          <p:cNvSpPr txBox="1"/>
          <p:nvPr/>
        </p:nvSpPr>
        <p:spPr>
          <a:xfrm>
            <a:off x="9405976" y="2560320"/>
            <a:ext cx="2035912" cy="1143000"/>
          </a:xfrm>
          <a:prstGeom prst="rect">
            <a:avLst/>
          </a:prstGeom>
          <a:noFill/>
          <a:ln/>
        </p:spPr>
        <p:txBody>
          <a:bodyPr wrap="square" lIns="0" tIns="0" rIns="0" bIns="0" rtlCol="0" anchor="t"/>
          <a:lstStyle/>
          <a:p>
            <a:pPr indent="0" marL="0">
              <a:buNone/>
            </a:pPr>
            <a:r>
              <a:rPr lang="en-US" sz="1200" dirty="0">
                <a:solidFill>
                  <a:schemeClr val="tx1"/>
                </a:solidFill>
              </a:rPr>
              <a:t>labour saved a year: €63k from batch picking and the fast-pick area, €38k from the waves</a:t>
            </a:r>
            <a:endParaRPr lang="en-US" sz="1200" dirty="0"/>
          </a:p>
        </p:txBody>
      </p:sp>
      <p:sp>
        <p:nvSpPr>
          <p:cNvPr id="16" name="Cost tile 3"/>
          <p:cNvSpPr/>
          <p:nvPr/>
        </p:nvSpPr>
        <p:spPr>
          <a:xfrm>
            <a:off x="6583680" y="3977640"/>
            <a:ext cx="2438248" cy="2057400"/>
          </a:xfrm>
          <a:prstGeom prst="rect">
            <a:avLst/>
          </a:prstGeom>
          <a:solidFill>
            <a:schemeClr val="bg2"/>
          </a:solidFill>
          <a:ln/>
        </p:spPr>
      </p:sp>
      <p:sp>
        <p:nvSpPr>
          <p:cNvPr id="17" name="Text 14"/>
          <p:cNvSpPr txBox="1"/>
          <p:nvPr/>
        </p:nvSpPr>
        <p:spPr>
          <a:xfrm>
            <a:off x="6784848" y="4178808"/>
            <a:ext cx="2035912" cy="566928"/>
          </a:xfrm>
          <a:prstGeom prst="rect">
            <a:avLst/>
          </a:prstGeom>
          <a:noFill/>
          <a:ln/>
        </p:spPr>
        <p:txBody>
          <a:bodyPr wrap="square" lIns="0" tIns="0" rIns="0" bIns="0" rtlCol="0" anchor="t"/>
          <a:lstStyle/>
          <a:p>
            <a:pPr indent="0" marL="0">
              <a:buNone/>
            </a:pPr>
            <a:r>
              <a:rPr lang="en-US" sz="3000" dirty="0">
                <a:solidFill>
                  <a:schemeClr val="accent1"/>
                </a:solidFill>
                <a:latin typeface="Cambria" pitchFamily="34" charset="0"/>
                <a:ea typeface="Cambria" pitchFamily="34" charset="-122"/>
                <a:cs typeface="Cambria" pitchFamily="34" charset="-120"/>
              </a:rPr>
              <a:t>€342k</a:t>
            </a:r>
            <a:endParaRPr lang="en-US" sz="3000" dirty="0"/>
          </a:p>
        </p:txBody>
      </p:sp>
      <p:sp>
        <p:nvSpPr>
          <p:cNvPr id="18" name="Text 15"/>
          <p:cNvSpPr txBox="1"/>
          <p:nvPr/>
        </p:nvSpPr>
        <p:spPr>
          <a:xfrm>
            <a:off x="6784848" y="4800600"/>
            <a:ext cx="2035912" cy="1143000"/>
          </a:xfrm>
          <a:prstGeom prst="rect">
            <a:avLst/>
          </a:prstGeom>
          <a:noFill/>
          <a:ln/>
        </p:spPr>
        <p:txBody>
          <a:bodyPr wrap="square" lIns="0" tIns="0" rIns="0" bIns="0" rtlCol="0" anchor="t"/>
          <a:lstStyle/>
          <a:p>
            <a:pPr indent="0" marL="0">
              <a:buNone/>
            </a:pPr>
            <a:r>
              <a:rPr lang="en-US" sz="1200" dirty="0">
                <a:solidFill>
                  <a:schemeClr val="tx1"/>
                </a:solidFill>
              </a:rPr>
              <a:t>running cost a year (OPEX), 85% of it labour</a:t>
            </a:r>
            <a:endParaRPr lang="en-US" sz="1200" dirty="0"/>
          </a:p>
        </p:txBody>
      </p:sp>
      <p:sp>
        <p:nvSpPr>
          <p:cNvPr id="19" name="Cost tile 4"/>
          <p:cNvSpPr/>
          <p:nvPr/>
        </p:nvSpPr>
        <p:spPr>
          <a:xfrm>
            <a:off x="9204808" y="3977640"/>
            <a:ext cx="2438248" cy="2057400"/>
          </a:xfrm>
          <a:prstGeom prst="rect">
            <a:avLst/>
          </a:prstGeom>
          <a:solidFill>
            <a:schemeClr val="bg2"/>
          </a:solidFill>
          <a:ln/>
        </p:spPr>
      </p:sp>
      <p:sp>
        <p:nvSpPr>
          <p:cNvPr id="20" name="Text 17"/>
          <p:cNvSpPr txBox="1"/>
          <p:nvPr/>
        </p:nvSpPr>
        <p:spPr>
          <a:xfrm>
            <a:off x="9405976" y="4178808"/>
            <a:ext cx="2035912" cy="566928"/>
          </a:xfrm>
          <a:prstGeom prst="rect">
            <a:avLst/>
          </a:prstGeom>
          <a:noFill/>
          <a:ln/>
        </p:spPr>
        <p:txBody>
          <a:bodyPr wrap="square" lIns="0" tIns="0" rIns="0" bIns="0" rtlCol="0" anchor="t"/>
          <a:lstStyle/>
          <a:p>
            <a:pPr indent="0" marL="0">
              <a:buNone/>
            </a:pPr>
            <a:r>
              <a:rPr lang="en-US" sz="3000" dirty="0">
                <a:solidFill>
                  <a:schemeClr val="accent1"/>
                </a:solidFill>
                <a:latin typeface="Cambria" pitchFamily="34" charset="0"/>
                <a:ea typeface="Cambria" pitchFamily="34" charset="-122"/>
                <a:cs typeface="Cambria" pitchFamily="34" charset="-120"/>
              </a:rPr>
              <a:t>€3.09</a:t>
            </a:r>
            <a:endParaRPr lang="en-US" sz="3000" dirty="0"/>
          </a:p>
        </p:txBody>
      </p:sp>
      <p:sp>
        <p:nvSpPr>
          <p:cNvPr id="21" name="Text 18"/>
          <p:cNvSpPr txBox="1"/>
          <p:nvPr/>
        </p:nvSpPr>
        <p:spPr>
          <a:xfrm>
            <a:off x="9405976" y="4800600"/>
            <a:ext cx="2035912" cy="1143000"/>
          </a:xfrm>
          <a:prstGeom prst="rect">
            <a:avLst/>
          </a:prstGeom>
          <a:noFill/>
          <a:ln/>
        </p:spPr>
        <p:txBody>
          <a:bodyPr wrap="square" lIns="0" tIns="0" rIns="0" bIns="0" rtlCol="0" anchor="t"/>
          <a:lstStyle/>
          <a:p>
            <a:pPr indent="0" marL="0">
              <a:buNone/>
            </a:pPr>
            <a:r>
              <a:rPr lang="en-US" sz="1200" dirty="0">
                <a:solidFill>
                  <a:schemeClr val="tx1"/>
                </a:solidFill>
              </a:rPr>
              <a:t>per order line (€13.75 per order), depreciation included</a:t>
            </a:r>
            <a:endParaRPr lang="en-US" sz="12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WHY CHANGE</a:t>
            </a:r>
            <a:pPr indent="0" marL="0">
              <a:buNone/>
            </a:pPr>
            <a:r>
              <a:rPr lang="en-US" sz="900" spc="100" kern="0" dirty="0">
                <a:solidFill>
                  <a:schemeClr val="accent3"/>
                </a:solidFill>
              </a:rPr>
              <a:t>   ·   </a:t>
            </a:r>
            <a:pPr indent="0" marL="0">
              <a:buNone/>
            </a:pPr>
            <a:r>
              <a:rPr lang="en-US" sz="900" spc="100" kern="0" dirty="0">
                <a:solidFill>
                  <a:schemeClr val="accent3"/>
                </a:solidFill>
              </a:rPr>
              <a:t>OUR DESIGN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PERFORMANCE</a:t>
            </a:r>
            <a:pPr indent="0" marL="0">
              <a:buNone/>
            </a:pPr>
            <a:r>
              <a:rPr lang="en-US" sz="900" spc="100" kern="0" dirty="0">
                <a:solidFill>
                  <a:schemeClr val="accent3"/>
                </a:solidFill>
              </a:rPr>
              <a:t>   ·   </a:t>
            </a:r>
            <a:pPr indent="0" marL="0">
              <a:buNone/>
            </a:pPr>
            <a:r>
              <a:rPr lang="en-US" sz="900" b="1" spc="100" kern="0" dirty="0">
                <a:solidFill>
                  <a:schemeClr val="accent1"/>
                </a:solidFill>
              </a:rPr>
              <a:t>NEXT STEPS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Four open points to close before go-live — each has an owner and a next step</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assumption register (Deliverable 2 §8) and risks in Deliverable 3</a:t>
            </a:r>
            <a:endParaRPr lang="en-US" sz="900" dirty="0"/>
          </a:p>
        </p:txBody>
      </p:sp>
      <p:sp>
        <p:nvSpPr>
          <p:cNvPr id="5" name="Owner marker"/>
          <p:cNvSpPr/>
          <p:nvPr/>
        </p:nvSpPr>
        <p:spPr>
          <a:xfrm>
            <a:off x="9098280" y="338328"/>
            <a:ext cx="118872" cy="118872"/>
          </a:xfrm>
          <a:prstGeom prst="rect">
            <a:avLst/>
          </a:prstGeom>
          <a:solidFill>
            <a:srgbClr val="1D4ED8"/>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presenter</a:t>
            </a:r>
            <a:endParaRPr lang="en-US" sz="1000" dirty="0"/>
          </a:p>
        </p:txBody>
      </p:sp>
      <p:sp>
        <p:nvSpPr>
          <p:cNvPr id="7" name="Text 5"/>
          <p:cNvSpPr txBox="1"/>
          <p:nvPr/>
        </p:nvSpPr>
        <p:spPr>
          <a:xfrm>
            <a:off x="100584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OPEN POINT</a:t>
            </a:r>
            <a:endParaRPr lang="en-US" sz="1000" dirty="0"/>
          </a:p>
        </p:txBody>
      </p:sp>
      <p:sp>
        <p:nvSpPr>
          <p:cNvPr id="8" name="Text 6"/>
          <p:cNvSpPr txBox="1"/>
          <p:nvPr/>
        </p:nvSpPr>
        <p:spPr>
          <a:xfrm>
            <a:off x="507492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IMPACT</a:t>
            </a:r>
            <a:endParaRPr lang="en-US" sz="1000" dirty="0"/>
          </a:p>
        </p:txBody>
      </p:sp>
      <p:sp>
        <p:nvSpPr>
          <p:cNvPr id="9" name="Text 7"/>
          <p:cNvSpPr txBox="1"/>
          <p:nvPr/>
        </p:nvSpPr>
        <p:spPr>
          <a:xfrm>
            <a:off x="617220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NEXT STEP</a:t>
            </a:r>
            <a:endParaRPr lang="en-US" sz="1000" dirty="0"/>
          </a:p>
        </p:txBody>
      </p:sp>
      <p:sp>
        <p:nvSpPr>
          <p:cNvPr id="10" name="Text 8"/>
          <p:cNvSpPr txBox="1"/>
          <p:nvPr/>
        </p:nvSpPr>
        <p:spPr>
          <a:xfrm>
            <a:off x="1037844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OWNER</a:t>
            </a:r>
            <a:endParaRPr lang="en-US" sz="1000" dirty="0"/>
          </a:p>
        </p:txBody>
      </p:sp>
      <p:sp>
        <p:nvSpPr>
          <p:cNvPr id="11" name="Shape 9"/>
          <p:cNvSpPr/>
          <p:nvPr/>
        </p:nvSpPr>
        <p:spPr>
          <a:xfrm>
            <a:off x="548640" y="2029968"/>
            <a:ext cx="11094415" cy="0"/>
          </a:xfrm>
          <a:prstGeom prst="line">
            <a:avLst/>
          </a:prstGeom>
          <a:noFill/>
          <a:ln w="9525">
            <a:solidFill>
              <a:schemeClr val="accent4"/>
            </a:solidFill>
            <a:prstDash val="solid"/>
          </a:ln>
        </p:spPr>
      </p:sp>
      <p:sp>
        <p:nvSpPr>
          <p:cNvPr id="12" name="Text 10"/>
          <p:cNvSpPr txBox="1"/>
          <p:nvPr/>
        </p:nvSpPr>
        <p:spPr>
          <a:xfrm>
            <a:off x="548640" y="2139696"/>
            <a:ext cx="36576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1</a:t>
            </a:r>
            <a:endParaRPr lang="en-US" sz="1800" dirty="0"/>
          </a:p>
        </p:txBody>
      </p:sp>
      <p:sp>
        <p:nvSpPr>
          <p:cNvPr id="13" name="Text 11"/>
          <p:cNvSpPr txBox="1"/>
          <p:nvPr/>
        </p:nvSpPr>
        <p:spPr>
          <a:xfrm>
            <a:off x="1005840" y="2139696"/>
            <a:ext cx="3977640" cy="658368"/>
          </a:xfrm>
          <a:prstGeom prst="rect">
            <a:avLst/>
          </a:prstGeom>
          <a:noFill/>
          <a:ln/>
        </p:spPr>
        <p:txBody>
          <a:bodyPr wrap="square" lIns="0" tIns="0" rIns="0" bIns="0" rtlCol="0" anchor="t"/>
          <a:lstStyle/>
          <a:p>
            <a:pPr indent="0" marL="0">
              <a:buNone/>
            </a:pPr>
            <a:r>
              <a:rPr lang="en-US" sz="1300" b="1" dirty="0">
                <a:solidFill>
                  <a:schemeClr val="tx2"/>
                </a:solidFill>
              </a:rPr>
              <a:t>Stock growth</a:t>
            </a:r>
            <a:endParaRPr lang="en-US" sz="1300" dirty="0"/>
          </a:p>
          <a:p>
            <a:pPr indent="0" marL="0">
              <a:buNone/>
            </a:pPr>
            <a:r>
              <a:rPr lang="en-US" sz="1200" dirty="0">
                <a:solidFill>
                  <a:schemeClr val="accent2"/>
                </a:solidFill>
              </a:rPr>
              <a:t>racks full in ~4 months at +16% per quarter</a:t>
            </a:r>
            <a:endParaRPr lang="en-US" sz="1300" dirty="0"/>
          </a:p>
        </p:txBody>
      </p:sp>
      <p:sp>
        <p:nvSpPr>
          <p:cNvPr id="14" name="Shape 12"/>
          <p:cNvSpPr/>
          <p:nvPr/>
        </p:nvSpPr>
        <p:spPr>
          <a:xfrm>
            <a:off x="5120640" y="2231136"/>
            <a:ext cx="118872" cy="118872"/>
          </a:xfrm>
          <a:prstGeom prst="ellipse">
            <a:avLst/>
          </a:prstGeom>
          <a:solidFill>
            <a:schemeClr val="accent5"/>
          </a:solidFill>
          <a:ln/>
        </p:spPr>
      </p:sp>
      <p:sp>
        <p:nvSpPr>
          <p:cNvPr id="15" name="Shape 13"/>
          <p:cNvSpPr/>
          <p:nvPr/>
        </p:nvSpPr>
        <p:spPr>
          <a:xfrm>
            <a:off x="5303520" y="2231136"/>
            <a:ext cx="118872" cy="118872"/>
          </a:xfrm>
          <a:prstGeom prst="ellipse">
            <a:avLst/>
          </a:prstGeom>
          <a:solidFill>
            <a:schemeClr val="accent5"/>
          </a:solidFill>
          <a:ln/>
        </p:spPr>
      </p:sp>
      <p:sp>
        <p:nvSpPr>
          <p:cNvPr id="16" name="Shape 14"/>
          <p:cNvSpPr/>
          <p:nvPr/>
        </p:nvSpPr>
        <p:spPr>
          <a:xfrm>
            <a:off x="5486400" y="2231136"/>
            <a:ext cx="118872" cy="118872"/>
          </a:xfrm>
          <a:prstGeom prst="ellipse">
            <a:avLst/>
          </a:prstGeom>
          <a:solidFill>
            <a:schemeClr val="accent5"/>
          </a:solidFill>
          <a:ln/>
        </p:spPr>
      </p:sp>
      <p:sp>
        <p:nvSpPr>
          <p:cNvPr id="17" name="Text 15"/>
          <p:cNvSpPr txBox="1"/>
          <p:nvPr/>
        </p:nvSpPr>
        <p:spPr>
          <a:xfrm>
            <a:off x="6172200" y="2139696"/>
            <a:ext cx="4069080" cy="658368"/>
          </a:xfrm>
          <a:prstGeom prst="rect">
            <a:avLst/>
          </a:prstGeom>
          <a:noFill/>
          <a:ln/>
        </p:spPr>
        <p:txBody>
          <a:bodyPr wrap="square" lIns="0" tIns="0" rIns="0" bIns="0" rtlCol="0" anchor="t"/>
          <a:lstStyle/>
          <a:p>
            <a:pPr indent="0" marL="0">
              <a:buNone/>
            </a:pPr>
            <a:r>
              <a:rPr lang="en-US" sz="1300" dirty="0">
                <a:solidFill>
                  <a:schemeClr val="tx1"/>
                </a:solidFill>
              </a:rPr>
              <a:t>Clear dead stock (21% of loads over a year old); order the reserved 12th module at 90% fill (+864 places)</a:t>
            </a:r>
            <a:endParaRPr lang="en-US" sz="1300" dirty="0"/>
          </a:p>
        </p:txBody>
      </p:sp>
      <p:sp>
        <p:nvSpPr>
          <p:cNvPr id="18" name="Shape 16"/>
          <p:cNvSpPr/>
          <p:nvPr/>
        </p:nvSpPr>
        <p:spPr>
          <a:xfrm>
            <a:off x="10378440" y="2203704"/>
            <a:ext cx="118872" cy="118872"/>
          </a:xfrm>
          <a:prstGeom prst="rect">
            <a:avLst/>
          </a:prstGeom>
          <a:solidFill>
            <a:srgbClr val="1D4ED8"/>
          </a:solidFill>
          <a:ln/>
        </p:spPr>
      </p:sp>
      <p:sp>
        <p:nvSpPr>
          <p:cNvPr id="19" name="Text 17"/>
          <p:cNvSpPr txBox="1"/>
          <p:nvPr/>
        </p:nvSpPr>
        <p:spPr>
          <a:xfrm>
            <a:off x="10570464" y="2139696"/>
            <a:ext cx="1069848" cy="548640"/>
          </a:xfrm>
          <a:prstGeom prst="rect">
            <a:avLst/>
          </a:prstGeom>
          <a:noFill/>
          <a:ln/>
        </p:spPr>
        <p:txBody>
          <a:bodyPr wrap="square" lIns="0" tIns="0" rIns="0" bIns="0" rtlCol="0" anchor="t"/>
          <a:lstStyle/>
          <a:p>
            <a:pPr indent="0" marL="0">
              <a:buNone/>
            </a:pPr>
            <a:r>
              <a:rPr lang="en-US" sz="1300" b="1" dirty="0">
                <a:solidFill>
                  <a:schemeClr val="tx1"/>
                </a:solidFill>
              </a:rPr>
              <a:t>Gleb</a:t>
            </a:r>
            <a:endParaRPr lang="en-US" sz="1300" dirty="0"/>
          </a:p>
          <a:p>
            <a:pPr indent="0" marL="0">
              <a:buNone/>
            </a:pPr>
            <a:r>
              <a:rPr lang="en-US" sz="1100" dirty="0">
                <a:solidFill>
                  <a:schemeClr val="accent2"/>
                </a:solidFill>
              </a:rPr>
              <a:t>Storage</a:t>
            </a:r>
            <a:endParaRPr lang="en-US" sz="1300" dirty="0"/>
          </a:p>
        </p:txBody>
      </p:sp>
      <p:sp>
        <p:nvSpPr>
          <p:cNvPr id="20" name="Shape 18"/>
          <p:cNvSpPr/>
          <p:nvPr/>
        </p:nvSpPr>
        <p:spPr>
          <a:xfrm>
            <a:off x="548640" y="2834640"/>
            <a:ext cx="11094415" cy="0"/>
          </a:xfrm>
          <a:prstGeom prst="line">
            <a:avLst/>
          </a:prstGeom>
          <a:noFill/>
          <a:ln w="9525">
            <a:solidFill>
              <a:schemeClr val="accent4"/>
            </a:solidFill>
            <a:prstDash val="solid"/>
          </a:ln>
        </p:spPr>
      </p:sp>
      <p:sp>
        <p:nvSpPr>
          <p:cNvPr id="21" name="Text 19"/>
          <p:cNvSpPr txBox="1"/>
          <p:nvPr/>
        </p:nvSpPr>
        <p:spPr>
          <a:xfrm>
            <a:off x="548640" y="2944368"/>
            <a:ext cx="36576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2</a:t>
            </a:r>
            <a:endParaRPr lang="en-US" sz="1800" dirty="0"/>
          </a:p>
        </p:txBody>
      </p:sp>
      <p:sp>
        <p:nvSpPr>
          <p:cNvPr id="22" name="Text 20"/>
          <p:cNvSpPr txBox="1"/>
          <p:nvPr/>
        </p:nvSpPr>
        <p:spPr>
          <a:xfrm>
            <a:off x="1005840" y="2944368"/>
            <a:ext cx="3977640" cy="658368"/>
          </a:xfrm>
          <a:prstGeom prst="rect">
            <a:avLst/>
          </a:prstGeom>
          <a:noFill/>
          <a:ln/>
        </p:spPr>
        <p:txBody>
          <a:bodyPr wrap="square" lIns="0" tIns="0" rIns="0" bIns="0" rtlCol="0" anchor="t"/>
          <a:lstStyle/>
          <a:p>
            <a:pPr indent="0" marL="0">
              <a:buNone/>
            </a:pPr>
            <a:r>
              <a:rPr lang="en-US" sz="1300" b="1" dirty="0">
                <a:solidFill>
                  <a:schemeClr val="tx2"/>
                </a:solidFill>
              </a:rPr>
              <a:t>Pick times are modelled</a:t>
            </a:r>
            <a:endParaRPr lang="en-US" sz="1300" dirty="0"/>
          </a:p>
          <a:p>
            <a:pPr indent="0" marL="0">
              <a:buNone/>
            </a:pPr>
            <a:r>
              <a:rPr lang="en-US" sz="1200" dirty="0">
                <a:solidFill>
                  <a:schemeClr val="accent2"/>
                </a:solidFill>
              </a:rPr>
              <a:t>they set the staff per wave; labour is 85% of the running cost</a:t>
            </a:r>
            <a:endParaRPr lang="en-US" sz="1300" dirty="0"/>
          </a:p>
        </p:txBody>
      </p:sp>
      <p:sp>
        <p:nvSpPr>
          <p:cNvPr id="23" name="Shape 21"/>
          <p:cNvSpPr/>
          <p:nvPr/>
        </p:nvSpPr>
        <p:spPr>
          <a:xfrm>
            <a:off x="5120640" y="3035808"/>
            <a:ext cx="118872" cy="118872"/>
          </a:xfrm>
          <a:prstGeom prst="ellipse">
            <a:avLst/>
          </a:prstGeom>
          <a:solidFill>
            <a:schemeClr val="accent5"/>
          </a:solidFill>
          <a:ln/>
        </p:spPr>
      </p:sp>
      <p:sp>
        <p:nvSpPr>
          <p:cNvPr id="24" name="Shape 22"/>
          <p:cNvSpPr/>
          <p:nvPr/>
        </p:nvSpPr>
        <p:spPr>
          <a:xfrm>
            <a:off x="5303520" y="3035808"/>
            <a:ext cx="118872" cy="118872"/>
          </a:xfrm>
          <a:prstGeom prst="ellipse">
            <a:avLst/>
          </a:prstGeom>
          <a:solidFill>
            <a:schemeClr val="accent5"/>
          </a:solidFill>
          <a:ln/>
        </p:spPr>
      </p:sp>
      <p:sp>
        <p:nvSpPr>
          <p:cNvPr id="25" name="Shape 23"/>
          <p:cNvSpPr/>
          <p:nvPr/>
        </p:nvSpPr>
        <p:spPr>
          <a:xfrm>
            <a:off x="5486400" y="3035808"/>
            <a:ext cx="118872" cy="118872"/>
          </a:xfrm>
          <a:prstGeom prst="ellipse">
            <a:avLst/>
          </a:prstGeom>
          <a:solidFill>
            <a:schemeClr val="accent5"/>
          </a:solidFill>
          <a:ln/>
        </p:spPr>
      </p:sp>
      <p:sp>
        <p:nvSpPr>
          <p:cNvPr id="26" name="Text 24"/>
          <p:cNvSpPr txBox="1"/>
          <p:nvPr/>
        </p:nvSpPr>
        <p:spPr>
          <a:xfrm>
            <a:off x="6172200" y="2944368"/>
            <a:ext cx="4069080" cy="658368"/>
          </a:xfrm>
          <a:prstGeom prst="rect">
            <a:avLst/>
          </a:prstGeom>
          <a:noFill/>
          <a:ln/>
        </p:spPr>
        <p:txBody>
          <a:bodyPr wrap="square" lIns="0" tIns="0" rIns="0" bIns="0" rtlCol="0" anchor="t"/>
          <a:lstStyle/>
          <a:p>
            <a:pPr indent="0" marL="0">
              <a:buNone/>
            </a:pPr>
            <a:r>
              <a:rPr lang="en-US" sz="1300" dirty="0">
                <a:solidFill>
                  <a:schemeClr val="tx1"/>
                </a:solidFill>
              </a:rPr>
              <a:t>Time study on the current floor; recalculate pickers per wave</a:t>
            </a:r>
            <a:endParaRPr lang="en-US" sz="1300" dirty="0"/>
          </a:p>
        </p:txBody>
      </p:sp>
      <p:sp>
        <p:nvSpPr>
          <p:cNvPr id="27" name="Shape 25"/>
          <p:cNvSpPr/>
          <p:nvPr/>
        </p:nvSpPr>
        <p:spPr>
          <a:xfrm>
            <a:off x="10378440" y="3008376"/>
            <a:ext cx="118872" cy="118872"/>
          </a:xfrm>
          <a:prstGeom prst="rect">
            <a:avLst/>
          </a:prstGeom>
          <a:solidFill>
            <a:srgbClr val="15803D"/>
          </a:solidFill>
          <a:ln/>
        </p:spPr>
      </p:sp>
      <p:sp>
        <p:nvSpPr>
          <p:cNvPr id="28" name="Text 26"/>
          <p:cNvSpPr txBox="1"/>
          <p:nvPr/>
        </p:nvSpPr>
        <p:spPr>
          <a:xfrm>
            <a:off x="10570464" y="2944368"/>
            <a:ext cx="1069848" cy="548640"/>
          </a:xfrm>
          <a:prstGeom prst="rect">
            <a:avLst/>
          </a:prstGeom>
          <a:noFill/>
          <a:ln/>
        </p:spPr>
        <p:txBody>
          <a:bodyPr wrap="square" lIns="0" tIns="0" rIns="0" bIns="0" rtlCol="0" anchor="t"/>
          <a:lstStyle/>
          <a:p>
            <a:pPr indent="0" marL="0">
              <a:buNone/>
            </a:pPr>
            <a:r>
              <a:rPr lang="en-US" sz="1300" b="1" dirty="0">
                <a:solidFill>
                  <a:schemeClr val="tx1"/>
                </a:solidFill>
              </a:rPr>
              <a:t>Arnau</a:t>
            </a:r>
            <a:endParaRPr lang="en-US" sz="1300" dirty="0"/>
          </a:p>
          <a:p>
            <a:pPr indent="0" marL="0">
              <a:buNone/>
            </a:pPr>
            <a:r>
              <a:rPr lang="en-US" sz="1100" dirty="0">
                <a:solidFill>
                  <a:schemeClr val="accent2"/>
                </a:solidFill>
              </a:rPr>
              <a:t>Picking</a:t>
            </a:r>
            <a:endParaRPr lang="en-US" sz="1300" dirty="0"/>
          </a:p>
        </p:txBody>
      </p:sp>
      <p:sp>
        <p:nvSpPr>
          <p:cNvPr id="29" name="Shape 27"/>
          <p:cNvSpPr/>
          <p:nvPr/>
        </p:nvSpPr>
        <p:spPr>
          <a:xfrm>
            <a:off x="548640" y="3639312"/>
            <a:ext cx="11094415" cy="0"/>
          </a:xfrm>
          <a:prstGeom prst="line">
            <a:avLst/>
          </a:prstGeom>
          <a:noFill/>
          <a:ln w="9525">
            <a:solidFill>
              <a:schemeClr val="accent4"/>
            </a:solidFill>
            <a:prstDash val="solid"/>
          </a:ln>
        </p:spPr>
      </p:sp>
      <p:sp>
        <p:nvSpPr>
          <p:cNvPr id="30" name="Text 28"/>
          <p:cNvSpPr txBox="1"/>
          <p:nvPr/>
        </p:nvSpPr>
        <p:spPr>
          <a:xfrm>
            <a:off x="548640" y="3749040"/>
            <a:ext cx="36576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3</a:t>
            </a:r>
            <a:endParaRPr lang="en-US" sz="1800" dirty="0"/>
          </a:p>
        </p:txBody>
      </p:sp>
      <p:sp>
        <p:nvSpPr>
          <p:cNvPr id="31" name="Text 29"/>
          <p:cNvSpPr txBox="1"/>
          <p:nvPr/>
        </p:nvSpPr>
        <p:spPr>
          <a:xfrm>
            <a:off x="1005840" y="3749040"/>
            <a:ext cx="3977640" cy="658368"/>
          </a:xfrm>
          <a:prstGeom prst="rect">
            <a:avLst/>
          </a:prstGeom>
          <a:noFill/>
          <a:ln/>
        </p:spPr>
        <p:txBody>
          <a:bodyPr wrap="square" lIns="0" tIns="0" rIns="0" bIns="0" rtlCol="0" anchor="t"/>
          <a:lstStyle/>
          <a:p>
            <a:pPr indent="0" marL="0">
              <a:buNone/>
            </a:pPr>
            <a:r>
              <a:rPr lang="en-US" sz="1300" b="1" dirty="0">
                <a:solidFill>
                  <a:schemeClr val="tx2"/>
                </a:solidFill>
              </a:rPr>
              <a:t>Costs are benchmarks</a:t>
            </a:r>
            <a:endParaRPr lang="en-US" sz="1300" dirty="0"/>
          </a:p>
          <a:p>
            <a:pPr indent="0" marL="0">
              <a:buNone/>
            </a:pPr>
            <a:r>
              <a:rPr lang="en-US" sz="1200" dirty="0">
                <a:solidFill>
                  <a:schemeClr val="accent2"/>
                </a:solidFill>
              </a:rPr>
              <a:t>racking alone ranges €80–200 per place</a:t>
            </a:r>
            <a:endParaRPr lang="en-US" sz="1300" dirty="0"/>
          </a:p>
        </p:txBody>
      </p:sp>
      <p:sp>
        <p:nvSpPr>
          <p:cNvPr id="32" name="Shape 30"/>
          <p:cNvSpPr/>
          <p:nvPr/>
        </p:nvSpPr>
        <p:spPr>
          <a:xfrm>
            <a:off x="5120640" y="3840480"/>
            <a:ext cx="118872" cy="118872"/>
          </a:xfrm>
          <a:prstGeom prst="ellipse">
            <a:avLst/>
          </a:prstGeom>
          <a:solidFill>
            <a:schemeClr val="accent5"/>
          </a:solidFill>
          <a:ln/>
        </p:spPr>
      </p:sp>
      <p:sp>
        <p:nvSpPr>
          <p:cNvPr id="33" name="Shape 31"/>
          <p:cNvSpPr/>
          <p:nvPr/>
        </p:nvSpPr>
        <p:spPr>
          <a:xfrm>
            <a:off x="5303520" y="3840480"/>
            <a:ext cx="118872" cy="118872"/>
          </a:xfrm>
          <a:prstGeom prst="ellipse">
            <a:avLst/>
          </a:prstGeom>
          <a:solidFill>
            <a:schemeClr val="accent5"/>
          </a:solidFill>
          <a:ln/>
        </p:spPr>
      </p:sp>
      <p:sp>
        <p:nvSpPr>
          <p:cNvPr id="34" name="Shape 32"/>
          <p:cNvSpPr/>
          <p:nvPr/>
        </p:nvSpPr>
        <p:spPr>
          <a:xfrm>
            <a:off x="5486400" y="3840480"/>
            <a:ext cx="118872" cy="118872"/>
          </a:xfrm>
          <a:prstGeom prst="ellipse">
            <a:avLst/>
          </a:prstGeom>
          <a:solidFill>
            <a:schemeClr val="accent4"/>
          </a:solidFill>
          <a:ln/>
        </p:spPr>
      </p:sp>
      <p:sp>
        <p:nvSpPr>
          <p:cNvPr id="35" name="Text 33"/>
          <p:cNvSpPr txBox="1"/>
          <p:nvPr/>
        </p:nvSpPr>
        <p:spPr>
          <a:xfrm>
            <a:off x="6172200" y="3749040"/>
            <a:ext cx="4069080" cy="658368"/>
          </a:xfrm>
          <a:prstGeom prst="rect">
            <a:avLst/>
          </a:prstGeom>
          <a:noFill/>
          <a:ln/>
        </p:spPr>
        <p:txBody>
          <a:bodyPr wrap="square" lIns="0" tIns="0" rIns="0" bIns="0" rtlCol="0" anchor="t"/>
          <a:lstStyle/>
          <a:p>
            <a:pPr indent="0" marL="0">
              <a:buNone/>
            </a:pPr>
            <a:r>
              <a:rPr lang="en-US" sz="1300" dirty="0">
                <a:solidFill>
                  <a:schemeClr val="tx1"/>
                </a:solidFill>
              </a:rPr>
              <a:t>Quotes for racking, carton flow and the put-to-light wall; lease quote from Jungheinrich</a:t>
            </a:r>
            <a:endParaRPr lang="en-US" sz="1300" dirty="0"/>
          </a:p>
        </p:txBody>
      </p:sp>
      <p:sp>
        <p:nvSpPr>
          <p:cNvPr id="36" name="Shape 34"/>
          <p:cNvSpPr/>
          <p:nvPr/>
        </p:nvSpPr>
        <p:spPr>
          <a:xfrm>
            <a:off x="10378440" y="3813048"/>
            <a:ext cx="118872" cy="118872"/>
          </a:xfrm>
          <a:prstGeom prst="rect">
            <a:avLst/>
          </a:prstGeom>
          <a:solidFill>
            <a:srgbClr val="7C3AED"/>
          </a:solidFill>
          <a:ln/>
        </p:spPr>
      </p:sp>
      <p:sp>
        <p:nvSpPr>
          <p:cNvPr id="37" name="Text 35"/>
          <p:cNvSpPr txBox="1"/>
          <p:nvPr/>
        </p:nvSpPr>
        <p:spPr>
          <a:xfrm>
            <a:off x="10570464" y="3749040"/>
            <a:ext cx="1069848" cy="548640"/>
          </a:xfrm>
          <a:prstGeom prst="rect">
            <a:avLst/>
          </a:prstGeom>
          <a:noFill/>
          <a:ln/>
        </p:spPr>
        <p:txBody>
          <a:bodyPr wrap="square" lIns="0" tIns="0" rIns="0" bIns="0" rtlCol="0" anchor="t"/>
          <a:lstStyle/>
          <a:p>
            <a:pPr indent="0" marL="0">
              <a:buNone/>
            </a:pPr>
            <a:r>
              <a:rPr lang="en-US" sz="1300" b="1" dirty="0">
                <a:solidFill>
                  <a:schemeClr val="tx1"/>
                </a:solidFill>
              </a:rPr>
              <a:t>Rachel</a:t>
            </a:r>
            <a:endParaRPr lang="en-US" sz="1300" dirty="0"/>
          </a:p>
          <a:p>
            <a:pPr indent="0" marL="0">
              <a:buNone/>
            </a:pPr>
            <a:r>
              <a:rPr lang="en-US" sz="1100" dirty="0">
                <a:solidFill>
                  <a:schemeClr val="accent2"/>
                </a:solidFill>
              </a:rPr>
              <a:t>Shipping</a:t>
            </a:r>
            <a:endParaRPr lang="en-US" sz="1300" dirty="0"/>
          </a:p>
        </p:txBody>
      </p:sp>
      <p:sp>
        <p:nvSpPr>
          <p:cNvPr id="38" name="Shape 36"/>
          <p:cNvSpPr/>
          <p:nvPr/>
        </p:nvSpPr>
        <p:spPr>
          <a:xfrm>
            <a:off x="548640" y="4443984"/>
            <a:ext cx="11094415" cy="0"/>
          </a:xfrm>
          <a:prstGeom prst="line">
            <a:avLst/>
          </a:prstGeom>
          <a:noFill/>
          <a:ln w="9525">
            <a:solidFill>
              <a:schemeClr val="accent4"/>
            </a:solidFill>
            <a:prstDash val="solid"/>
          </a:ln>
        </p:spPr>
      </p:sp>
      <p:sp>
        <p:nvSpPr>
          <p:cNvPr id="39" name="Text 37"/>
          <p:cNvSpPr txBox="1"/>
          <p:nvPr/>
        </p:nvSpPr>
        <p:spPr>
          <a:xfrm>
            <a:off x="548640" y="4553712"/>
            <a:ext cx="365760" cy="365760"/>
          </a:xfrm>
          <a:prstGeom prst="rect">
            <a:avLst/>
          </a:prstGeom>
          <a:noFill/>
          <a:ln/>
        </p:spPr>
        <p:txBody>
          <a:bodyPr wrap="square" lIns="0" tIns="0" rIns="0" bIns="0" rtlCol="0" anchor="t"/>
          <a:lstStyle/>
          <a:p>
            <a:pPr indent="0" marL="0">
              <a:buNone/>
            </a:pPr>
            <a:r>
              <a:rPr lang="en-US" sz="1800" dirty="0">
                <a:solidFill>
                  <a:schemeClr val="accent1"/>
                </a:solidFill>
                <a:latin typeface="Cambria" pitchFamily="34" charset="0"/>
                <a:ea typeface="Cambria" pitchFamily="34" charset="-122"/>
                <a:cs typeface="Cambria" pitchFamily="34" charset="-120"/>
              </a:rPr>
              <a:t>4</a:t>
            </a:r>
            <a:endParaRPr lang="en-US" sz="1800" dirty="0"/>
          </a:p>
        </p:txBody>
      </p:sp>
      <p:sp>
        <p:nvSpPr>
          <p:cNvPr id="40" name="Text 38"/>
          <p:cNvSpPr txBox="1"/>
          <p:nvPr/>
        </p:nvSpPr>
        <p:spPr>
          <a:xfrm>
            <a:off x="1005840" y="4553712"/>
            <a:ext cx="3977640" cy="658368"/>
          </a:xfrm>
          <a:prstGeom prst="rect">
            <a:avLst/>
          </a:prstGeom>
          <a:noFill/>
          <a:ln/>
        </p:spPr>
        <p:txBody>
          <a:bodyPr wrap="square" lIns="0" tIns="0" rIns="0" bIns="0" rtlCol="0" anchor="t"/>
          <a:lstStyle/>
          <a:p>
            <a:pPr indent="0" marL="0">
              <a:buNone/>
            </a:pPr>
            <a:r>
              <a:rPr lang="en-US" sz="1300" b="1" dirty="0">
                <a:solidFill>
                  <a:schemeClr val="tx2"/>
                </a:solidFill>
              </a:rPr>
              <a:t>Hazard class unconfirmed</a:t>
            </a:r>
            <a:endParaRPr lang="en-US" sz="1300" dirty="0"/>
          </a:p>
          <a:p>
            <a:pPr indent="0" marL="0">
              <a:buNone/>
            </a:pPr>
            <a:r>
              <a:rPr lang="en-US" sz="1200" dirty="0">
                <a:solidFill>
                  <a:schemeClr val="accent2"/>
                </a:solidFill>
              </a:rPr>
              <a:t>138 items, 2,197 loads, 385 t in stock</a:t>
            </a:r>
            <a:endParaRPr lang="en-US" sz="1300" dirty="0"/>
          </a:p>
        </p:txBody>
      </p:sp>
      <p:sp>
        <p:nvSpPr>
          <p:cNvPr id="41" name="Shape 39"/>
          <p:cNvSpPr/>
          <p:nvPr/>
        </p:nvSpPr>
        <p:spPr>
          <a:xfrm>
            <a:off x="5120640" y="4645152"/>
            <a:ext cx="118872" cy="118872"/>
          </a:xfrm>
          <a:prstGeom prst="ellipse">
            <a:avLst/>
          </a:prstGeom>
          <a:solidFill>
            <a:schemeClr val="accent5"/>
          </a:solidFill>
          <a:ln/>
        </p:spPr>
      </p:sp>
      <p:sp>
        <p:nvSpPr>
          <p:cNvPr id="42" name="Shape 40"/>
          <p:cNvSpPr/>
          <p:nvPr/>
        </p:nvSpPr>
        <p:spPr>
          <a:xfrm>
            <a:off x="5303520" y="4645152"/>
            <a:ext cx="118872" cy="118872"/>
          </a:xfrm>
          <a:prstGeom prst="ellipse">
            <a:avLst/>
          </a:prstGeom>
          <a:solidFill>
            <a:schemeClr val="accent5"/>
          </a:solidFill>
          <a:ln/>
        </p:spPr>
      </p:sp>
      <p:sp>
        <p:nvSpPr>
          <p:cNvPr id="43" name="Shape 41"/>
          <p:cNvSpPr/>
          <p:nvPr/>
        </p:nvSpPr>
        <p:spPr>
          <a:xfrm>
            <a:off x="5486400" y="4645152"/>
            <a:ext cx="118872" cy="118872"/>
          </a:xfrm>
          <a:prstGeom prst="ellipse">
            <a:avLst/>
          </a:prstGeom>
          <a:solidFill>
            <a:schemeClr val="accent4"/>
          </a:solidFill>
          <a:ln/>
        </p:spPr>
      </p:sp>
      <p:sp>
        <p:nvSpPr>
          <p:cNvPr id="44" name="Text 42"/>
          <p:cNvSpPr txBox="1"/>
          <p:nvPr/>
        </p:nvSpPr>
        <p:spPr>
          <a:xfrm>
            <a:off x="6172200" y="4553712"/>
            <a:ext cx="4069080" cy="658368"/>
          </a:xfrm>
          <a:prstGeom prst="rect">
            <a:avLst/>
          </a:prstGeom>
          <a:noFill/>
          <a:ln/>
        </p:spPr>
        <p:txBody>
          <a:bodyPr wrap="square" lIns="0" tIns="0" rIns="0" bIns="0" rtlCol="0" anchor="t"/>
          <a:lstStyle/>
          <a:p>
            <a:pPr indent="0" marL="0">
              <a:buNone/>
            </a:pPr>
            <a:r>
              <a:rPr lang="en-US" sz="1300" dirty="0">
                <a:solidFill>
                  <a:schemeClr val="tx1"/>
                </a:solidFill>
              </a:rPr>
              <a:t>Ask Assa Abloy for UN numbers and safety data sheets; size the hazmat section</a:t>
            </a:r>
            <a:endParaRPr lang="en-US" sz="1300" dirty="0"/>
          </a:p>
        </p:txBody>
      </p:sp>
      <p:sp>
        <p:nvSpPr>
          <p:cNvPr id="45" name="Shape 43"/>
          <p:cNvSpPr/>
          <p:nvPr/>
        </p:nvSpPr>
        <p:spPr>
          <a:xfrm>
            <a:off x="10378440" y="4617720"/>
            <a:ext cx="118872" cy="118872"/>
          </a:xfrm>
          <a:prstGeom prst="rect">
            <a:avLst/>
          </a:prstGeom>
          <a:solidFill>
            <a:srgbClr val="C2410C"/>
          </a:solidFill>
          <a:ln/>
        </p:spPr>
      </p:sp>
      <p:sp>
        <p:nvSpPr>
          <p:cNvPr id="46" name="Text 44"/>
          <p:cNvSpPr txBox="1"/>
          <p:nvPr/>
        </p:nvSpPr>
        <p:spPr>
          <a:xfrm>
            <a:off x="10570464" y="4553712"/>
            <a:ext cx="1069848" cy="548640"/>
          </a:xfrm>
          <a:prstGeom prst="rect">
            <a:avLst/>
          </a:prstGeom>
          <a:noFill/>
          <a:ln/>
        </p:spPr>
        <p:txBody>
          <a:bodyPr wrap="square" lIns="0" tIns="0" rIns="0" bIns="0" rtlCol="0" anchor="t"/>
          <a:lstStyle/>
          <a:p>
            <a:pPr indent="0" marL="0">
              <a:buNone/>
            </a:pPr>
            <a:r>
              <a:rPr lang="en-US" sz="1300" b="1" dirty="0">
                <a:solidFill>
                  <a:schemeClr val="tx1"/>
                </a:solidFill>
              </a:rPr>
              <a:t>Vidhi</a:t>
            </a:r>
            <a:endParaRPr lang="en-US" sz="1300" dirty="0"/>
          </a:p>
          <a:p>
            <a:pPr indent="0" marL="0">
              <a:buNone/>
            </a:pPr>
            <a:r>
              <a:rPr lang="en-US" sz="1100" dirty="0">
                <a:solidFill>
                  <a:schemeClr val="accent2"/>
                </a:solidFill>
              </a:rPr>
              <a:t>Receiving</a:t>
            </a:r>
            <a:endParaRPr lang="en-US" sz="1300" dirty="0"/>
          </a:p>
        </p:txBody>
      </p:sp>
      <p:sp>
        <p:nvSpPr>
          <p:cNvPr id="47" name="Shape 45"/>
          <p:cNvSpPr/>
          <p:nvPr/>
        </p:nvSpPr>
        <p:spPr>
          <a:xfrm>
            <a:off x="548640" y="5248656"/>
            <a:ext cx="11094415" cy="0"/>
          </a:xfrm>
          <a:prstGeom prst="line">
            <a:avLst/>
          </a:prstGeom>
          <a:noFill/>
          <a:ln w="9525">
            <a:solidFill>
              <a:schemeClr val="accent4"/>
            </a:solidFill>
            <a:prstDash val="solid"/>
          </a:ln>
        </p:spPr>
      </p:sp>
      <p:sp>
        <p:nvSpPr>
          <p:cNvPr id="48" name="Text 46"/>
          <p:cNvSpPr/>
          <p:nvPr/>
        </p:nvSpPr>
        <p:spPr>
          <a:xfrm>
            <a:off x="548640" y="5532120"/>
            <a:ext cx="11094415" cy="594360"/>
          </a:xfrm>
          <a:prstGeom prst="rect">
            <a:avLst/>
          </a:prstGeom>
          <a:solidFill>
            <a:schemeClr val="tx2"/>
          </a:solidFill>
          <a:ln/>
        </p:spPr>
        <p:txBody>
          <a:bodyPr wrap="square" lIns="177800" tIns="50800" rIns="177800" bIns="50800" rtlCol="0" anchor="ctr"/>
          <a:lstStyle/>
          <a:p>
            <a:pPr indent="0" marL="0">
              <a:buNone/>
            </a:pPr>
            <a:r>
              <a:rPr lang="en-US" sz="1400" b="1" dirty="0">
                <a:solidFill>
                  <a:schemeClr val="bg1"/>
                </a:solidFill>
              </a:rPr>
              <a:t>What we need from DHL: </a:t>
            </a:r>
            <a:pPr indent="0" marL="0">
              <a:buNone/>
            </a:pPr>
            <a:r>
              <a:rPr lang="en-US" sz="1400" dirty="0">
                <a:solidFill>
                  <a:schemeClr val="bg1"/>
                </a:solidFill>
              </a:rPr>
              <a:t>confirm the 7,000 m² scope, and whether the carriers accept fixed departure slots.</a:t>
            </a:r>
            <a:endParaRPr lang="en-US" sz="14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987552" y="2103120"/>
            <a:ext cx="10058400" cy="731520"/>
          </a:xfrm>
          <a:prstGeom prst="rect">
            <a:avLst/>
          </a:prstGeom>
          <a:noFill/>
          <a:ln/>
        </p:spPr>
        <p:txBody>
          <a:bodyPr wrap="square" lIns="0" tIns="0" rIns="0" bIns="0" rtlCol="0" anchor="ctr"/>
          <a:lstStyle/>
          <a:p>
            <a:pPr algn="l" indent="0" marL="0">
              <a:buNone/>
            </a:pPr>
            <a:r>
              <a:rPr lang="en-US" sz="4000" dirty="0">
                <a:solidFill>
                  <a:schemeClr val="bg1"/>
                </a:solidFill>
              </a:rPr>
              <a:t>Thank you — questions?</a:t>
            </a:r>
            <a:endParaRPr lang="en-US" sz="4000" dirty="0"/>
          </a:p>
        </p:txBody>
      </p:sp>
      <p:sp>
        <p:nvSpPr>
          <p:cNvPr id="3" name="Text 1"/>
          <p:cNvSpPr/>
          <p:nvPr>
            <p:ph idx="102" type="body" hasCustomPrompt="1"/>
          </p:nvPr>
        </p:nvSpPr>
        <p:spPr>
          <a:xfrm>
            <a:off x="987552" y="3063240"/>
            <a:ext cx="10058400" cy="2377440"/>
          </a:xfrm>
          <a:prstGeom prst="rect">
            <a:avLst/>
          </a:prstGeom>
          <a:noFill/>
          <a:ln/>
        </p:spPr>
        <p:txBody>
          <a:bodyPr wrap="square" lIns="0" tIns="0" rIns="0" bIns="0" rtlCol="0" anchor="t"/>
          <a:lstStyle/>
          <a:p>
            <a:pPr indent="0" marL="0">
              <a:buNone/>
            </a:pPr>
            <a:r>
              <a:rPr lang="en-US" sz="1600" dirty="0">
                <a:solidFill>
                  <a:schemeClr val="accent4"/>
                </a:solidFill>
              </a:rPr>
              <a:t>Vidhi — Receiving</a:t>
            </a:r>
            <a:endParaRPr lang="en-US" sz="1600" dirty="0"/>
          </a:p>
          <a:p>
            <a:pPr indent="0" marL="0">
              <a:buNone/>
            </a:pPr>
            <a:r>
              <a:rPr lang="en-US" sz="1600" dirty="0">
                <a:solidFill>
                  <a:schemeClr val="accent4"/>
                </a:solidFill>
              </a:rPr>
              <a:t>Gleb — Storage</a:t>
            </a:r>
            <a:endParaRPr lang="en-US" sz="1600" dirty="0"/>
          </a:p>
          <a:p>
            <a:pPr indent="0" marL="0">
              <a:buNone/>
            </a:pPr>
            <a:r>
              <a:rPr lang="en-US" sz="1600" dirty="0">
                <a:solidFill>
                  <a:schemeClr val="accent4"/>
                </a:solidFill>
              </a:rPr>
              <a:t>Arnau — Picking</a:t>
            </a:r>
            <a:endParaRPr lang="en-US" sz="1600" dirty="0"/>
          </a:p>
          <a:p>
            <a:pPr indent="0" marL="0">
              <a:buNone/>
            </a:pPr>
            <a:r>
              <a:rPr lang="en-US" sz="1600" dirty="0">
                <a:solidFill>
                  <a:schemeClr val="accent4"/>
                </a:solidFill>
              </a:rPr>
              <a:t>Rachel Selvarathnam — Shipping</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PLANNING AND CONTROL</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Planning and control: one day plan links the four processes, and each owner checks their KPIs every day</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Deliverable 2 §7 (planning and control per process)</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737360"/>
                <a:gridCol w="3840480"/>
                <a:gridCol w="3840480"/>
                <a:gridCol w="1676095"/>
              </a:tblGrid>
              <a:tr h="329184">
                <a:tc>
                  <a:txBody>
                    <a:bodyPr/>
                    <a:lstStyle/>
                    <a:p>
                      <a:pPr algn="l" indent="0" marL="0">
                        <a:buNone/>
                      </a:pPr>
                      <a:r>
                        <a:rPr lang="en-US" sz="1100" b="1" dirty="0">
                          <a:solidFill>
                            <a:schemeClr val="accent2"/>
                          </a:solidFill>
                        </a:rPr>
                        <a:t>Process (owner)</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l" indent="0" marL="0">
                        <a:buNone/>
                      </a:pPr>
                      <a:r>
                        <a:rPr lang="en-US" sz="1100" b="1" dirty="0">
                          <a:solidFill>
                            <a:schemeClr val="accent2"/>
                          </a:solidFill>
                        </a:rPr>
                        <a:t>Planned ahead</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l" indent="0" marL="0">
                        <a:buNone/>
                      </a:pPr>
                      <a:r>
                        <a:rPr lang="en-US" sz="1100" b="1" dirty="0">
                          <a:solidFill>
                            <a:schemeClr val="accent2"/>
                          </a:solidFill>
                        </a:rPr>
                        <a:t>Controlled during the day</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l" indent="0" marL="0">
                        <a:buNone/>
                      </a:pPr>
                      <a:r>
                        <a:rPr lang="en-US" sz="1100" b="1" dirty="0">
                          <a:solidFill>
                            <a:schemeClr val="accent2"/>
                          </a:solidFill>
                        </a:rPr>
                        <a:t>KPIs</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r>
              <a:tr h="713232">
                <a:tc>
                  <a:txBody>
                    <a:bodyPr/>
                    <a:lstStyle/>
                    <a:p>
                      <a:pPr indent="0" marL="0">
                        <a:buNone/>
                      </a:pPr>
                      <a:r>
                        <a:rPr lang="en-US" sz="1200" b="1" dirty="0">
                          <a:solidFill>
                            <a:schemeClr val="tx2"/>
                          </a:solidFill>
                        </a:rPr>
                        <a:t>Receiving</a:t>
                      </a:r>
                      <a:endParaRPr lang="en-US" sz="1200" dirty="0"/>
                    </a:p>
                    <a:p>
                      <a:pPr indent="0" marL="0">
                        <a:buNone/>
                      </a:pPr>
                      <a:r>
                        <a:rPr lang="en-US" sz="1200" dirty="0">
                          <a:solidFill>
                            <a:schemeClr val="accent2"/>
                          </a:solidFill>
                        </a:rPr>
                        <a:t>Vidhi</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a time slot for every delivery from the advance shipping notice; containers booked on R1 in the morning</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late or early arrivals re-booked into the next free slot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dock-to-stock, container door time</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713232">
                <a:tc>
                  <a:txBody>
                    <a:bodyPr/>
                    <a:lstStyle/>
                    <a:p>
                      <a:pPr indent="0" marL="0">
                        <a:buNone/>
                      </a:pPr>
                      <a:r>
                        <a:rPr lang="en-US" sz="1200" b="1" dirty="0">
                          <a:solidFill>
                            <a:schemeClr val="tx2"/>
                          </a:solidFill>
                        </a:rPr>
                        <a:t>Storage</a:t>
                      </a:r>
                      <a:endParaRPr lang="en-US" sz="1200" dirty="0"/>
                    </a:p>
                    <a:p>
                      <a:pPr indent="0" marL="0">
                        <a:buNone/>
                      </a:pPr>
                      <a:r>
                        <a:rPr lang="en-US" sz="1200" dirty="0">
                          <a:solidFill>
                            <a:schemeClr val="accent2"/>
                          </a:solidFill>
                        </a:rPr>
                        <a:t>Gleb</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system-directed putaway; min/max refills between the waves; re-slotting every month</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cycle counts (A monthly, B quarterly, C yearly); occupancy each month, 12th module ordered at 90%</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rack fill, storage headroom</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713232">
                <a:tc>
                  <a:txBody>
                    <a:bodyPr/>
                    <a:lstStyle/>
                    <a:p>
                      <a:pPr indent="0" marL="0">
                        <a:buNone/>
                      </a:pPr>
                      <a:r>
                        <a:rPr lang="en-US" sz="1200" b="1" dirty="0">
                          <a:solidFill>
                            <a:schemeClr val="tx2"/>
                          </a:solidFill>
                        </a:rPr>
                        <a:t>Picking</a:t>
                      </a:r>
                      <a:endParaRPr lang="en-US" sz="1200" dirty="0"/>
                    </a:p>
                    <a:p>
                      <a:pPr indent="0" marL="0">
                        <a:buNone/>
                      </a:pPr>
                      <a:r>
                        <a:rPr lang="en-US" sz="1200" dirty="0">
                          <a:solidFill>
                            <a:schemeClr val="accent2"/>
                          </a:solidFill>
                        </a:rPr>
                        <a:t>Arnau</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three waves planned back from the departures; pickers per wave = lines ÷ pick rate</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lines picked against plan per hour; the wall releases only complete, correct orders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pick rate, accuracy, picker-hours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713232">
                <a:tc>
                  <a:txBody>
                    <a:bodyPr/>
                    <a:lstStyle/>
                    <a:p>
                      <a:pPr indent="0" marL="0">
                        <a:buNone/>
                      </a:pPr>
                      <a:r>
                        <a:rPr lang="en-US" sz="1200" b="1" dirty="0">
                          <a:solidFill>
                            <a:schemeClr val="tx2"/>
                          </a:solidFill>
                        </a:rPr>
                        <a:t>Shipping</a:t>
                      </a:r>
                      <a:endParaRPr lang="en-US" sz="1200" dirty="0"/>
                    </a:p>
                    <a:p>
                      <a:pPr indent="0" marL="0">
                        <a:buNone/>
                      </a:pPr>
                      <a:r>
                        <a:rPr lang="en-US" sz="1200" dirty="0">
                          <a:solidFill>
                            <a:schemeClr val="accent2"/>
                          </a:solidFill>
                        </a:rPr>
                        <a:t>Rachel</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14 fixed trailer slots; pack and stage in departure order</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checked after each departure; a missed slot moves to the carrier's next slot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accent2"/>
                          </a:solidFill>
                        </a:rPr>
                        <a:t>on-time shipment, orders within 24 h</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bl>
          </a:graphicData>
        </a:graphic>
      </p:graphicFrame>
      <p:sp>
        <p:nvSpPr>
          <p:cNvPr id="6" name="Text 3"/>
          <p:cNvSpPr txBox="1"/>
          <p:nvPr/>
        </p:nvSpPr>
        <p:spPr>
          <a:xfrm>
            <a:off x="548640" y="4983480"/>
            <a:ext cx="4572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THE CONTROL LOOP</a:t>
            </a:r>
            <a:endParaRPr lang="en-US" sz="1000" dirty="0"/>
          </a:p>
        </p:txBody>
      </p:sp>
      <p:sp>
        <p:nvSpPr>
          <p:cNvPr id="7" name="Text 4"/>
          <p:cNvSpPr/>
          <p:nvPr/>
        </p:nvSpPr>
        <p:spPr>
          <a:xfrm>
            <a:off x="548640" y="5257800"/>
            <a:ext cx="2855900" cy="502920"/>
          </a:xfrm>
          <a:prstGeom prst="homePlate">
            <a:avLst/>
          </a:prstGeom>
          <a:solidFill>
            <a:schemeClr val="accent4"/>
          </a:solidFill>
          <a:ln/>
        </p:spPr>
        <p:txBody>
          <a:bodyPr wrap="square" lIns="228600" tIns="0" rIns="228600" bIns="0" rtlCol="0" anchor="ctr"/>
          <a:lstStyle/>
          <a:p>
            <a:pPr algn="ctr" indent="0" marL="0">
              <a:buNone/>
            </a:pPr>
            <a:r>
              <a:rPr lang="en-US" sz="1200" b="1" dirty="0">
                <a:solidFill>
                  <a:schemeClr val="tx2"/>
                </a:solidFill>
              </a:rPr>
              <a:t>Measure: scans in the WMS</a:t>
            </a:r>
            <a:endParaRPr lang="en-US" sz="1200" dirty="0"/>
          </a:p>
        </p:txBody>
      </p:sp>
      <p:sp>
        <p:nvSpPr>
          <p:cNvPr id="8" name="Text 5"/>
          <p:cNvSpPr/>
          <p:nvPr/>
        </p:nvSpPr>
        <p:spPr>
          <a:xfrm>
            <a:off x="3294812" y="5257800"/>
            <a:ext cx="2855900" cy="502920"/>
          </a:xfrm>
          <a:prstGeom prst="chevron">
            <a:avLst/>
          </a:prstGeom>
          <a:solidFill>
            <a:schemeClr val="accent4"/>
          </a:solidFill>
          <a:ln/>
        </p:spPr>
        <p:txBody>
          <a:bodyPr wrap="square" lIns="228600" tIns="0" rIns="228600" bIns="0" rtlCol="0" anchor="ctr"/>
          <a:lstStyle/>
          <a:p>
            <a:pPr algn="ctr" indent="0" marL="0">
              <a:buNone/>
            </a:pPr>
            <a:r>
              <a:rPr lang="en-US" sz="1200" b="1" dirty="0">
                <a:solidFill>
                  <a:schemeClr val="tx2"/>
                </a:solidFill>
              </a:rPr>
              <a:t>Compare with the target</a:t>
            </a:r>
            <a:endParaRPr lang="en-US" sz="1200" dirty="0"/>
          </a:p>
        </p:txBody>
      </p:sp>
      <p:sp>
        <p:nvSpPr>
          <p:cNvPr id="9" name="Text 6"/>
          <p:cNvSpPr/>
          <p:nvPr/>
        </p:nvSpPr>
        <p:spPr>
          <a:xfrm>
            <a:off x="6040984" y="5257800"/>
            <a:ext cx="2855900" cy="502920"/>
          </a:xfrm>
          <a:prstGeom prst="chevron">
            <a:avLst/>
          </a:prstGeom>
          <a:solidFill>
            <a:schemeClr val="accent4"/>
          </a:solidFill>
          <a:ln/>
        </p:spPr>
        <p:txBody>
          <a:bodyPr wrap="square" lIns="228600" tIns="0" rIns="228600" bIns="0" rtlCol="0" anchor="ctr"/>
          <a:lstStyle/>
          <a:p>
            <a:pPr algn="ctr" indent="0" marL="0">
              <a:buNone/>
            </a:pPr>
            <a:r>
              <a:rPr lang="en-US" sz="1200" b="1" dirty="0">
                <a:solidFill>
                  <a:schemeClr val="tx2"/>
                </a:solidFill>
              </a:rPr>
              <a:t>Act: re-plan or re-slot</a:t>
            </a:r>
            <a:endParaRPr lang="en-US" sz="1200" dirty="0"/>
          </a:p>
        </p:txBody>
      </p:sp>
      <p:sp>
        <p:nvSpPr>
          <p:cNvPr id="10" name="Text 7"/>
          <p:cNvSpPr/>
          <p:nvPr/>
        </p:nvSpPr>
        <p:spPr>
          <a:xfrm>
            <a:off x="8787155" y="5257800"/>
            <a:ext cx="2855900" cy="502920"/>
          </a:xfrm>
          <a:prstGeom prst="chevron">
            <a:avLst/>
          </a:prstGeom>
          <a:solidFill>
            <a:schemeClr val="accent4"/>
          </a:solidFill>
          <a:ln/>
        </p:spPr>
        <p:txBody>
          <a:bodyPr wrap="square" lIns="228600" tIns="0" rIns="228600" bIns="0" rtlCol="0" anchor="ctr"/>
          <a:lstStyle/>
          <a:p>
            <a:pPr algn="ctr" indent="0" marL="0">
              <a:buNone/>
            </a:pPr>
            <a:r>
              <a:rPr lang="en-US" sz="1200" b="1" dirty="0">
                <a:solidFill>
                  <a:schemeClr val="tx2"/>
                </a:solidFill>
              </a:rPr>
              <a:t>Check: KPI back on target</a:t>
            </a:r>
            <a:endParaRPr lang="en-US" sz="1200" dirty="0"/>
          </a:p>
        </p:txBody>
      </p:sp>
      <p:sp>
        <p:nvSpPr>
          <p:cNvPr id="11" name="Text 8"/>
          <p:cNvSpPr txBox="1"/>
          <p:nvPr/>
        </p:nvSpPr>
        <p:spPr>
          <a:xfrm>
            <a:off x="548640" y="5870448"/>
            <a:ext cx="11094415" cy="274320"/>
          </a:xfrm>
          <a:prstGeom prst="rect">
            <a:avLst/>
          </a:prstGeom>
          <a:noFill/>
          <a:ln/>
        </p:spPr>
        <p:txBody>
          <a:bodyPr wrap="square" lIns="0" tIns="0" rIns="0" bIns="0" rtlCol="0" anchor="t"/>
          <a:lstStyle/>
          <a:p>
            <a:pPr indent="0" marL="0">
              <a:buNone/>
            </a:pPr>
            <a:r>
              <a:rPr lang="en-US" sz="1100" dirty="0">
                <a:solidFill>
                  <a:schemeClr val="accent2"/>
                </a:solidFill>
              </a:rPr>
              <a:t>Every day: start-of-day meeting of the four owners  ·  every week: KPI review with DHL  ·  every month: review with Assa Abloy</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EQUIPMENT</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Equipment: the fleet covers the peak day; at double volume the 5 outbound doors, not the trucks, become the limit</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Source: Deliverable 2 §5 and Deliverable 3 stress test; equipment data (Jungheinrich, n.d.-a, n.d.-b, 2019)</a:t>
            </a:r>
            <a:endParaRPr lang="en-US" sz="900" dirty="0"/>
          </a:p>
        </p:txBody>
      </p:sp>
      <p:sp>
        <p:nvSpPr>
          <p:cNvPr id="5" name="Text 3"/>
          <p:cNvSpPr txBox="1"/>
          <p:nvPr/>
        </p:nvSpPr>
        <p:spPr>
          <a:xfrm>
            <a:off x="548640" y="1737360"/>
            <a:ext cx="5486400" cy="274320"/>
          </a:xfrm>
          <a:prstGeom prst="rect">
            <a:avLst/>
          </a:prstGeom>
          <a:noFill/>
          <a:ln/>
        </p:spPr>
        <p:txBody>
          <a:bodyPr wrap="square" lIns="0" tIns="0" rIns="0" bIns="0" rtlCol="0" anchor="t"/>
          <a:lstStyle/>
          <a:p>
            <a:pPr indent="0" marL="0">
              <a:buNone/>
            </a:pPr>
            <a:r>
              <a:rPr lang="en-US" sz="1300" b="1" dirty="0">
                <a:solidFill>
                  <a:schemeClr val="tx2"/>
                </a:solidFill>
              </a:rPr>
              <a:t>Equipment plan</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6035040" cy="914400"/>
        </p:xfrm>
        <a:graphic>
          <a:graphicData uri="http://schemas.openxmlformats.org/drawingml/2006/table">
            <a:tbl>
              <a:tblPr/>
              <a:tblGrid>
                <a:gridCol w="1783080"/>
                <a:gridCol w="2697480"/>
                <a:gridCol w="640080"/>
                <a:gridCol w="914400"/>
              </a:tblGrid>
              <a:tr h="0">
                <a:tc>
                  <a:txBody>
                    <a:bodyPr/>
                    <a:lstStyle/>
                    <a:p>
                      <a:pPr algn="l" indent="0" marL="0">
                        <a:buNone/>
                      </a:pPr>
                      <a:r>
                        <a:rPr lang="en-US" sz="1100" b="1" dirty="0">
                          <a:solidFill>
                            <a:schemeClr val="accent2"/>
                          </a:solidFill>
                        </a:rPr>
                        <a:t>Equipment</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l" indent="0" marL="0">
                        <a:buNone/>
                      </a:pPr>
                      <a:r>
                        <a:rPr lang="en-US" sz="1100" b="1" dirty="0">
                          <a:solidFill>
                            <a:schemeClr val="accent2"/>
                          </a:solidFill>
                        </a:rPr>
                        <a:t>Task</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ctr" indent="0" marL="0">
                        <a:buNone/>
                      </a:pPr>
                      <a:r>
                        <a:rPr lang="en-US" sz="1100" b="1" dirty="0">
                          <a:solidFill>
                            <a:schemeClr val="accent2"/>
                          </a:solidFill>
                        </a:rPr>
                        <a:t>Units</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ctr" indent="0" marL="0">
                        <a:buNone/>
                      </a:pPr>
                      <a:r>
                        <a:rPr lang="en-US" sz="1100" b="1" dirty="0">
                          <a:solidFill>
                            <a:schemeClr val="accent2"/>
                          </a:solidFill>
                        </a:rPr>
                        <a:t>Busy, avg day</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r>
              <a:tr h="0">
                <a:tc>
                  <a:txBody>
                    <a:bodyPr/>
                    <a:lstStyle/>
                    <a:p>
                      <a:pPr indent="0" marL="0">
                        <a:buNone/>
                      </a:pPr>
                      <a:r>
                        <a:rPr lang="en-US" sz="1200" b="1" dirty="0">
                          <a:solidFill>
                            <a:schemeClr val="tx1"/>
                          </a:solidFill>
                        </a:rPr>
                        <a:t>ETV 216i</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Putaway + replenishment + full-pallet picks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2</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33%</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0">
                <a:tc>
                  <a:txBody>
                    <a:bodyPr/>
                    <a:lstStyle/>
                    <a:p>
                      <a:pPr indent="0" marL="0">
                        <a:buNone/>
                      </a:pPr>
                      <a:r>
                        <a:rPr lang="en-US" sz="1200" b="1" dirty="0">
                          <a:solidFill>
                            <a:schemeClr val="tx1"/>
                          </a:solidFill>
                        </a:rPr>
                        <a:t>EJE 120i</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Large orders: pick-to-pallet (one order per pallet)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3</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31%</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0">
                <a:tc>
                  <a:txBody>
                    <a:bodyPr/>
                    <a:lstStyle/>
                    <a:p>
                      <a:pPr indent="0" marL="0">
                        <a:buNone/>
                      </a:pPr>
                      <a:r>
                        <a:rPr lang="en-US" sz="1200" b="1" dirty="0">
                          <a:solidFill>
                            <a:schemeClr val="tx1"/>
                          </a:solidFill>
                        </a:rPr>
                        <a:t>ERE 225</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Unload trailers/containers, load outbound, dock moves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2</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14%</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0">
                <a:tc>
                  <a:txBody>
                    <a:bodyPr/>
                    <a:lstStyle/>
                    <a:p>
                      <a:pPr indent="0" marL="0">
                        <a:buNone/>
                      </a:pPr>
                      <a:r>
                        <a:rPr lang="en-US" sz="1200" b="1" dirty="0">
                          <a:solidFill>
                            <a:schemeClr val="tx1"/>
                          </a:solidFill>
                        </a:rPr>
                        <a:t>Pick trolley (3-tier, 6 totes) + totes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indent="0" marL="0">
                        <a:buNone/>
                      </a:pPr>
                      <a:r>
                        <a:rPr lang="en-US" sz="1200" dirty="0">
                          <a:solidFill>
                            <a:schemeClr val="tx1"/>
                          </a:solidFill>
                        </a:rPr>
                        <a:t>Small orders: zone batch picking, sorted at the put-wall</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6</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bl>
          </a:graphicData>
        </a:graphic>
      </p:graphicFrame>
      <p:sp>
        <p:nvSpPr>
          <p:cNvPr id="7" name="Text 4"/>
          <p:cNvSpPr txBox="1"/>
          <p:nvPr/>
        </p:nvSpPr>
        <p:spPr>
          <a:xfrm>
            <a:off x="548640" y="4343400"/>
            <a:ext cx="6035040" cy="548640"/>
          </a:xfrm>
          <a:prstGeom prst="rect">
            <a:avLst/>
          </a:prstGeom>
          <a:noFill/>
          <a:ln/>
        </p:spPr>
        <p:txBody>
          <a:bodyPr wrap="square" lIns="0" tIns="0" rIns="0" bIns="0" rtlCol="0" anchor="t"/>
          <a:lstStyle/>
          <a:p>
            <a:pPr indent="0" marL="0">
              <a:buNone/>
            </a:pPr>
            <a:r>
              <a:rPr lang="en-US" sz="1100" dirty="0">
                <a:solidFill>
                  <a:schemeClr val="accent2"/>
                </a:solidFill>
              </a:rPr>
              <a:t>Units = recommended fleet, sized for the peak day. Busy = equipment-hours ÷ available hours on an average day; the spare time absorbs peaks and growth.</a:t>
            </a:r>
            <a:endParaRPr lang="en-US" sz="1100" dirty="0"/>
          </a:p>
        </p:txBody>
      </p:sp>
      <p:sp>
        <p:nvSpPr>
          <p:cNvPr id="8" name="Text 5"/>
          <p:cNvSpPr txBox="1"/>
          <p:nvPr/>
        </p:nvSpPr>
        <p:spPr>
          <a:xfrm>
            <a:off x="6949440" y="1737360"/>
            <a:ext cx="4693615" cy="274320"/>
          </a:xfrm>
          <a:prstGeom prst="rect">
            <a:avLst/>
          </a:prstGeom>
          <a:noFill/>
          <a:ln/>
        </p:spPr>
        <p:txBody>
          <a:bodyPr wrap="square" lIns="0" tIns="0" rIns="0" bIns="0" rtlCol="0" anchor="t"/>
          <a:lstStyle/>
          <a:p>
            <a:pPr indent="0" marL="0">
              <a:buNone/>
            </a:pPr>
            <a:r>
              <a:rPr lang="en-US" sz="1300" b="1" dirty="0">
                <a:solidFill>
                  <a:schemeClr val="tx2"/>
                </a:solidFill>
              </a:rPr>
              <a:t>Stress test: what more volume needs</a:t>
            </a:r>
            <a:endParaRPr lang="en-US" sz="13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949440" y="2103120"/>
          <a:ext cx="4693615" cy="914400"/>
        </p:xfrm>
        <a:graphic>
          <a:graphicData uri="http://schemas.openxmlformats.org/drawingml/2006/table">
            <a:tbl>
              <a:tblPr/>
              <a:tblGrid>
                <a:gridCol w="868680"/>
                <a:gridCol w="1051560"/>
                <a:gridCol w="914400"/>
                <a:gridCol w="914400"/>
                <a:gridCol w="944575"/>
              </a:tblGrid>
              <a:tr h="0">
                <a:tc>
                  <a:txBody>
                    <a:bodyPr/>
                    <a:lstStyle/>
                    <a:p>
                      <a:pPr algn="l" indent="0" marL="0">
                        <a:buNone/>
                      </a:pPr>
                      <a:r>
                        <a:rPr lang="en-US" sz="1100" b="1" dirty="0">
                          <a:solidFill>
                            <a:schemeClr val="accent2"/>
                          </a:solidFill>
                        </a:rPr>
                        <a:t>Volume</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ctr" indent="0" marL="0">
                        <a:buNone/>
                      </a:pPr>
                      <a:r>
                        <a:rPr lang="en-US" sz="1100" b="1" dirty="0">
                          <a:solidFill>
                            <a:schemeClr val="accent2"/>
                          </a:solidFill>
                        </a:rPr>
                        <a:t>Staff (peak FTE)</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ctr" indent="0" marL="0">
                        <a:buNone/>
                      </a:pPr>
                      <a:r>
                        <a:rPr lang="en-US" sz="1100" b="1" dirty="0">
                          <a:solidFill>
                            <a:schemeClr val="accent2"/>
                          </a:solidFill>
                        </a:rPr>
                        <a:t>Reach trucks</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ctr" indent="0" marL="0">
                        <a:buNone/>
                      </a:pPr>
                      <a:r>
                        <a:rPr lang="en-US" sz="1100" b="1" dirty="0">
                          <a:solidFill>
                            <a:schemeClr val="accent2"/>
                          </a:solidFill>
                        </a:rPr>
                        <a:t>Pallet trucks</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c>
                  <a:txBody>
                    <a:bodyPr/>
                    <a:lstStyle/>
                    <a:p>
                      <a:pPr algn="ctr" indent="0" marL="0">
                        <a:buNone/>
                      </a:pPr>
                      <a:r>
                        <a:rPr lang="en-US" sz="1100" b="1" dirty="0">
                          <a:solidFill>
                            <a:schemeClr val="accent2"/>
                          </a:solidFill>
                        </a:rPr>
                        <a:t>Out doors</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0B1F33"/>
                      </a:solidFill>
                      <a:prstDash val="solid"/>
                      <a:round/>
                      <a:headEnd type="none" w="med" len="med"/>
                      <a:tailEnd type="none" w="med" len="med"/>
                    </a:lnB>
                  </a:tcPr>
                </a:tc>
              </a:tr>
              <a:tr h="0">
                <a:tc>
                  <a:txBody>
                    <a:bodyPr/>
                    <a:lstStyle/>
                    <a:p>
                      <a:pPr indent="0" marL="0">
                        <a:buNone/>
                      </a:pPr>
                      <a:r>
                        <a:rPr lang="en-US" sz="1200" b="1" dirty="0">
                          <a:solidFill>
                            <a:schemeClr val="tx1"/>
                          </a:solidFill>
                        </a:rPr>
                        <a:t>100%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8.7</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2</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3</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0">
                <a:tc>
                  <a:txBody>
                    <a:bodyPr/>
                    <a:lstStyle/>
                    <a:p>
                      <a:pPr indent="0" marL="0">
                        <a:buNone/>
                      </a:pPr>
                      <a:r>
                        <a:rPr lang="en-US" sz="1200" b="1" dirty="0">
                          <a:solidFill>
                            <a:schemeClr val="tx1"/>
                          </a:solidFill>
                        </a:rPr>
                        <a:t>150%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13.1</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3</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5</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0">
                <a:tc>
                  <a:txBody>
                    <a:bodyPr/>
                    <a:lstStyle/>
                    <a:p>
                      <a:pPr indent="0" marL="0">
                        <a:buNone/>
                      </a:pPr>
                      <a:r>
                        <a:rPr lang="en-US" sz="1200" b="1" dirty="0">
                          <a:solidFill>
                            <a:schemeClr val="tx1"/>
                          </a:solidFill>
                        </a:rPr>
                        <a:t>200%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17.5</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5</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b="1" dirty="0">
                          <a:solidFill>
                            <a:schemeClr val="accent5"/>
                          </a:solidFill>
                        </a:rPr>
                        <a:t>7</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r h="0">
                <a:tc>
                  <a:txBody>
                    <a:bodyPr/>
                    <a:lstStyle/>
                    <a:p>
                      <a:pPr indent="0" marL="0">
                        <a:buNone/>
                      </a:pPr>
                      <a:r>
                        <a:rPr lang="en-US" sz="1200" b="1" dirty="0">
                          <a:solidFill>
                            <a:schemeClr val="tx1"/>
                          </a:solidFill>
                        </a:rPr>
                        <a:t>250%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21.8</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dirty="0">
                          <a:solidFill>
                            <a:schemeClr val="tx1"/>
                          </a:solidFill>
                        </a:rPr>
                        <a:t>6</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c>
                  <a:txBody>
                    <a:bodyPr/>
                    <a:lstStyle/>
                    <a:p>
                      <a:pPr algn="ctr" indent="0" marL="0">
                        <a:buNone/>
                      </a:pPr>
                      <a:r>
                        <a:rPr lang="en-US" sz="1200" b="1" dirty="0">
                          <a:solidFill>
                            <a:schemeClr val="accent5"/>
                          </a:solidFill>
                        </a:rPr>
                        <a:t>8</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DE3"/>
                      </a:solidFill>
                      <a:prstDash val="solid"/>
                      <a:round/>
                      <a:headEnd type="none" w="med" len="med"/>
                      <a:tailEnd type="none" w="med" len="med"/>
                    </a:lnB>
                  </a:tcPr>
                </a:tc>
              </a:tr>
            </a:tbl>
          </a:graphicData>
        </a:graphic>
      </p:graphicFrame>
      <p:sp>
        <p:nvSpPr>
          <p:cNvPr id="10" name="Text 6"/>
          <p:cNvSpPr txBox="1"/>
          <p:nvPr/>
        </p:nvSpPr>
        <p:spPr>
          <a:xfrm>
            <a:off x="6949440" y="3977640"/>
            <a:ext cx="4693615" cy="548640"/>
          </a:xfrm>
          <a:prstGeom prst="rect">
            <a:avLst/>
          </a:prstGeom>
          <a:noFill/>
          <a:ln/>
        </p:spPr>
        <p:txBody>
          <a:bodyPr wrap="square" lIns="0" tIns="0" rIns="0" bIns="0" rtlCol="0" anchor="t"/>
          <a:lstStyle/>
          <a:p>
            <a:pPr indent="0" marL="0">
              <a:buNone/>
            </a:pPr>
            <a:r>
              <a:rPr lang="en-US" sz="1100" dirty="0">
                <a:solidFill>
                  <a:schemeClr val="accent2"/>
                </a:solidFill>
              </a:rPr>
              <a:t>Doors needed in the busiest hour; the design has 5 outbound doors. Above that, more time slots spread the trailers over the day.</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SOURCES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200" dirty="0">
                <a:solidFill>
                  <a:schemeClr val="tx2"/>
                </a:solidFill>
              </a:rPr>
              <a:t>Sources</a:t>
            </a:r>
            <a:endParaRPr lang="en-US" sz="2200" dirty="0"/>
          </a:p>
        </p:txBody>
      </p:sp>
      <p:sp>
        <p:nvSpPr>
          <p:cNvPr id="4" name="Text 0"/>
          <p:cNvSpPr/>
          <p:nvPr>
            <p:ph idx="102" type="body" hasCustomPrompt="1"/>
          </p:nvPr>
        </p:nvSpPr>
        <p:spPr>
          <a:xfrm>
            <a:off x="548640" y="6400800"/>
            <a:ext cx="8778240" cy="365760"/>
          </a:xfrm>
          <a:prstGeom prst="rect">
            <a:avLst/>
          </a:prstGeom>
          <a:noFill/>
          <a:ln/>
        </p:spPr>
        <p:txBody>
          <a:bodyPr wrap="square" lIns="0" tIns="0" rIns="0" bIns="0" rtlCol="0" anchor="t"/>
          <a:lstStyle/>
          <a:p>
            <a:pPr indent="0" marL="0">
              <a:buNone/>
            </a:pPr>
            <a:r>
              <a:rPr lang="en-US" sz="900" dirty="0">
                <a:solidFill>
                  <a:schemeClr val="accent2"/>
                </a:solidFill>
              </a:rPr>
              <a:t>References in APA 7th edition. Personal communications are cited in the text only.</a:t>
            </a:r>
            <a:endParaRPr lang="en-US" sz="900" dirty="0"/>
          </a:p>
        </p:txBody>
      </p:sp>
      <p:sp>
        <p:nvSpPr>
          <p:cNvPr id="5" name="Text 3"/>
          <p:cNvSpPr txBox="1"/>
          <p:nvPr/>
        </p:nvSpPr>
        <p:spPr>
          <a:xfrm>
            <a:off x="548640" y="1645920"/>
            <a:ext cx="11094415" cy="452628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Assa Abloy, &amp; DHL Supply Chain. (2025). </a:t>
            </a:r>
            <a:pPr indent="0" marL="0">
              <a:spcAft>
                <a:spcPts val="500"/>
              </a:spcAft>
              <a:buNone/>
            </a:pPr>
            <a:r>
              <a:rPr lang="en-US" sz="1100" i="1" dirty="0">
                <a:solidFill>
                  <a:schemeClr val="tx1"/>
                </a:solidFill>
              </a:rPr>
              <a:t>Assa Abloy storage details (1 April, 1 May and 1 June 2025) and outbound details (April–June 2025)</a:t>
            </a:r>
            <a:pPr indent="0" marL="0">
              <a:spcAft>
                <a:spcPts val="500"/>
              </a:spcAft>
              <a:buNone/>
            </a:pPr>
            <a:r>
              <a:rPr lang="en-US" sz="1100" dirty="0">
                <a:solidFill>
                  <a:schemeClr val="tx1"/>
                </a:solidFill>
              </a:rPr>
              <a:t> [Unpublished raw data]. DHL Supply Chain, Bemmel.</a:t>
            </a:r>
            <a:endParaRPr lang="en-US" sz="1100" dirty="0"/>
          </a:p>
          <a:p>
            <a:pPr indent="0" marL="0">
              <a:spcAft>
                <a:spcPts val="500"/>
              </a:spcAft>
              <a:buNone/>
            </a:pPr>
            <a:r>
              <a:rPr lang="en-US" sz="1100" dirty="0">
                <a:solidFill>
                  <a:schemeClr val="tx1"/>
                </a:solidFill>
              </a:rPr>
              <a:t>de Koster, R., Le-Duc, T., &amp; Roodbergen, K. J. (2007). Design and control of warehouse order picking: A literature review. </a:t>
            </a:r>
            <a:pPr indent="0" marL="0">
              <a:spcAft>
                <a:spcPts val="500"/>
              </a:spcAft>
              <a:buNone/>
            </a:pPr>
            <a:r>
              <a:rPr lang="en-US" sz="1100" i="1" dirty="0">
                <a:solidFill>
                  <a:schemeClr val="tx1"/>
                </a:solidFill>
              </a:rPr>
              <a:t>European Journal of Operational Research, 182</a:t>
            </a:r>
            <a:pPr indent="0" marL="0">
              <a:spcAft>
                <a:spcPts val="500"/>
              </a:spcAft>
              <a:buNone/>
            </a:pPr>
            <a:r>
              <a:rPr lang="en-US" sz="1100" dirty="0">
                <a:solidFill>
                  <a:schemeClr val="tx1"/>
                </a:solidFill>
              </a:rPr>
              <a:t>(2), 481–501. https://doi.org/10.1016/j.ejor.2006.07.009</a:t>
            </a:r>
            <a:endParaRPr lang="en-US" sz="1100" dirty="0"/>
          </a:p>
          <a:p>
            <a:pPr indent="0" marL="0">
              <a:spcAft>
                <a:spcPts val="500"/>
              </a:spcAft>
              <a:buNone/>
            </a:pPr>
            <a:r>
              <a:rPr lang="en-US" sz="1100" dirty="0">
                <a:solidFill>
                  <a:schemeClr val="tx1"/>
                </a:solidFill>
              </a:rPr>
              <a:t>Extensiv. (n.d.). </a:t>
            </a:r>
            <a:pPr indent="0" marL="0">
              <a:spcAft>
                <a:spcPts val="500"/>
              </a:spcAft>
              <a:buNone/>
            </a:pPr>
            <a:r>
              <a:rPr lang="en-US" sz="1100" i="1" dirty="0">
                <a:solidFill>
                  <a:schemeClr val="tx1"/>
                </a:solidFill>
              </a:rPr>
              <a:t>3PL fulfillment KPIs: Formulas &amp; benchmarks</a:t>
            </a:r>
            <a:pPr indent="0" marL="0">
              <a:spcAft>
                <a:spcPts val="500"/>
              </a:spcAft>
              <a:buNone/>
            </a:pPr>
            <a:r>
              <a:rPr lang="en-US" sz="1100" dirty="0">
                <a:solidFill>
                  <a:schemeClr val="tx1"/>
                </a:solidFill>
              </a:rPr>
              <a:t>. Retrieved October 18, 2026, from https://www.extensiv.com/blog/3pl-fulfillment-kpis-formulas-benchmarks</a:t>
            </a:r>
            <a:endParaRPr lang="en-US" sz="1100" dirty="0"/>
          </a:p>
          <a:p>
            <a:pPr indent="0" marL="0">
              <a:spcAft>
                <a:spcPts val="500"/>
              </a:spcAft>
              <a:buNone/>
            </a:pPr>
            <a:r>
              <a:rPr lang="en-US" sz="1100" dirty="0">
                <a:solidFill>
                  <a:schemeClr val="tx1"/>
                </a:solidFill>
              </a:rPr>
              <a:t>HAN University of Applied Sciences. (2026a). [Lecture slides on warehouse design, layouts, storage and order-picking systems, week 3]. OPERMB04 Operations Management. Unpublished course material.</a:t>
            </a:r>
            <a:endParaRPr lang="en-US" sz="1100" dirty="0"/>
          </a:p>
          <a:p>
            <a:pPr indent="0" marL="0">
              <a:spcAft>
                <a:spcPts val="500"/>
              </a:spcAft>
              <a:buNone/>
            </a:pPr>
            <a:r>
              <a:rPr lang="en-US" sz="1100" dirty="0">
                <a:solidFill>
                  <a:schemeClr val="tx1"/>
                </a:solidFill>
              </a:rPr>
              <a:t>HAN University of Applied Sciences. (2026b). </a:t>
            </a:r>
            <a:pPr indent="0" marL="0">
              <a:spcAft>
                <a:spcPts val="500"/>
              </a:spcAft>
              <a:buNone/>
            </a:pPr>
            <a:r>
              <a:rPr lang="en-US" sz="1100" i="1" dirty="0">
                <a:solidFill>
                  <a:schemeClr val="tx1"/>
                </a:solidFill>
              </a:rPr>
              <a:t>Project DHL on the move: Project OTM</a:t>
            </a:r>
            <a:pPr indent="0" marL="0">
              <a:spcAft>
                <a:spcPts val="500"/>
              </a:spcAft>
              <a:buNone/>
            </a:pPr>
            <a:r>
              <a:rPr lang="en-US" sz="1100" dirty="0">
                <a:solidFill>
                  <a:schemeClr val="tx1"/>
                </a:solidFill>
              </a:rPr>
              <a:t> [Unpublished project brief]. OPERMB04 Operations Management.</a:t>
            </a:r>
            <a:endParaRPr lang="en-US" sz="1100" dirty="0"/>
          </a:p>
          <a:p>
            <a:pPr indent="0" marL="0">
              <a:spcAft>
                <a:spcPts val="500"/>
              </a:spcAft>
              <a:buNone/>
            </a:pPr>
            <a:r>
              <a:rPr lang="en-US" sz="1100" dirty="0">
                <a:solidFill>
                  <a:schemeClr val="tx1"/>
                </a:solidFill>
              </a:rPr>
              <a:t>IndexBox. (n.d.). </a:t>
            </a:r>
            <a:pPr indent="0" marL="0">
              <a:spcAft>
                <a:spcPts val="500"/>
              </a:spcAft>
              <a:buNone/>
            </a:pPr>
            <a:r>
              <a:rPr lang="en-US" sz="1100" i="1" dirty="0">
                <a:solidFill>
                  <a:schemeClr val="tx1"/>
                </a:solidFill>
              </a:rPr>
              <a:t>European Union: Metal racks market analysis, forecast, size, trends and insights</a:t>
            </a:r>
            <a:pPr indent="0" marL="0">
              <a:spcAft>
                <a:spcPts val="500"/>
              </a:spcAft>
              <a:buNone/>
            </a:pPr>
            <a:r>
              <a:rPr lang="en-US" sz="1100" dirty="0">
                <a:solidFill>
                  <a:schemeClr val="tx1"/>
                </a:solidFill>
              </a:rPr>
              <a:t>. Retrieved October 18, 2026, from https://www.indexbox.io/store/european-union-metal-racks-market-analysis-forecast-size-trends-and-insights/</a:t>
            </a:r>
            <a:endParaRPr lang="en-US" sz="1100" dirty="0"/>
          </a:p>
          <a:p>
            <a:pPr indent="0" marL="0">
              <a:spcAft>
                <a:spcPts val="500"/>
              </a:spcAft>
              <a:buNone/>
            </a:pPr>
            <a:r>
              <a:rPr lang="en-US" sz="1100" dirty="0">
                <a:solidFill>
                  <a:schemeClr val="tx1"/>
                </a:solidFill>
              </a:rPr>
              <a:t>Jungheinrich. (n.d.-a). </a:t>
            </a:r>
            <a:pPr indent="0" marL="0">
              <a:spcAft>
                <a:spcPts val="500"/>
              </a:spcAft>
              <a:buNone/>
            </a:pPr>
            <a:r>
              <a:rPr lang="en-US" sz="1100" i="1" dirty="0">
                <a:solidFill>
                  <a:schemeClr val="tx1"/>
                </a:solidFill>
              </a:rPr>
              <a:t>EJE 120i: Technical data (JEHN0398)</a:t>
            </a:r>
            <a:pPr indent="0" marL="0">
              <a:spcAft>
                <a:spcPts val="500"/>
              </a:spcAft>
              <a:buNone/>
            </a:pPr>
            <a:r>
              <a:rPr lang="en-US" sz="1100" dirty="0">
                <a:solidFill>
                  <a:schemeClr val="tx1"/>
                </a:solidFill>
              </a:rPr>
              <a:t> [Data sheet]. Logisnext Americas. Retrieved October 14, 2026, from https://www.logisnextamericas.com/globalassets/migration-blocks/jungheinrich/product-listing/pallet-trucks/eje-120-225/jehn0398---eje-120i-spec-sheet.pdf</a:t>
            </a:r>
            <a:endParaRPr lang="en-US" sz="1100" dirty="0"/>
          </a:p>
          <a:p>
            <a:pPr indent="0" marL="0">
              <a:spcAft>
                <a:spcPts val="500"/>
              </a:spcAft>
              <a:buNone/>
            </a:pPr>
            <a:r>
              <a:rPr lang="en-US" sz="1100" dirty="0">
                <a:solidFill>
                  <a:schemeClr val="tx1"/>
                </a:solidFill>
              </a:rPr>
              <a:t>Jungheinrich. (n.d.-b). </a:t>
            </a:r>
            <a:pPr indent="0" marL="0">
              <a:spcAft>
                <a:spcPts val="500"/>
              </a:spcAft>
              <a:buNone/>
            </a:pPr>
            <a:r>
              <a:rPr lang="en-US" sz="1100" i="1" dirty="0">
                <a:solidFill>
                  <a:schemeClr val="tx1"/>
                </a:solidFill>
              </a:rPr>
              <a:t>ERE 225 rider pallet truck</a:t>
            </a:r>
            <a:pPr indent="0" marL="0">
              <a:spcAft>
                <a:spcPts val="500"/>
              </a:spcAft>
              <a:buNone/>
            </a:pPr>
            <a:r>
              <a:rPr lang="en-US" sz="1100" dirty="0">
                <a:solidFill>
                  <a:schemeClr val="tx1"/>
                </a:solidFill>
              </a:rPr>
              <a:t> [Product listing]. Retrieved October 7, 2026, from https://www.shop.jungheinrich.co.uk/en/ere-225---98280668</a:t>
            </a:r>
            <a:endParaRPr lang="en-US" sz="1100" dirty="0"/>
          </a:p>
          <a:p>
            <a:pPr indent="0" marL="0">
              <a:spcAft>
                <a:spcPts val="500"/>
              </a:spcAft>
              <a:buNone/>
            </a:pPr>
            <a:r>
              <a:rPr lang="en-US" sz="1100" dirty="0">
                <a:solidFill>
                  <a:schemeClr val="tx1"/>
                </a:solidFill>
              </a:rPr>
              <a:t>Jungheinrich. (2019). </a:t>
            </a:r>
            <a:pPr indent="0" marL="0">
              <a:spcAft>
                <a:spcPts val="500"/>
              </a:spcAft>
              <a:buNone/>
            </a:pPr>
            <a:r>
              <a:rPr lang="en-US" sz="1100" i="1" dirty="0">
                <a:solidFill>
                  <a:schemeClr val="tx1"/>
                </a:solidFill>
              </a:rPr>
              <a:t>ETV 216i: Technical data</a:t>
            </a:r>
            <a:pPr indent="0" marL="0">
              <a:spcAft>
                <a:spcPts val="500"/>
              </a:spcAft>
              <a:buNone/>
            </a:pPr>
            <a:r>
              <a:rPr lang="en-US" sz="1100" dirty="0">
                <a:solidFill>
                  <a:schemeClr val="tx1"/>
                </a:solidFill>
              </a:rPr>
              <a:t> [Data sheet]. Retrieved October 7, 2026, from https://www.fallsway.com/hubfs/Fallsway_January2022/Pdf/jungheinrich-ii-etv-216i-spec-sheet-english.pdf</a:t>
            </a:r>
            <a:endParaRPr lang="en-US" sz="1100" dirty="0"/>
          </a:p>
          <a:p>
            <a:pPr indent="0" marL="0">
              <a:spcAft>
                <a:spcPts val="500"/>
              </a:spcAft>
              <a:buNone/>
            </a:pPr>
            <a:r>
              <a:rPr lang="en-US" sz="1100" dirty="0">
                <a:solidFill>
                  <a:schemeClr val="tx1"/>
                </a:solidFill>
              </a:rPr>
              <a:t>Slack, N., Brandon-Jones, A., &amp; Burgess, N. (2022). </a:t>
            </a:r>
            <a:pPr indent="0" marL="0">
              <a:spcAft>
                <a:spcPts val="500"/>
              </a:spcAft>
              <a:buNone/>
            </a:pPr>
            <a:r>
              <a:rPr lang="en-US" sz="1100" i="1" dirty="0">
                <a:solidFill>
                  <a:schemeClr val="tx1"/>
                </a:solidFill>
              </a:rPr>
              <a:t>Operations management</a:t>
            </a:r>
            <a:pPr indent="0" marL="0">
              <a:spcAft>
                <a:spcPts val="500"/>
              </a:spcAft>
              <a:buNone/>
            </a:pPr>
            <a:r>
              <a:rPr lang="en-US" sz="1100" dirty="0">
                <a:solidFill>
                  <a:schemeClr val="tx1"/>
                </a:solidFill>
              </a:rPr>
              <a:t> (10th ed.). Pearson.</a:t>
            </a:r>
            <a:endParaRPr lang="en-US" sz="1100" dirty="0"/>
          </a:p>
          <a:p>
            <a:pPr indent="0" marL="0">
              <a:spcAft>
                <a:spcPts val="500"/>
              </a:spcAft>
              <a:buNone/>
            </a:pPr>
            <a:r>
              <a:rPr lang="en-US" sz="1100" dirty="0">
                <a:solidFill>
                  <a:schemeClr val="tx1"/>
                </a:solidFill>
              </a:rPr>
              <a:t>T-Racking. (n.d.). </a:t>
            </a:r>
            <a:pPr indent="0" marL="0">
              <a:spcAft>
                <a:spcPts val="500"/>
              </a:spcAft>
              <a:buNone/>
            </a:pPr>
            <a:r>
              <a:rPr lang="en-US" sz="1100" i="1" dirty="0">
                <a:solidFill>
                  <a:schemeClr val="tx1"/>
                </a:solidFill>
              </a:rPr>
              <a:t>How much does pallet racking cost?</a:t>
            </a:r>
            <a:pPr indent="0" marL="0">
              <a:spcAft>
                <a:spcPts val="500"/>
              </a:spcAft>
              <a:buNone/>
            </a:pPr>
            <a:r>
              <a:rPr lang="en-US" sz="1100" dirty="0">
                <a:solidFill>
                  <a:schemeClr val="tx1"/>
                </a:solidFill>
              </a:rPr>
              <a:t> Retrieved October 18, 2026, from https://t-racking.com/how-much-does-pallet-racking-cost</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4A5563"/>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Project OTM">
  <a:themeElements>
    <a:clrScheme name="Project OTM">
      <a:dk1>
        <a:srgbClr val="1F2933"/>
      </a:dk1>
      <a:lt1>
        <a:srgbClr val="FFFFFF"/>
      </a:lt1>
      <a:dk2>
        <a:srgbClr val="0B1F33"/>
      </a:dk2>
      <a:lt2>
        <a:srgbClr val="F2F4F6"/>
      </a:lt2>
      <a:accent1>
        <a:srgbClr val="00857C"/>
      </a:accent1>
      <a:accent2>
        <a:srgbClr val="4A5563"/>
      </a:accent2>
      <a:accent3>
        <a:srgbClr val="9AA5B1"/>
      </a:accent3>
      <a:accent4>
        <a:srgbClr val="D9DDE3"/>
      </a:accent4>
      <a:accent5>
        <a:srgbClr val="D9480F"/>
      </a:accent5>
      <a:accent6>
        <a:srgbClr val="7FC4BE"/>
      </a:accent6>
      <a:hlink>
        <a:srgbClr val="00857C"/>
      </a:hlink>
      <a:folHlink>
        <a:srgbClr val="4A5563"/>
      </a:folHlink>
    </a:clrScheme>
    <a:fontScheme name="Project OT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HAN University of Applied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OTM - final presentation, Group 3</dc:title>
  <dc:subject>Redesign of the Assa Abloy warehouse operated by DHL Supply Chain in Bemmel</dc:subject>
  <dc:creator>Group 3: Vidhi, Gleb, Arnau, Rachel Selvarathnam</dc:creator>
  <cp:lastModifiedBy>Group 3: Vidhi, Gleb, Arnau, Rachel Selvarathnam</cp:lastModifiedBy>
  <cp:revision>1</cp:revision>
  <dcterms:created xsi:type="dcterms:W3CDTF">2026-10-24T15:40:08Z</dcterms:created>
  <dcterms:modified xsi:type="dcterms:W3CDTF">2026-10-24T15:40:08Z</dcterms:modified>
</cp:coreProperties>
</file>