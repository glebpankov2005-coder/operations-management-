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6.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4cc1d32b-a088-aae6-ebd6-ba676f973ae5}">
          <p14:sldIdLst>
            <p14:sldId id="256"/>
            <p14:sldId id="257"/>
            <p14:sldId id="258"/>
          </p14:sldIdLst>
        </p14:section>
        <p14:section name="Today" id="{daad75ba-8684-dcd8-d6e7-159ff325533c}">
          <p14:sldIdLst>
            <p14:sldId id="259"/>
          </p14:sldIdLst>
        </p14:section>
        <p14:section name="Our solution" id="{d202ae73-18a2-a332-de3f-b3307d201bb9}">
          <p14:sldIdLst>
            <p14:sldId id="260"/>
          </p14:sldIdLst>
        </p14:section>
        <p14:section name="Processes" id="{e9459f9e-766b-5d19-bd4a-043d6c000cb7}">
          <p14:sldIdLst>
            <p14:sldId id="261"/>
            <p14:sldId id="262"/>
            <p14:sldId id="263"/>
            <p14:sldId id="264"/>
          </p14:sldIdLst>
        </p14:section>
        <p14:section name="Value for DHL" id="{19075c95-e5c1-4521-4ea6-0aef85472a56}">
          <p14:sldIdLst>
            <p14:sldId id="265"/>
          </p14:sldIdLst>
        </p14:section>
        <p14:section name="Roadmap" id="{246cff86-c73d-5c54-eb9b-bd954b3a8b58}">
          <p14:sldIdLst>
            <p14:sldId id="266"/>
            <p14:sldId id="267"/>
          </p14:sldIdLst>
        </p14:section>
        <p14:section name="Appendix: calculations" id="{169f7665-f439-0ab3-46de-14c6b655235e}">
          <p14:sldIdLst>
            <p14:sldId id="268"/>
            <p14:sldId id="269"/>
            <p14:sldId id="270"/>
            <p14:sldId id="271"/>
            <p14:sldId id="272"/>
            <p14:sldId id="273"/>
          </p14:sldIdLst>
        </p14:section>
        <p14:section name="Appendix" id="{878e3075-f9c6-f500-ca01-82aff038fa0d}">
          <p14:sldIdLst>
            <p14:sldId id="274"/>
            <p14:sldId id="275"/>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Orders arriving</c:v>
                </c:pt>
              </c:strCache>
            </c:strRef>
          </c:tx>
          <c:spPr>
            <a:solidFill>
              <a:srgbClr val="A6A6A6"/>
            </a:solidFill>
            <a:effectLst/>
          </c:spPr>
          <c:invertIfNegative val="0"/>
          <c:dLbls>
            <c:numFmt formatCode="#,##0" sourceLinked="0"/>
            <c:txPr>
              <a:bodyPr/>
              <a:lstStyle/>
              <a:p>
                <a:pPr>
                  <a:defRPr b="0" i="0" strike="noStrike" sz="1200" u="none">
                    <a:solidFill>
                      <a:srgbClr val="1A1A1A"/>
                    </a:solidFill>
                    <a:latin typeface="+mn-lt"/>
                  </a:defRPr>
                </a:pPr>
              </a:p>
            </c:txPr>
            <c:showLegendKey val="0"/>
            <c:showVal val="0"/>
            <c:showCatName val="0"/>
            <c:showSerName val="0"/>
            <c:showPercent val="0"/>
            <c:showBubbleSize val="0"/>
            <c:showLeaderLines val="0"/>
          </c:dLbls>
          <c:cat>
            <c:multiLvlStrRef>
              <c:f>Sheet1!$A$2:$A$14</c:f>
              <c:multiLvlStrCache>
                <c:ptCount val="13"/>
                <c:lvl>
                  <c:pt idx="0">
                    <c:v>06</c:v>
                  </c:pt>
                  <c:pt idx="1">
                    <c:v>07</c:v>
                  </c:pt>
                  <c:pt idx="2">
                    <c:v>08</c:v>
                  </c:pt>
                  <c:pt idx="3">
                    <c:v>09</c:v>
                  </c:pt>
                  <c:pt idx="4">
                    <c:v>10</c:v>
                  </c:pt>
                  <c:pt idx="5">
                    <c:v>11</c:v>
                  </c:pt>
                  <c:pt idx="6">
                    <c:v>12</c:v>
                  </c:pt>
                  <c:pt idx="7">
                    <c:v>13</c:v>
                  </c:pt>
                  <c:pt idx="8">
                    <c:v>14</c:v>
                  </c:pt>
                  <c:pt idx="9">
                    <c:v>15</c:v>
                  </c:pt>
                  <c:pt idx="10">
                    <c:v>16</c:v>
                  </c:pt>
                  <c:pt idx="11">
                    <c:v>17</c:v>
                  </c:pt>
                  <c:pt idx="12">
                    <c:v>18</c:v>
                  </c:pt>
                </c:lvl>
              </c:multiLvlStrCache>
            </c:multiLvlStrRef>
          </c:cat>
          <c:val>
            <c:numRef>
              <c:f>Sheet1!$B$2:$B$14</c:f>
              <c:numCache>
                <c:formatCode>General</c:formatCode>
                <c:ptCount val="13"/>
                <c:pt idx="0">
                  <c:v>0.5</c:v>
                </c:pt>
                <c:pt idx="1">
                  <c:v>0.7</c:v>
                </c:pt>
                <c:pt idx="2">
                  <c:v>6.7</c:v>
                </c:pt>
                <c:pt idx="3">
                  <c:v>7.6</c:v>
                </c:pt>
                <c:pt idx="4">
                  <c:v>8.8</c:v>
                </c:pt>
                <c:pt idx="5">
                  <c:v>7.6</c:v>
                </c:pt>
                <c:pt idx="6">
                  <c:v>5.3</c:v>
                </c:pt>
                <c:pt idx="7">
                  <c:v>1.9</c:v>
                </c:pt>
                <c:pt idx="8">
                  <c:v>5.3</c:v>
                </c:pt>
                <c:pt idx="9">
                  <c:v>19.8</c:v>
                </c:pt>
                <c:pt idx="10">
                  <c:v>35.3</c:v>
                </c:pt>
                <c:pt idx="11">
                  <c:v>0.2</c:v>
                </c:pt>
                <c:pt idx="12">
                  <c:v>0</c:v>
                </c:pt>
              </c:numCache>
            </c:numRef>
          </c:val>
        </c:ser>
        <c:dLbls>
          <c:numFmt formatCode="#,##0" sourceLinked="0"/>
          <c:txPr>
            <a:bodyPr/>
            <a:lstStyle/>
            <a:p>
              <a:pPr>
                <a:defRPr b="0" i="0" strike="noStrike" sz="1200" u="none">
                  <a:solidFill>
                    <a:srgbClr val="1A1A1A"/>
                  </a:solidFill>
                  <a:latin typeface="+mn-lt"/>
                </a:defRPr>
              </a:pPr>
            </a:p>
          </c:txPr>
          <c:showLegendKey val="0"/>
          <c:showVal val="0"/>
          <c:showCatName val="0"/>
          <c:showSerName val="0"/>
          <c:showPercent val="0"/>
          <c:showBubbleSize val="0"/>
          <c:showLeaderLines val="0"/>
        </c:dLbls>
        <c:gapWidth val="35"/>
        <c:overlap val="0"/>
        <c:axId val="2094734554"/>
        <c:axId val="2094734552"/>
        <c:axId val="2094734556"/>
      </c:barChart>
      <c:lineChart>
        <c:varyColors val="0"/>
        <c:ser>
          <c:idx val="1"/>
          <c:order val="1"/>
          <c:tx>
            <c:strRef>
              <c:f>Sheet1!$C$1</c:f>
              <c:strCache>
                <c:ptCount val="1"/>
                <c:pt idx="0">
                  <c:v>Lines picked</c:v>
                </c:pt>
              </c:strCache>
            </c:strRef>
          </c:tx>
          <c:spPr>
            <a:solidFill>
              <a:srgbClr val="D40511"/>
            </a:solidFill>
            <a:ln w="38100" cap="flat">
              <a:solidFill>
                <a:srgbClr val="D40511"/>
              </a:solidFill>
              <a:prstDash val="solid"/>
              <a:round/>
            </a:ln>
            <a:effectLst/>
          </c:spPr>
          <c:invertIfNegative val="0"/>
          <c:dLbls>
            <c:numFmt formatCode="#,##0" sourceLinked="0"/>
            <c:txPr>
              <a:bodyPr/>
              <a:lstStyle/>
              <a:p>
                <a:pPr>
                  <a:defRPr b="0" i="0" strike="noStrike" sz="1200" u="none">
                    <a:solidFill>
                      <a:srgbClr val="1A1A1A"/>
                    </a:solidFill>
                    <a:latin typeface="+mn-lt"/>
                  </a:defRPr>
                </a:pPr>
              </a:p>
            </c:txPr>
            <c:showLegendKey val="0"/>
            <c:showVal val="0"/>
            <c:showCatName val="0"/>
            <c:showSerName val="0"/>
            <c:showPercent val="0"/>
            <c:showBubbleSize val="0"/>
            <c:showLeaderLines val="0"/>
          </c:dLbls>
          <c:marker>
            <c:symbol val="circle"/>
            <c:size val="7"/>
            <c:spPr>
              <a:solidFill>
                <a:srgbClr val="D40511"/>
              </a:solidFill>
              <a:ln w="9525" cap="flat">
                <a:solidFill>
                  <a:srgbClr val="D40511"/>
                </a:solidFill>
                <a:prstDash val="solid"/>
                <a:round/>
              </a:ln>
              <a:effectLst/>
            </c:spPr>
          </c:marker>
          <c:cat>
            <c:multiLvlStrRef>
              <c:f>Sheet1!$A$2:$A$14</c:f>
              <c:multiLvlStrCache>
                <c:ptCount val="13"/>
                <c:lvl>
                  <c:pt idx="0">
                    <c:v>06</c:v>
                  </c:pt>
                  <c:pt idx="1">
                    <c:v>07</c:v>
                  </c:pt>
                  <c:pt idx="2">
                    <c:v>08</c:v>
                  </c:pt>
                  <c:pt idx="3">
                    <c:v>09</c:v>
                  </c:pt>
                  <c:pt idx="4">
                    <c:v>10</c:v>
                  </c:pt>
                  <c:pt idx="5">
                    <c:v>11</c:v>
                  </c:pt>
                  <c:pt idx="6">
                    <c:v>12</c:v>
                  </c:pt>
                  <c:pt idx="7">
                    <c:v>13</c:v>
                  </c:pt>
                  <c:pt idx="8">
                    <c:v>14</c:v>
                  </c:pt>
                  <c:pt idx="9">
                    <c:v>15</c:v>
                  </c:pt>
                  <c:pt idx="10">
                    <c:v>16</c:v>
                  </c:pt>
                  <c:pt idx="11">
                    <c:v>17</c:v>
                  </c:pt>
                  <c:pt idx="12">
                    <c:v>18</c:v>
                  </c:pt>
                </c:lvl>
              </c:multiLvlStrCache>
            </c:multiLvlStrRef>
          </c:cat>
          <c:val>
            <c:numRef>
              <c:f>Sheet1!$C$2:$C$14</c:f>
              <c:numCache>
                <c:formatCode>General</c:formatCode>
                <c:ptCount val="13"/>
                <c:pt idx="0">
                  <c:v>7.1</c:v>
                </c:pt>
                <c:pt idx="1">
                  <c:v>11</c:v>
                </c:pt>
                <c:pt idx="2">
                  <c:v>14</c:v>
                </c:pt>
                <c:pt idx="3">
                  <c:v>12.4</c:v>
                </c:pt>
                <c:pt idx="4">
                  <c:v>10.6</c:v>
                </c:pt>
                <c:pt idx="5">
                  <c:v>8.7</c:v>
                </c:pt>
                <c:pt idx="6">
                  <c:v>12.3</c:v>
                </c:pt>
                <c:pt idx="7">
                  <c:v>10.7</c:v>
                </c:pt>
                <c:pt idx="8">
                  <c:v>9.2</c:v>
                </c:pt>
                <c:pt idx="9">
                  <c:v>3.8</c:v>
                </c:pt>
                <c:pt idx="10">
                  <c:v>0.2</c:v>
                </c:pt>
                <c:pt idx="11">
                  <c:v>0</c:v>
                </c:pt>
                <c:pt idx="12">
                  <c:v>0</c:v>
                </c:pt>
              </c:numCache>
            </c:numRef>
          </c:val>
          <c:smooth val="0"/>
        </c:ser>
        <c:dLbls>
          <c:numFmt formatCode="#,##0" sourceLinked="0"/>
          <c:txPr>
            <a:bodyPr/>
            <a:lstStyle/>
            <a:p>
              <a:pPr>
                <a:defRPr b="0" i="0" strike="noStrike" sz="12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95959"/>
                    </a:solidFill>
                    <a:latin typeface="+mn-lt"/>
                  </a:defRPr>
                </a:pPr>
                <a:r>
                  <a:rPr sz="1100" b="0" i="0" u="none" strike="noStrike">
                    <a:solidFill>
                      <a:srgbClr val="595959"/>
                    </a:solidFill>
                    <a:latin typeface="+mn-lt"/>
                  </a:rPr>
                  <a:t>hour of the day</a:t>
                </a:r>
              </a:p>
            </c:rich>
          </c:tx>
          <c:layout/>
          <c:overlay val="0"/>
        </c:title>
        <c:numFmt formatCode="General" sourceLinked="1"/>
        <c:majorTickMark val="out"/>
        <c:minorTickMark val="none"/>
        <c:tickLblPos val="low"/>
        <c:spPr>
          <a:ln w="12700" cap="flat">
            <a:solidFill>
              <a:srgbClr val="A6A6A6"/>
            </a:solidFill>
            <a:prstDash val="solid"/>
            <a:round/>
          </a:ln>
        </c:spPr>
        <c:txPr>
          <a:bodyPr/>
          <a:lstStyle/>
          <a:p>
            <a:pPr>
              <a:defRPr sz="12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E6E6E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Pallet places</c:v>
                </c:pt>
              </c:strCache>
            </c:strRef>
          </c:tx>
          <c:spPr>
            <a:solidFill>
              <a:srgbClr val="A6A6A6"/>
            </a:solidFill>
            <a:effectLst/>
          </c:spPr>
          <c:invertIfNegative val="0"/>
          <c:dLbls>
            <c:numFmt formatCode="#,##0" sourceLinked="0"/>
            <c:txPr>
              <a:bodyPr/>
              <a:lstStyle/>
              <a:p>
                <a:pPr>
                  <a:defRPr b="1" i="0" strike="noStrike" sz="14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A6A6A6"/>
              </a:solidFill>
              <a:effectLst/>
            </c:spPr>
          </c:dPt>
          <c:dPt>
            <c:idx val="1"/>
            <c:invertIfNegative val="0"/>
            <c:bubble3D val="0"/>
            <c:spPr>
              <a:solidFill>
                <a:srgbClr val="D40511"/>
              </a:solidFill>
              <a:effectLst/>
            </c:spPr>
          </c:dPt>
          <c:dPt>
            <c:idx val="2"/>
            <c:invertIfNegative val="0"/>
            <c:bubble3D val="0"/>
            <c:spPr>
              <a:solidFill>
                <a:srgbClr val="262626"/>
              </a:solidFill>
              <a:effectLst/>
            </c:spPr>
          </c:dPt>
          <c:cat>
            <c:multiLvlStrRef>
              <c:f>Sheet1!$A$2:$A$4</c:f>
              <c:multiLvlStrCache>
                <c:ptCount val="3"/>
                <c:lvl>
                  <c:pt idx="0">
                    <c:v>Occupied today (measured)</c:v>
                  </c:pt>
                  <c:pt idx="1">
                    <c:v>Needed in our design</c:v>
                  </c:pt>
                  <c:pt idx="2">
                    <c:v>Rack places in our design</c:v>
                  </c:pt>
                </c:lvl>
              </c:multiLvlStrCache>
            </c:multiLvlStrRef>
          </c:cat>
          <c:val>
            <c:numRef>
              <c:f>Sheet1!$B$2:$B$4</c:f>
              <c:numCache>
                <c:formatCode>General</c:formatCode>
                <c:ptCount val="3"/>
                <c:pt idx="0">
                  <c:v>8512</c:v>
                </c:pt>
                <c:pt idx="1">
                  <c:v>7507</c:v>
                </c:pt>
                <c:pt idx="2">
                  <c:v>8960</c:v>
                </c:pt>
              </c:numCache>
            </c:numRef>
          </c:val>
        </c:ser>
        <c:dLbls>
          <c:numFmt formatCode="#,##0" sourceLinked="0"/>
          <c:txPr>
            <a:bodyPr/>
            <a:lstStyle/>
            <a:p>
              <a:pPr>
                <a:defRPr b="1" i="0" strike="noStrike" sz="1400" u="none">
                  <a:solidFill>
                    <a:srgbClr val="1A1A1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6A6A6"/>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10500"/>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Picking work</c:v>
                </c:pt>
              </c:strCache>
            </c:strRef>
          </c:tx>
          <c:spPr>
            <a:solidFill>
              <a:srgbClr val="262626"/>
            </a:solidFill>
            <a:effectLst/>
          </c:spPr>
          <c:invertIfNegative val="0"/>
          <c:dLbls>
            <c:numFmt formatCode="0.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Today: 31.1 h</c:v>
                  </c:pt>
                  <c:pt idx="1">
                    <c:v>Our design: 11.7 h</c:v>
                  </c:pt>
                </c:lvl>
              </c:multiLvlStrCache>
            </c:multiLvlStrRef>
          </c:cat>
          <c:val>
            <c:numRef>
              <c:f>Sheet1!$B$2:$B$3</c:f>
              <c:numCache>
                <c:formatCode>General</c:formatCode>
                <c:ptCount val="2"/>
                <c:pt idx="0">
                  <c:v>23.773</c:v>
                </c:pt>
                <c:pt idx="1">
                  <c:v>11.7</c:v>
                </c:pt>
              </c:numCache>
            </c:numRef>
          </c:val>
        </c:ser>
        <c:ser>
          <c:idx val="1"/>
          <c:order val="1"/>
          <c:tx>
            <c:strRef>
              <c:f>Sheet1!$C$1</c:f>
              <c:strCache>
                <c:ptCount val="1"/>
                <c:pt idx="0">
                  <c:v>Extra staff for the 08:00 peak</c:v>
                </c:pt>
              </c:strCache>
            </c:strRef>
          </c:tx>
          <c:spPr>
            <a:solidFill>
              <a:srgbClr val="D40511"/>
            </a:solidFill>
            <a:effectLst/>
          </c:spPr>
          <c:invertIfNegative val="0"/>
          <c:dLbls>
            <c:numFmt formatCode="0.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Today: 31.1 h</c:v>
                  </c:pt>
                  <c:pt idx="1">
                    <c:v>Our design: 11.7 h</c:v>
                  </c:pt>
                </c:lvl>
              </c:multiLvlStrCache>
            </c:multiLvlStrRef>
          </c:cat>
          <c:val>
            <c:numRef>
              <c:f>Sheet1!$C$2:$C$3</c:f>
              <c:numCache>
                <c:formatCode>General</c:formatCode>
                <c:ptCount val="2"/>
                <c:pt idx="0">
                  <c:v>7.370000000000001</c:v>
                </c:pt>
                <c:pt idx="1">
                  <c:v>0</c:v>
                </c:pt>
              </c:numCache>
            </c:numRef>
          </c:val>
        </c:ser>
        <c:dLbls>
          <c:numFmt formatCode="0.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6A6A6"/>
            </a:solidFill>
            <a:prstDash val="solid"/>
            <a:round/>
          </a:ln>
        </c:spPr>
        <c:txPr>
          <a:bodyPr/>
          <a:lstStyle/>
          <a:p>
            <a:pPr>
              <a:defRPr sz="13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c:v>
                </c:pt>
              </c:strCache>
            </c:strRef>
          </c:tx>
          <c:spPr>
            <a:solidFill>
              <a:srgbClr val="A6A6A6"/>
            </a:solidFill>
            <a:effectLst/>
          </c:spPr>
          <c:invertIfNegative val="0"/>
          <c:dLbls>
            <c:numFmt formatCode="0&quot;%&quot;" sourceLinked="0"/>
            <c:txPr>
              <a:bodyPr/>
              <a:lstStyle/>
              <a:p>
                <a:pPr>
                  <a:defRPr b="1" i="0" strike="noStrike" sz="1300" u="none">
                    <a:solidFill>
                      <a:srgbClr val="1A1A1A"/>
                    </a:solidFill>
                    <a:latin typeface="+mn-lt"/>
                  </a:defRPr>
                </a:pPr>
              </a:p>
            </c:txPr>
            <c:showLegendKey val="0"/>
            <c:showVal val="1"/>
            <c:showCatName val="0"/>
            <c:showSerName val="0"/>
            <c:showPercent val="0"/>
            <c:showBubbleSize val="0"/>
            <c:showLeaderLines val="0"/>
          </c:dLbls>
          <c:cat>
            <c:multiLvlStrRef>
              <c:f>Sheet1!$A$2:$A$3</c:f>
              <c:multiLvlStrCache>
                <c:ptCount val="2"/>
                <c:lvl>
                  <c:pt idx="0">
                    <c:v>Orders out within 24 h (design: modelled)</c:v>
                  </c:pt>
                  <c:pt idx="1">
                    <c:v>Lines staged on time (design: target)</c:v>
                  </c:pt>
                </c:lvl>
              </c:multiLvlStrCache>
            </c:multiLvlStrRef>
          </c:cat>
          <c:val>
            <c:numRef>
              <c:f>Sheet1!$B$2:$B$3</c:f>
              <c:numCache>
                <c:formatCode>General</c:formatCode>
                <c:ptCount val="2"/>
                <c:pt idx="0">
                  <c:v>37</c:v>
                </c:pt>
                <c:pt idx="1">
                  <c:v>49.9</c:v>
                </c:pt>
              </c:numCache>
            </c:numRef>
          </c:val>
        </c:ser>
        <c:ser>
          <c:idx val="1"/>
          <c:order val="1"/>
          <c:tx>
            <c:strRef>
              <c:f>Sheet1!$C$1</c:f>
              <c:strCache>
                <c:ptCount val="1"/>
                <c:pt idx="0">
                  <c:v>Our design</c:v>
                </c:pt>
              </c:strCache>
            </c:strRef>
          </c:tx>
          <c:spPr>
            <a:solidFill>
              <a:srgbClr val="D40511"/>
            </a:solidFill>
            <a:effectLst/>
          </c:spPr>
          <c:invertIfNegative val="0"/>
          <c:dLbls>
            <c:numFmt formatCode="0&quot;%&quot;" sourceLinked="0"/>
            <c:txPr>
              <a:bodyPr/>
              <a:lstStyle/>
              <a:p>
                <a:pPr>
                  <a:defRPr b="1" i="0" strike="noStrike" sz="1300" u="none">
                    <a:solidFill>
                      <a:srgbClr val="1A1A1A"/>
                    </a:solidFill>
                    <a:latin typeface="+mn-lt"/>
                  </a:defRPr>
                </a:pPr>
              </a:p>
            </c:txPr>
            <c:showLegendKey val="0"/>
            <c:showVal val="1"/>
            <c:showCatName val="0"/>
            <c:showSerName val="0"/>
            <c:showPercent val="0"/>
            <c:showBubbleSize val="0"/>
            <c:showLeaderLines val="0"/>
          </c:dLbls>
          <c:cat>
            <c:multiLvlStrRef>
              <c:f>Sheet1!$A$2:$A$3</c:f>
              <c:multiLvlStrCache>
                <c:ptCount val="2"/>
                <c:lvl>
                  <c:pt idx="0">
                    <c:v>Orders out within 24 h (design: modelled)</c:v>
                  </c:pt>
                  <c:pt idx="1">
                    <c:v>Lines staged on time (design: target)</c:v>
                  </c:pt>
                </c:lvl>
              </c:multiLvlStrCache>
            </c:multiLvlStrRef>
          </c:cat>
          <c:val>
            <c:numRef>
              <c:f>Sheet1!$C$2:$C$3</c:f>
              <c:numCache>
                <c:formatCode>General</c:formatCode>
                <c:ptCount val="2"/>
                <c:pt idx="0">
                  <c:v>65</c:v>
                </c:pt>
                <c:pt idx="1">
                  <c:v>98</c:v>
                </c:pt>
              </c:numCache>
            </c:numRef>
          </c:val>
        </c:ser>
        <c:dLbls>
          <c:numFmt formatCode="0&quot;%&quot;" sourceLinked="0"/>
          <c:txPr>
            <a:bodyPr/>
            <a:lstStyle/>
            <a:p>
              <a:pPr>
                <a:defRPr b="1" i="0" strike="noStrike" sz="13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6A6A6"/>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118"/>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Investment</c:v>
                </c:pt>
              </c:strCache>
            </c:strRef>
          </c:tx>
          <c:spPr>
            <a:solidFill>
              <a:srgbClr val="D40511"/>
            </a:solidFill>
            <a:effectLst/>
          </c:spPr>
          <c:invertIfNegative val="0"/>
          <c:dLbls>
            <c:numFmt formatCode="&quot;€&quot;0.00&quot;M&quot;"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D40511"/>
              </a:solidFill>
              <a:effectLst/>
            </c:spPr>
          </c:dPt>
          <c:dPt>
            <c:idx val="1"/>
            <c:invertIfNegative val="0"/>
            <c:bubble3D val="0"/>
            <c:spPr>
              <a:solidFill>
                <a:srgbClr val="A6A6A6"/>
              </a:solidFill>
              <a:effectLst/>
            </c:spPr>
          </c:dPt>
          <c:dPt>
            <c:idx val="2"/>
            <c:invertIfNegative val="0"/>
            <c:bubble3D val="0"/>
            <c:spPr>
              <a:solidFill>
                <a:srgbClr val="A6A6A6"/>
              </a:solidFill>
              <a:effectLst/>
            </c:spPr>
          </c:dPt>
          <c:cat>
            <c:multiLvlStrRef>
              <c:f>Sheet1!$A$2:$A$4</c:f>
              <c:multiLvlStrCache>
                <c:ptCount val="3"/>
                <c:lvl>
                  <c:pt idx="0">
                    <c:v>Process changes only · 1.6 yrs</c:v>
                  </c:pt>
                  <c:pt idx="1">
                    <c:v>Full design, re-using racks · 5 yrs</c:v>
                  </c:pt>
                  <c:pt idx="2">
                    <c:v>Full design, new racks · 16 yrs</c:v>
                  </c:pt>
                </c:lvl>
              </c:multiLvlStrCache>
            </c:multiLvlStrRef>
          </c:cat>
          <c:val>
            <c:numRef>
              <c:f>Sheet1!$B$2:$B$4</c:f>
              <c:numCache>
                <c:formatCode>General</c:formatCode>
                <c:ptCount val="3"/>
                <c:pt idx="0">
                  <c:v>0.16</c:v>
                </c:pt>
                <c:pt idx="1">
                  <c:v>0.52</c:v>
                </c:pt>
                <c:pt idx="2">
                  <c:v>1.63</c:v>
                </c:pt>
              </c:numCache>
            </c:numRef>
          </c:val>
        </c:ser>
        <c:dLbls>
          <c:numFmt formatCode="&quot;€&quot;0.00&quot;M&quot;"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A6A6A6"/>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2.1"/>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CAPEX</c:v>
                </c:pt>
              </c:strCache>
            </c:strRef>
          </c:tx>
          <c:spPr>
            <a:solidFill>
              <a:srgbClr val="262626"/>
            </a:solidFill>
            <a:effectLst/>
          </c:spPr>
          <c:invertIfNegative val="0"/>
          <c:dLbls>
            <c:numFmt formatCode="&quot;€&quot;#,##0&quot;k&quot;"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262626"/>
              </a:solidFill>
              <a:effectLst/>
            </c:spPr>
          </c:dPt>
          <c:dPt>
            <c:idx val="1"/>
            <c:invertIfNegative val="0"/>
            <c:bubble3D val="0"/>
            <c:spPr>
              <a:solidFill>
                <a:srgbClr val="A6A6A6"/>
              </a:solidFill>
              <a:effectLst/>
            </c:spPr>
          </c:dPt>
          <c:dPt>
            <c:idx val="2"/>
            <c:invertIfNegative val="0"/>
            <c:bubble3D val="0"/>
            <c:spPr>
              <a:solidFill>
                <a:srgbClr val="A6A6A6"/>
              </a:solidFill>
              <a:effectLst/>
            </c:spPr>
          </c:dPt>
          <c:dPt>
            <c:idx val="3"/>
            <c:invertIfNegative val="0"/>
            <c:bubble3D val="0"/>
            <c:spPr>
              <a:solidFill>
                <a:srgbClr val="A6A6A6"/>
              </a:solidFill>
              <a:effectLst/>
            </c:spPr>
          </c:dPt>
          <c:dPt>
            <c:idx val="4"/>
            <c:invertIfNegative val="0"/>
            <c:bubble3D val="0"/>
            <c:spPr>
              <a:solidFill>
                <a:srgbClr val="A6A6A6"/>
              </a:solidFill>
              <a:effectLst/>
            </c:spPr>
          </c:dPt>
          <c:dPt>
            <c:idx val="5"/>
            <c:invertIfNegative val="0"/>
            <c:bubble3D val="0"/>
            <c:spPr>
              <a:solidFill>
                <a:srgbClr val="A6A6A6"/>
              </a:solidFill>
              <a:effectLst/>
            </c:spPr>
          </c:dPt>
          <c:dPt>
            <c:idx val="6"/>
            <c:invertIfNegative val="0"/>
            <c:bubble3D val="0"/>
            <c:spPr>
              <a:solidFill>
                <a:srgbClr val="A6A6A6"/>
              </a:solidFill>
              <a:effectLst/>
            </c:spPr>
          </c:dPt>
          <c:dPt>
            <c:idx val="7"/>
            <c:invertIfNegative val="0"/>
            <c:bubble3D val="0"/>
            <c:spPr>
              <a:solidFill>
                <a:srgbClr val="A6A6A6"/>
              </a:solidFill>
              <a:effectLst/>
            </c:spPr>
          </c:dPt>
          <c:cat>
            <c:multiLvlStrRef>
              <c:f>Sheet1!$A$2:$A$9</c:f>
              <c:multiLvlStrCache>
                <c:ptCount val="8"/>
                <c:lvl>
                  <c:pt idx="0">
                    <c:v>Storage racks</c:v>
                  </c:pt>
                  <c:pt idx="1">
                    <c:v>Contingency</c:v>
                  </c:pt>
                  <c:pt idx="2">
                    <c:v>Small-item storage</c:v>
                  </c:pt>
                  <c:pt idx="3">
                    <c:v>Picking</c:v>
                  </c:pt>
                  <c:pt idx="4">
                    <c:v>Sorting &amp; packing</c:v>
                  </c:pt>
                  <c:pt idx="5">
                    <c:v>IT</c:v>
                  </c:pt>
                  <c:pt idx="6">
                    <c:v>One-off (moving, training)</c:v>
                  </c:pt>
                  <c:pt idx="7">
                    <c:v>Container zone</c:v>
                  </c:pt>
                </c:lvl>
              </c:multiLvlStrCache>
            </c:multiLvlStrRef>
          </c:cat>
          <c:val>
            <c:numRef>
              <c:f>Sheet1!$B$2:$B$9</c:f>
              <c:numCache>
                <c:formatCode>General</c:formatCode>
                <c:ptCount val="8"/>
                <c:pt idx="0">
                  <c:v>1233</c:v>
                </c:pt>
                <c:pt idx="1">
                  <c:v>148</c:v>
                </c:pt>
                <c:pt idx="2">
                  <c:v>69</c:v>
                </c:pt>
                <c:pt idx="3">
                  <c:v>66</c:v>
                </c:pt>
                <c:pt idx="4">
                  <c:v>50</c:v>
                </c:pt>
                <c:pt idx="5">
                  <c:v>46</c:v>
                </c:pt>
                <c:pt idx="6">
                  <c:v>11</c:v>
                </c:pt>
                <c:pt idx="7">
                  <c:v>6</c:v>
                </c:pt>
              </c:numCache>
            </c:numRef>
          </c:val>
        </c:ser>
        <c:dLbls>
          <c:numFmt formatCode="&quot;€&quot;#,##0&quot;k&quot;"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A6A6A6"/>
            </a:solidFill>
            <a:prstDash val="solid"/>
            <a:round/>
          </a:ln>
        </c:spPr>
        <c:txPr>
          <a:bodyPr/>
          <a:lstStyle/>
          <a:p>
            <a:pPr>
              <a:defRPr sz="12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1500"/>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Gleb (Storage)  ·  about 0:15
Good morning. We are Group 3. Over the last weeks we redesigned the Assa Abloy warehouse that DHL runs in Bemmel. Each of us owns one process — Vidhi receiving, me storage, Arnau picking and Rachel shipping — and each of us presents their own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Gleb (Storage)  ·  about 0:50
Our answer first. Today about 640 order lines a day go out, but all orders are released at once in the evening, so the floor is overloaded at eight in the morning and only half of the lines are staged on time. We redesigned the warehouse around the flow: a fast-pick area for the best-sellers, batch picking, a put-to-light wall and three waves planned backwards from fixed trailer departures. For DHL that means 65% of orders out within 24 hours instead of 37%, about 12 instead of 31 picker-hours a day, and it all fits in the current building. Arnau first shows where these numbers come from.
IF ASKED HOW WE CALCULATED IT: Every number on this slide is calculated step by step on the appendix slides 'How we calculated' — storage, picking, service, money, running cost and receiving.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Arnau (Picking)  ·  about 0:45
Before the results, where do our numbers come from? First, data: the warehouse system's own records for April to June 2025 — 39,069 order lines, three stock snapshots and the trailer times. Second, assumptions: where the data has no answer, for example how many seconds a pick takes or what an hour of labour costs, we wrote the assumption down with its source — 46 of them. Third, models: simple calculations on the same data. For example, we re-timed all 8,774 real orders with our new wave plan. Fourth, checks: we compare today and the design on the same orders, and we tested the biggest uncertainties. On every slide we show the calculation at the bottom, and the appendix has every step.
IF ASKED HOW WE CALCULATED IT: Assumptions: 46 in data/assumptions.json, each with a reason, a source and an impact rating. Sensitivity: labour rate €20–28/h changes the yearly cost by €86k.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Arnau (Picking)  ·  about 1:30
This chart is the core of the problem. The grey bars show when orders arrive: 55% come in between three and five in the afternoon. They are all released in one go in the evening, so the red line — picking — peaks at eight the next morning. For DHL this costs on three fronts. Service: only 49.9% of lines are staged on time and 37% of orders leave within 24 hours — both measured in the data. Cost: about 31 picker-hours a day, which we modelled. Space: the racks are almost full. The cause is the way work is released and picked, so that is what our design changes. Vidhi shows the solution.
IF ASKED HOW WE CALCULATED IT: On time: 49.9% of the 39,069 order lines are not flagged 'LATE' in the WMS (the definition is assumption A005, to confirm with DHL). Within 24 h: for each order, trailer dispatch time minus order arrival time. Picker-hours: we timed every order as its own tour, with picks spread over all aisles — 23.77 hours — and multiplied by 1.31, the 08:00 hour divided by the average picking hour, because staff is planned for the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Vidhi (Receiving)  ·  about 1:30
This is our layout, drawn to scale, with the route of one order line. Goods come in on the west wall: pallet trailers at doors R2 and R3, and loose containers at R1. The reach truck puts the pallets away in single-deep racks and refills the fast-pick row along the south wall from behind. Pickers work that row and bring the goods to packing, and orders wait in the lane of their shipping door on the east wall. Everything moves one way. It uses 96% of the 7,000 square metres, so no extra building is needed. We chose this from three options; full automation scored almost as high (3.70) but costs more and copes less well with two-metre items.
IF ASKED HOW WE CALCULATED IT: Area: we measured every zone on the to-scale drawing and added them up — 6,731 m², 96% of 7,000. Places: counted on the drawing, 7,776 standard, 864 odd-size and 320 long-goods places. Option score: each option scored 1 to 5 on seven criteria, multiplied by the weight of the criterion and added up — B 3.75, C 3.70, A 3.05 (appendix 'Option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Vidhi (Receiving)  ·  about 1:30
Receiving handles about 99 loads a day, and 41% come loose in containers from Asia. The key idea is to keep the two apart. Pallet trailers dock at R2 and R3: pallets go into a lane, are checked and scanned at the bench, and the reach truck collects them — letters A to D. Containers dock at R1: cartons roll out on a conveyor and two people build 12 pallets at once, one per item — F to I. On the few big-container days we lend half of the R2 area, so 97% of containers fit. A pallet trailer is in stock in about 1.5 hours, well inside the 3.5-hour benchmark. Gleb takes over from the pick-up point.
IF ASKED HOW WE CALCULATED IT: Loads a day: in each of the three stock snapshots we counted the loads booked in during the 14 days before it and divided by the receiving days — 70.9, 108.2, 117.6 — and took the average, 98.9. It is a lower bound, because loads already shipped out are not visible. Container time: 20 minutes docking and paperwork plus 3 hours unpacking by two people, an assumption (A019). Dock-to-stock: 20 minutes plus 58.3 pallets times 1.19 minutes, because two reach trucks put away in parallel at 2.38 minutes each. Zone fit: for each of the 568 containers in the data, conveyor lane 24 m² plus 3 m² per item plus 1.9 m² per pallet plus 16 m² wrap-and-label, plus 30% walkways, compared with 190 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Gleb (Storage)  ·  about 1:30
Storage keeps every pallet and keeps the pick faces full. At the June peak 8,512 pallet places were in use. We move 2,657 small, slow items to bin shelving, which frees 1,005 places, so the design needs 7,507 of its 8,960 places — 84% full. All racks are single-deep, so every pallet can be reached without moving another. The fast-pick area is refilled from behind, so reach trucks and pickers never share an aisle — good for safety. The risk for DHL: stock grew about 16% in one quarter, so at that rate the racks are full in about 4 months. Clearing dead stock with Assa Abloy is the first lever; a 12th rack module is kept in reserve.
IF ASKED HOW WE CALCULATED IT: Occupied places come straight from the three stock snapshots: 7,715, 8,149, 8,512. Freed places: rack places that hold only small, slow items — whole stock up to 50 litres, each item up to 20 litres, 15 kg and 60 cm, class C. Growth: 8,512 divided by 7,715 is the growth over two months; to the power 1.5 turns it into a quarter: 15.9%. Months until full: how many quarters of that growth fit between 7,507 and 8,960 — the natural log of the ratio divided by the natural log of 1.159, times 3 months: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Arnau (Picking)  ·  about 1:30
Today picking is the biggest block of labour. In our model it takes about 31.1 picker-hours a day: 23.8 hours of work, because every tour picks one order across the whole building, plus 7.4 hours of extra staff for the eight o'clock peak. Our design needs 11.7 hours. Orders are split by size: 84% are small and go on a trolley, large ones go straight onto a pallet. The 1,409 best-sellers sit in the fast-pick area, where 71% of lines are picked. One tour picks for many orders, and the put-to-light wall sorts them and checks every item, which protects accuracy. And work is released in three waves, so the morning peak disappears. These times are modelled, so we propose a time study before go-live.
IF ASKED HOW WE CALCULATED IT: One formula for every tour: set-up time, plus walking distance divided by walking speed, plus lines times seconds per line, plus 10% for delays. Example, a fast-pick tour: 30.7 lines and 123 metres — 90 seconds plus 123 ÷ 0.8 plus 30.7 × 25 seconds, times 1.1, is 18.5 minutes, so 99 lines an hour. 188 lines a day ÷ 99 = 1.9 hours. The same for the reserve (1.0 h), large orders (6.9 h) and small parts (1.9 h): 11.7 hours. Today uses the same formula, but one order per tour (2.4 lines for a small order) with picks spread over all aisles: 23.77 hours, times 1.31 for peak staffing.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Rachel (Shipping)  ·  about 1:30
Shipping turns the whole day into one plan. Each carrier gets fixed departure slots and a door — 14 trailers a day — and the waves are planned backwards from those times, so every wave ends at least 45 minutes before its trailers leave. Orders that arrive before noon go in the third wave and leave the same day. The effect: 65% of orders leave within 24 hours instead of 37%, and the slowest ten percent drop from 102 to 70 hours. The yard calms down too: today up to 15 trailers stand parked; with time slots at most 4 of the 5 doors are busy at once.
IF ASKED HOW WE CALCULATED IT: We took all 8,774 real orders from the data and gave each one a new departure time: its wave depends on when it arrived (after noon it goes in wave 1 the next working morning), then 45 minutes for packing after the wave ends, then the first departure slot of its own carrier. Then we compared the new departure with the arrival time: 65% leave within 24 hours, median 22 hours. The 98% on time is not a calculation — it is the target the plan is built for, because every wave ends 45 minutes before its trailers leave. Today's 49.9% is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Rachel (Shipping)  ·  about 1:30
What does DHL get? On service, the promise to Assa Abloy is kept: a target of at least 98% of lines on time and 65% of orders out within 24 hours. On cost, about 12 picker-hours a day instead of 31, which saves about €101k a year, and a cost of €3.09 per order line that DHL can use in pricing. Reach trucks and pickers never share an aisle, and volume can grow by half with one extra reach truck and one extra pallet truck, through the same doors. On the right, three ways to invest. The process changes alone cost €0.16M and pay back in about 1.6 years. The full design costs €0.52M if today's racks can be re-used, or €1.63M with new racks, which pays back much more slowly. These are benchmark prices, not quotes.
IF ASKED HOW WE CALCULATED IT: Saving: 12.073 hours a day from batching and the fast-pick area plus 7.370 hours from no peak staffing = 19.443 hours. Divided by 7.5 productive hours and times 8 paid hours, times 244 working days = 5,060.4 paid hours a year, times €20 = €101,208. Process investment: carton flow, shelves, trolleys, totes, put-to-light wall, WMS set-up and scanners = €142,462, plus 10% contingency = €156,708. Divided by €101,208 a year = 1.55 years. Cost per line: running cost €341,548 plus depreciation €141,591 = €483,139 a year, divided by 156,160 lines a year (640 × 244).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Gleb (Storage)  ·  about 1:00
How to get there? We propose three steps. Step one changes how work flows: three waves, fixed trailer slots, slotting by demand and clearing dead stock. That needs little more than WMS settings and an agreement with the carriers, and it already removes the morning peak. Step two builds the fast-pick area and the put-to-light wall; together with step one that costs €0.16M and pays back in about 1.6 years. Step three is the racking decision, which is the big investment, so it comes last and depends on whether today's racks can be re-used. To start, we need three decisions from DHL: the 7,000 square metre scope, the carriers' acceptance of fixed slots, and the racking. Thank you — we are happy to take your questions; the appendix has every calculation step by step.
IF ASKED HOW WE CALCULATED IT: Hours per step come from the picking model: the waves remove the 7.4 hours of peak staffing; batching and the fast-pick area take the work from 23.8 to 11.7 hours, 12.1 hours less. Hours become euros as on the value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All  ·  about Q&amp;A
Each owner answers questions about their own process. The appendix starts with six 'How we calculated' slides (storage — Gleb, picking — Arnau, service and money and running cost — Rachel, receiving — Vidhi), then the four V's, the option choice, all KPIs, costs, open points, planning and control, equipment and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Gleb (Storage)  ·  about -
Use when asked how the storage need, the fill rate or the 4 months were calculated.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Arnau (Picking)  ·  about -
Use when asked how the picker-hours were calculated. The time standards are assumptions, so the honest answer is: the method is sound, the seconds per line must be measured on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Rachel (Shipping)  ·  about -
Use when asked how the 65% and the lead times were calculated, or why 98% is a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Rachel (Shipping)  ·  about -
Use when asked how the saving, the investment or the payback were calculated. Prices are benchmarks with a low-high range in the cost register, not supplier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Rachel (Shipping)  ·  about -
Use when asked how the running cost or the cost per order line were calculated. Labour is the biggest part; €20 per hour is the teacher's figure, €28 the high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Vidhi (Receiving)  ·  about -
Use when asked how the loads per day, the container time, dock-to-stock or the door numbers were calculated. The 3 hours unpacking is an assumption to confirm with DHL.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Appendix  ·  about -
Use if asked what kind of operation this is (four V's, Slack et 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Appendix  ·  about -
Use if asked why not more automation, or how the option was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Appendix  ·  about -
Use if asked how the design is measured, or who owns which KPI.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Appendix  ·  about -
Use if asked for the cost breakdown.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Appendix  ·  about -
Use if asked about risks or what happens before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Appendix  ·  about -
Use if asked how the design is planned and controlled day to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Appendix  ·  about -
Use if asked about equipment, utilisation or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Appendix  ·  about -
All sources used on the slides; the full list is in the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6"/>
        </a:solidFill>
      </p:bgPr>
    </p:bg>
    <p:spTree>
      <p:nvGrpSpPr>
        <p:cNvPr id="1" name=""/>
        <p:cNvGrpSpPr/>
        <p:nvPr/>
      </p:nvGrpSpPr>
      <p:grpSpPr>
        <a:xfrm>
          <a:off x="0" y="0"/>
          <a:ext cx="0" cy="0"/>
          <a:chOff x="0" y="0"/>
          <a:chExt cx="0" cy="0"/>
        </a:xfrm>
      </p:grpSpPr>
      <p:pic>
        <p:nvPicPr>
          <p:cNvPr id="2" name="Image 0" descr="/home/user/operations-management-/outputs/figures/deck/dhl_logo.png">    </p:cNvPr>
          <p:cNvPicPr>
            <a:picLocks noChangeAspect="1"/>
          </p:cNvPicPr>
          <p:nvPr/>
        </p:nvPicPr>
        <p:blipFill>
          <a:blip r:embed="rId1"/>
          <a:stretch>
            <a:fillRect/>
          </a:stretch>
        </p:blipFill>
        <p:spPr>
          <a:xfrm>
            <a:off x="731520" y="502920"/>
            <a:ext cx="1828800" cy="1158498"/>
          </a:xfrm>
          <a:prstGeom prst="rect">
            <a:avLst/>
          </a:prstGeom>
        </p:spPr>
      </p:pic>
      <p:sp>
        <p:nvSpPr>
          <p:cNvPr id="3" name="Text 0"/>
          <p:cNvSpPr/>
          <p:nvPr>
            <p:ph idx="101" type="body" hasCustomPrompt="1"/>
          </p:nvPr>
        </p:nvSpPr>
        <p:spPr>
          <a:xfrm>
            <a:off x="731520" y="1874520"/>
            <a:ext cx="10058400" cy="36576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4" name="Text 0"/>
          <p:cNvSpPr/>
          <p:nvPr>
            <p:ph idx="102" type="title" hasCustomPrompt="1"/>
          </p:nvPr>
        </p:nvSpPr>
        <p:spPr>
          <a:xfrm>
            <a:off x="731520" y="2331720"/>
            <a:ext cx="10424160" cy="160020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5" name="Text 0"/>
          <p:cNvSpPr/>
          <p:nvPr>
            <p:ph idx="103" type="body" hasCustomPrompt="1"/>
          </p:nvPr>
        </p:nvSpPr>
        <p:spPr>
          <a:xfrm>
            <a:off x="731520" y="3977640"/>
            <a:ext cx="9692640" cy="777240"/>
          </a:xfrm>
          <a:prstGeom prst="rect">
            <a:avLst/>
          </a:prstGeom>
          <a:noFill/>
          <a:ln/>
        </p:spPr>
        <p:txBody>
          <a:bodyPr wrap="square" rtlCol="0"/>
          <a:lstStyle>
            <a:lvl1pPr indent="0" marL="0">
              <a:buNone/>
              <a:defRPr lang="en-US" sz="1800" dirty="0">
                <a:solidFill>
                  <a:schemeClr val="tx2"/>
                </a:solidFill>
              </a:defRPr>
            </a:lvl1pPr>
          </a:lstStyle>
          <a:p>
            <a:pPr indent="0" marL="0">
              <a:buNone/>
            </a:pPr>
            <a:endParaRPr lang="en-US" sz="1800" dirty="0"/>
          </a:p>
        </p:txBody>
      </p:sp>
      <p:sp>
        <p:nvSpPr>
          <p:cNvPr id="6" name="Text 0"/>
          <p:cNvSpPr/>
          <p:nvPr>
            <p:ph idx="104" type="body" hasCustomPrompt="1"/>
          </p:nvPr>
        </p:nvSpPr>
        <p:spPr>
          <a:xfrm>
            <a:off x="731520" y="5486400"/>
            <a:ext cx="10698480" cy="731520"/>
          </a:xfrm>
          <a:prstGeom prst="rect">
            <a:avLst/>
          </a:prstGeom>
          <a:noFill/>
          <a:ln/>
        </p:spPr>
        <p:txBody>
          <a:bodyPr wrap="square" rtlCol="0"/>
          <a:lstStyle>
            <a:lvl1pPr indent="0" marL="0">
              <a:buNone/>
              <a:defRPr lang="en-US" sz="1200" dirty="0">
                <a:solidFill>
                  <a:schemeClr val="tx2"/>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rtlCol="0"/>
          <a:lstStyle>
            <a:lvl1pPr indent="0" marL="0">
              <a:buNone/>
              <a:defRPr lang="en-US" sz="900" spc="100" kern="0" dirty="0">
                <a:solidFill>
                  <a:schemeClr val="accent3"/>
                </a:solidFill>
              </a:defRPr>
            </a:lvl1pPr>
          </a:lstStyle>
          <a:p>
            <a:pPr indent="0" marL="0">
              <a:buNone/>
            </a:pP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rtlCol="0"/>
          <a:lstStyle>
            <a:lvl1pPr algn="l" indent="0" marL="0">
              <a:buNone/>
              <a:defRPr lang="en-US" sz="2000" b="1" dirty="0">
                <a:solidFill>
                  <a:schemeClr val="tx2"/>
                </a:solidFill>
              </a:defRPr>
            </a:lvl1pPr>
          </a:lstStyle>
          <a:p>
            <a:pPr algn="l" indent="0" marL="0">
              <a:buNone/>
            </a:pP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rtlCol="0"/>
          <a:lstStyle>
            <a:lvl1pPr indent="0" marL="0">
              <a:buNone/>
              <a:defRPr lang="en-US" sz="900" dirty="0">
                <a:solidFill>
                  <a:schemeClr val="accent2"/>
                </a:solidFill>
              </a:defRPr>
            </a:lvl1pPr>
          </a:lstStyle>
          <a:p>
            <a:pPr indent="0" marL="0">
              <a:buNone/>
            </a:pPr>
            <a:endParaRPr lang="en-US" sz="900" dirty="0"/>
          </a:p>
        </p:txBody>
      </p:sp>
      <p:sp>
        <p:nvSpPr>
          <p:cNvPr id="5" name="Text 0"/>
          <p:cNvSpPr/>
          <p:nvPr/>
        </p:nvSpPr>
        <p:spPr>
          <a:xfrm>
            <a:off x="8229600" y="6400800"/>
            <a:ext cx="3017520" cy="182880"/>
          </a:xfrm>
          <a:prstGeom prst="rect">
            <a:avLst/>
          </a:prstGeom>
          <a:noFill/>
          <a:ln/>
        </p:spPr>
        <p:txBody>
          <a:bodyPr wrap="square" lIns="0" tIns="0" rIns="0" bIns="0" rtlCol="0" anchor="t"/>
          <a:lstStyle/>
          <a:p>
            <a:pPr algn="r" indent="0" marL="0">
              <a:buNone/>
            </a:pPr>
            <a:r>
              <a:rPr lang="en-US" sz="900" dirty="0">
                <a:solidFill>
                  <a:schemeClr val="accent3"/>
                </a:solidFill>
              </a:rPr>
              <a:t>Group 3 · prepared for DHL Supply Chain · confidential</a:t>
            </a:r>
            <a:endParaRPr lang="en-US" sz="9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PPENDIX">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rtlCol="0"/>
          <a:lstStyle>
            <a:lvl1pPr indent="0" marL="0">
              <a:buNone/>
              <a:defRPr lang="en-US" sz="900" spc="100" kern="0" dirty="0">
                <a:solidFill>
                  <a:schemeClr val="accent3"/>
                </a:solidFill>
              </a:defRPr>
            </a:lvl1pPr>
          </a:lstStyle>
          <a:p>
            <a:pPr indent="0" marL="0">
              <a:buNone/>
            </a:pP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rtlCol="0"/>
          <a:lstStyle>
            <a:lvl1pPr algn="l" indent="0" marL="0">
              <a:buNone/>
              <a:defRPr lang="en-US" sz="2000" b="1" dirty="0">
                <a:solidFill>
                  <a:schemeClr val="tx2"/>
                </a:solidFill>
              </a:defRPr>
            </a:lvl1pPr>
          </a:lstStyle>
          <a:p>
            <a:pPr algn="l" indent="0" marL="0">
              <a:buNone/>
            </a:pP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rtlCol="0"/>
          <a:lstStyle>
            <a:lvl1pPr indent="0" marL="0">
              <a:buNone/>
              <a:defRPr lang="en-US" sz="900" dirty="0">
                <a:solidFill>
                  <a:schemeClr val="accent2"/>
                </a:solidFill>
              </a:defRPr>
            </a:lvl1pPr>
          </a:lstStyle>
          <a:p>
            <a:pPr indent="0" marL="0">
              <a:buNone/>
            </a:pPr>
            <a:endParaRPr lang="en-US" sz="900" dirty="0"/>
          </a:p>
        </p:txBody>
      </p:sp>
      <p:sp>
        <p:nvSpPr>
          <p:cNvPr id="5" name="Text 0"/>
          <p:cNvSpPr/>
          <p:nvPr/>
        </p:nvSpPr>
        <p:spPr>
          <a:xfrm>
            <a:off x="8229600" y="6400800"/>
            <a:ext cx="3017520" cy="182880"/>
          </a:xfrm>
          <a:prstGeom prst="rect">
            <a:avLst/>
          </a:prstGeom>
          <a:noFill/>
          <a:ln/>
        </p:spPr>
        <p:txBody>
          <a:bodyPr wrap="square" lIns="0" tIns="0" rIns="0" bIns="0" rtlCol="0" anchor="t"/>
          <a:lstStyle/>
          <a:p>
            <a:pPr algn="r" indent="0" marL="0">
              <a:buNone/>
            </a:pPr>
            <a:r>
              <a:rPr lang="en-US" sz="900" dirty="0">
                <a:solidFill>
                  <a:schemeClr val="accent3"/>
                </a:solidFill>
              </a:rPr>
              <a:t>Group 3 · prepared for DHL Supply Chain · confidential</a:t>
            </a:r>
            <a:endParaRPr lang="en-US" sz="900" dirty="0"/>
          </a:p>
        </p:txBody>
      </p:sp>
      <p:sp>
        <p:nvSpPr>
          <p:cNvPr id="6" name="Text 1"/>
          <p:cNvSpPr/>
          <p:nvPr/>
        </p:nvSpPr>
        <p:spPr>
          <a:xfrm>
            <a:off x="10497312" y="256032"/>
            <a:ext cx="1143000" cy="274320"/>
          </a:xfrm>
          <a:prstGeom prst="rect">
            <a:avLst/>
          </a:prstGeom>
          <a:solidFill>
            <a:schemeClr val="accent6"/>
          </a:solidFill>
          <a:ln/>
        </p:spPr>
        <p:txBody>
          <a:bodyPr wrap="square" lIns="0" tIns="0" rIns="0" bIns="0" rtlCol="0" anchor="ctr"/>
          <a:lstStyle/>
          <a:p>
            <a:pPr algn="ctr" indent="0" marL="0">
              <a:buNone/>
            </a:pPr>
            <a:r>
              <a:rPr lang="en-US" sz="900" b="1" spc="200" kern="0" dirty="0">
                <a:solidFill>
                  <a:schemeClr val="tx2"/>
                </a:solidFill>
              </a:rPr>
              <a:t>APPENDIX</a:t>
            </a:r>
            <a:endParaRPr lang="en-US" sz="9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p:bg>
      <p:bgPr>
        <a:solidFill>
          <a:schemeClr val="accent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82296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731520" y="3063240"/>
            <a:ext cx="10515600" cy="2560320"/>
          </a:xfrm>
          <a:prstGeom prst="rect">
            <a:avLst/>
          </a:prstGeom>
          <a:noFill/>
          <a:ln/>
        </p:spPr>
        <p:txBody>
          <a:bodyPr wrap="square" rtlCol="0"/>
          <a:lstStyle>
            <a:lvl1pPr indent="0" marL="0">
              <a:buNone/>
              <a:defRPr lang="en-US" sz="1600" dirty="0">
                <a:solidFill>
                  <a:schemeClr val="tx2"/>
                </a:solidFill>
              </a:defRPr>
            </a:lvl1pPr>
          </a:lstStyle>
          <a:p>
            <a:pPr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731520" y="1874520"/>
            <a:ext cx="100584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PROJECT OTM  ·  PREPARED FOR DHL SUPPLY CHAIN, BEMMEL</a:t>
            </a:r>
            <a:endParaRPr lang="en-US" sz="1200" dirty="0"/>
          </a:p>
        </p:txBody>
      </p:sp>
      <p:sp>
        <p:nvSpPr>
          <p:cNvPr id="3" name="Text 0"/>
          <p:cNvSpPr/>
          <p:nvPr>
            <p:ph idx="102" type="title" hasCustomPrompt="1"/>
          </p:nvPr>
        </p:nvSpPr>
        <p:spPr>
          <a:xfrm>
            <a:off x="731520" y="2331720"/>
            <a:ext cx="10424160" cy="1600200"/>
          </a:xfrm>
          <a:prstGeom prst="rect">
            <a:avLst/>
          </a:prstGeom>
          <a:noFill/>
          <a:ln/>
        </p:spPr>
        <p:txBody>
          <a:bodyPr wrap="square" lIns="0" tIns="0" rIns="0" bIns="0" rtlCol="0" anchor="t"/>
          <a:lstStyle/>
          <a:p>
            <a:pPr algn="l" indent="0" marL="0">
              <a:buNone/>
            </a:pPr>
            <a:r>
              <a:rPr lang="en-US" sz="3800" b="1" dirty="0">
                <a:solidFill>
                  <a:schemeClr val="tx1"/>
                </a:solidFill>
              </a:rPr>
              <a:t>A faster, leaner Assa Abloy warehouse in the same building</a:t>
            </a:r>
            <a:endParaRPr lang="en-US" sz="3800" dirty="0"/>
          </a:p>
        </p:txBody>
      </p:sp>
      <p:sp>
        <p:nvSpPr>
          <p:cNvPr id="4" name="Text 0"/>
          <p:cNvSpPr/>
          <p:nvPr>
            <p:ph idx="103" type="body" hasCustomPrompt="1"/>
          </p:nvPr>
        </p:nvSpPr>
        <p:spPr>
          <a:xfrm>
            <a:off x="731520" y="3977640"/>
            <a:ext cx="9692640" cy="777240"/>
          </a:xfrm>
          <a:prstGeom prst="rect">
            <a:avLst/>
          </a:prstGeom>
          <a:noFill/>
          <a:ln/>
        </p:spPr>
        <p:txBody>
          <a:bodyPr wrap="square" lIns="0" tIns="0" rIns="0" bIns="0" rtlCol="0" anchor="t"/>
          <a:lstStyle/>
          <a:p>
            <a:pPr indent="0" marL="0">
              <a:buNone/>
            </a:pPr>
            <a:r>
              <a:rPr lang="en-US" sz="1800" dirty="0">
                <a:solidFill>
                  <a:schemeClr val="tx2"/>
                </a:solidFill>
              </a:rPr>
              <a:t>Our redesign of receiving, storage, picking and shipping — and what it means for service, cost and growth</a:t>
            </a:r>
            <a:endParaRPr lang="en-US" sz="1800" dirty="0"/>
          </a:p>
        </p:txBody>
      </p:sp>
      <p:sp>
        <p:nvSpPr>
          <p:cNvPr id="5" name="Text 0"/>
          <p:cNvSpPr/>
          <p:nvPr>
            <p:ph idx="104" type="body" hasCustomPrompt="1"/>
          </p:nvPr>
        </p:nvSpPr>
        <p:spPr>
          <a:xfrm>
            <a:off x="731520" y="5486400"/>
            <a:ext cx="10698480" cy="731520"/>
          </a:xfrm>
          <a:prstGeom prst="rect">
            <a:avLst/>
          </a:prstGeom>
          <a:noFill/>
          <a:ln/>
        </p:spPr>
        <p:txBody>
          <a:bodyPr wrap="square" lIns="0" tIns="0" rIns="0" bIns="0" rtlCol="0" anchor="t"/>
          <a:lstStyle/>
          <a:p>
            <a:pPr indent="0" marL="0">
              <a:buNone/>
            </a:pPr>
            <a:r>
              <a:rPr lang="en-US" sz="1200" dirty="0">
                <a:solidFill>
                  <a:schemeClr val="tx2"/>
                </a:solidFill>
              </a:rPr>
              <a:t>Group 3  ·  Vidhi (Receiving)  ·  Gleb (Storage)  ·  Arnau (Picking)  ·  Rachel Selvarathnam (Shipping)</a:t>
            </a:r>
            <a:endParaRPr lang="en-US" sz="1200" dirty="0"/>
          </a:p>
          <a:p>
            <a:pPr indent="0" marL="0">
              <a:buNone/>
            </a:pPr>
            <a:r>
              <a:rPr lang="en-US" sz="1200" dirty="0">
                <a:solidFill>
                  <a:schemeClr val="tx2"/>
                </a:solidFill>
              </a:rPr>
              <a:t>HAN University of Applied Sciences, OPERMB04  ·  based on Assa Abloy warehouse data, April–June 2025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EXECUTIVE SUMMARY</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Our design lets DHL keep its promise to Assa Abloy at a lower cost: 65% of orders out within 24 hours, 62% fewer picker-hours, in the same building</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WMS data April–June 2025 (Assa Abloy &amp; DHL Supply Chain, 2025); design values modelled in Deliverables 2 and 3; all calculations step by step in the appendix</a:t>
            </a:r>
            <a:endParaRPr lang="en-US" sz="900" dirty="0"/>
          </a:p>
        </p:txBody>
      </p:sp>
      <p:sp>
        <p:nvSpPr>
          <p:cNvPr id="5" name="Owner marker"/>
          <p:cNvSpPr/>
          <p:nvPr/>
        </p:nvSpPr>
        <p:spPr>
          <a:xfrm>
            <a:off x="9098280" y="338328"/>
            <a:ext cx="118872" cy="118872"/>
          </a:xfrm>
          <a:prstGeom prst="rect">
            <a:avLst/>
          </a:prstGeom>
          <a:solidFill>
            <a:srgbClr val="1D4ED8"/>
          </a:solidFill>
          <a:ln/>
        </p:spPr>
      </p:sp>
      <p:sp>
        <p:nvSpPr>
          <p:cNvPr id="6" name="Presenter"/>
          <p:cNvSpPr txBox="1"/>
          <p:nvPr/>
        </p:nvSpPr>
        <p:spPr>
          <a:xfrm>
            <a:off x="929030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Gleb</a:t>
            </a:r>
            <a:pPr indent="0" marL="0">
              <a:buNone/>
            </a:pPr>
            <a:r>
              <a:rPr lang="en-US" sz="1000" dirty="0">
                <a:solidFill>
                  <a:schemeClr val="accent2"/>
                </a:solidFill>
              </a:rPr>
              <a:t> · presenter</a:t>
            </a:r>
            <a:endParaRPr lang="en-US" sz="1000" dirty="0"/>
          </a:p>
        </p:txBody>
      </p:sp>
      <p:sp>
        <p:nvSpPr>
          <p:cNvPr id="7" name="Shape 5"/>
          <p:cNvSpPr/>
          <p:nvPr/>
        </p:nvSpPr>
        <p:spPr>
          <a:xfrm>
            <a:off x="548640" y="1783080"/>
            <a:ext cx="7178040" cy="0"/>
          </a:xfrm>
          <a:prstGeom prst="line">
            <a:avLst/>
          </a:prstGeom>
          <a:noFill/>
          <a:ln w="9525">
            <a:solidFill>
              <a:schemeClr val="accent4"/>
            </a:solidFill>
            <a:prstDash val="solid"/>
          </a:ln>
        </p:spPr>
      </p:sp>
      <p:sp>
        <p:nvSpPr>
          <p:cNvPr id="8" name="Text 6"/>
          <p:cNvSpPr txBox="1"/>
          <p:nvPr/>
        </p:nvSpPr>
        <p:spPr>
          <a:xfrm>
            <a:off x="548640" y="1911096"/>
            <a:ext cx="1554480" cy="365760"/>
          </a:xfrm>
          <a:prstGeom prst="rect">
            <a:avLst/>
          </a:prstGeom>
          <a:noFill/>
          <a:ln/>
        </p:spPr>
        <p:txBody>
          <a:bodyPr wrap="square" lIns="0" tIns="0" rIns="0" bIns="0" rtlCol="0" anchor="t"/>
          <a:lstStyle/>
          <a:p>
            <a:pPr indent="0" marL="0">
              <a:buNone/>
            </a:pPr>
            <a:r>
              <a:rPr lang="en-US" sz="1400" b="1" dirty="0">
                <a:solidFill>
                  <a:schemeClr val="accent1"/>
                </a:solidFill>
              </a:rPr>
              <a:t>Today</a:t>
            </a:r>
            <a:endParaRPr lang="en-US" sz="1400" dirty="0"/>
          </a:p>
        </p:txBody>
      </p:sp>
      <p:sp>
        <p:nvSpPr>
          <p:cNvPr id="9" name="Text 7"/>
          <p:cNvSpPr txBox="1"/>
          <p:nvPr/>
        </p:nvSpPr>
        <p:spPr>
          <a:xfrm>
            <a:off x="2240280" y="1911096"/>
            <a:ext cx="5486400" cy="914400"/>
          </a:xfrm>
          <a:prstGeom prst="rect">
            <a:avLst/>
          </a:prstGeom>
          <a:noFill/>
          <a:ln/>
        </p:spPr>
        <p:txBody>
          <a:bodyPr wrap="square" lIns="0" tIns="0" rIns="0" bIns="0" rtlCol="0" anchor="t"/>
          <a:lstStyle/>
          <a:p>
            <a:pPr indent="0" marL="0">
              <a:buNone/>
            </a:pPr>
            <a:r>
              <a:rPr lang="en-US" sz="1300" dirty="0">
                <a:solidFill>
                  <a:schemeClr val="tx1"/>
                </a:solidFill>
              </a:rPr>
              <a:t>DHL ships ~640 order lines a day for Assa Abloy from 4,354 different items. All orders are released at once in the evening: picking peaks at 08:00, only 49.9% of lines are staged on time and 37% of orders leave within 24 hours.</a:t>
            </a:r>
            <a:endParaRPr lang="en-US" sz="1300" dirty="0"/>
          </a:p>
        </p:txBody>
      </p:sp>
      <p:sp>
        <p:nvSpPr>
          <p:cNvPr id="10" name="Shape 8"/>
          <p:cNvSpPr/>
          <p:nvPr/>
        </p:nvSpPr>
        <p:spPr>
          <a:xfrm>
            <a:off x="548640" y="2880360"/>
            <a:ext cx="7178040" cy="0"/>
          </a:xfrm>
          <a:prstGeom prst="line">
            <a:avLst/>
          </a:prstGeom>
          <a:noFill/>
          <a:ln w="9525">
            <a:solidFill>
              <a:schemeClr val="accent4"/>
            </a:solidFill>
            <a:prstDash val="solid"/>
          </a:ln>
        </p:spPr>
      </p:sp>
      <p:sp>
        <p:nvSpPr>
          <p:cNvPr id="11" name="Text 9"/>
          <p:cNvSpPr txBox="1"/>
          <p:nvPr/>
        </p:nvSpPr>
        <p:spPr>
          <a:xfrm>
            <a:off x="548640" y="3008376"/>
            <a:ext cx="1554480" cy="365760"/>
          </a:xfrm>
          <a:prstGeom prst="rect">
            <a:avLst/>
          </a:prstGeom>
          <a:noFill/>
          <a:ln/>
        </p:spPr>
        <p:txBody>
          <a:bodyPr wrap="square" lIns="0" tIns="0" rIns="0" bIns="0" rtlCol="0" anchor="t"/>
          <a:lstStyle/>
          <a:p>
            <a:pPr indent="0" marL="0">
              <a:buNone/>
            </a:pPr>
            <a:r>
              <a:rPr lang="en-US" sz="1400" b="1" dirty="0">
                <a:solidFill>
                  <a:schemeClr val="accent1"/>
                </a:solidFill>
              </a:rPr>
              <a:t>Our answer</a:t>
            </a:r>
            <a:endParaRPr lang="en-US" sz="1400" dirty="0"/>
          </a:p>
        </p:txBody>
      </p:sp>
      <p:sp>
        <p:nvSpPr>
          <p:cNvPr id="12" name="Text 10"/>
          <p:cNvSpPr txBox="1"/>
          <p:nvPr/>
        </p:nvSpPr>
        <p:spPr>
          <a:xfrm>
            <a:off x="2240280" y="3008376"/>
            <a:ext cx="5486400" cy="914400"/>
          </a:xfrm>
          <a:prstGeom prst="rect">
            <a:avLst/>
          </a:prstGeom>
          <a:noFill/>
          <a:ln/>
        </p:spPr>
        <p:txBody>
          <a:bodyPr wrap="square" lIns="0" tIns="0" rIns="0" bIns="0" rtlCol="0" anchor="t"/>
          <a:lstStyle/>
          <a:p>
            <a:pPr indent="0" marL="0">
              <a:buNone/>
            </a:pPr>
            <a:r>
              <a:rPr lang="en-US" sz="1300" dirty="0">
                <a:solidFill>
                  <a:schemeClr val="tx1"/>
                </a:solidFill>
              </a:rPr>
              <a:t>A one-way flow from dock to trailer: a fast-pick area for the 1,409 best-sellers, batch picking with a put-to-light wall, and three waves planned back from fixed trailer departures. It fits in 6,731 of the 7,000 m².</a:t>
            </a:r>
            <a:endParaRPr lang="en-US" sz="1300" dirty="0"/>
          </a:p>
        </p:txBody>
      </p:sp>
      <p:sp>
        <p:nvSpPr>
          <p:cNvPr id="13" name="Shape 11"/>
          <p:cNvSpPr/>
          <p:nvPr/>
        </p:nvSpPr>
        <p:spPr>
          <a:xfrm>
            <a:off x="548640" y="3977640"/>
            <a:ext cx="7178040" cy="0"/>
          </a:xfrm>
          <a:prstGeom prst="line">
            <a:avLst/>
          </a:prstGeom>
          <a:noFill/>
          <a:ln w="9525">
            <a:solidFill>
              <a:schemeClr val="accent4"/>
            </a:solidFill>
            <a:prstDash val="solid"/>
          </a:ln>
        </p:spPr>
      </p:sp>
      <p:sp>
        <p:nvSpPr>
          <p:cNvPr id="14" name="Text 12"/>
          <p:cNvSpPr txBox="1"/>
          <p:nvPr/>
        </p:nvSpPr>
        <p:spPr>
          <a:xfrm>
            <a:off x="548640" y="4105656"/>
            <a:ext cx="1554480" cy="365760"/>
          </a:xfrm>
          <a:prstGeom prst="rect">
            <a:avLst/>
          </a:prstGeom>
          <a:noFill/>
          <a:ln/>
        </p:spPr>
        <p:txBody>
          <a:bodyPr wrap="square" lIns="0" tIns="0" rIns="0" bIns="0" rtlCol="0" anchor="t"/>
          <a:lstStyle/>
          <a:p>
            <a:pPr indent="0" marL="0">
              <a:buNone/>
            </a:pPr>
            <a:r>
              <a:rPr lang="en-US" sz="1400" b="1" dirty="0">
                <a:solidFill>
                  <a:schemeClr val="accent1"/>
                </a:solidFill>
              </a:rPr>
              <a:t>What DHL gets</a:t>
            </a:r>
            <a:endParaRPr lang="en-US" sz="1400" dirty="0"/>
          </a:p>
        </p:txBody>
      </p:sp>
      <p:sp>
        <p:nvSpPr>
          <p:cNvPr id="15" name="Text 13"/>
          <p:cNvSpPr txBox="1"/>
          <p:nvPr/>
        </p:nvSpPr>
        <p:spPr>
          <a:xfrm>
            <a:off x="2240280" y="4105656"/>
            <a:ext cx="5486400" cy="914400"/>
          </a:xfrm>
          <a:prstGeom prst="rect">
            <a:avLst/>
          </a:prstGeom>
          <a:noFill/>
          <a:ln/>
        </p:spPr>
        <p:txBody>
          <a:bodyPr wrap="square" lIns="0" tIns="0" rIns="0" bIns="0" rtlCol="0" anchor="t"/>
          <a:lstStyle/>
          <a:p>
            <a:pPr indent="0" marL="0">
              <a:buNone/>
            </a:pPr>
            <a:r>
              <a:rPr lang="en-US" sz="1300" dirty="0">
                <a:solidFill>
                  <a:schemeClr val="tx1"/>
                </a:solidFill>
              </a:rPr>
              <a:t>65% of orders out within 24 h and a ≥ 98% on-time target; ~12 instead of ~31 picker-hours a day (€101k a year); €3.09 per order line; trucks and pickers fully separated.</a:t>
            </a:r>
            <a:endParaRPr lang="en-US" sz="1300" dirty="0"/>
          </a:p>
        </p:txBody>
      </p:sp>
      <p:sp>
        <p:nvSpPr>
          <p:cNvPr id="16" name="Shape 14"/>
          <p:cNvSpPr/>
          <p:nvPr/>
        </p:nvSpPr>
        <p:spPr>
          <a:xfrm>
            <a:off x="548640" y="5074920"/>
            <a:ext cx="7178040" cy="0"/>
          </a:xfrm>
          <a:prstGeom prst="line">
            <a:avLst/>
          </a:prstGeom>
          <a:noFill/>
          <a:ln w="9525">
            <a:solidFill>
              <a:schemeClr val="accent4"/>
            </a:solidFill>
            <a:prstDash val="solid"/>
          </a:ln>
        </p:spPr>
      </p:sp>
      <p:sp>
        <p:nvSpPr>
          <p:cNvPr id="17" name="Text 15"/>
          <p:cNvSpPr txBox="1"/>
          <p:nvPr/>
        </p:nvSpPr>
        <p:spPr>
          <a:xfrm>
            <a:off x="548640" y="5202936"/>
            <a:ext cx="1554480" cy="365760"/>
          </a:xfrm>
          <a:prstGeom prst="rect">
            <a:avLst/>
          </a:prstGeom>
          <a:noFill/>
          <a:ln/>
        </p:spPr>
        <p:txBody>
          <a:bodyPr wrap="square" lIns="0" tIns="0" rIns="0" bIns="0" rtlCol="0" anchor="t"/>
          <a:lstStyle/>
          <a:p>
            <a:pPr indent="0" marL="0">
              <a:buNone/>
            </a:pPr>
            <a:r>
              <a:rPr lang="en-US" sz="1400" b="1" dirty="0">
                <a:solidFill>
                  <a:schemeClr val="accent1"/>
                </a:solidFill>
              </a:rPr>
              <a:t>How to start</a:t>
            </a:r>
            <a:endParaRPr lang="en-US" sz="1400" dirty="0"/>
          </a:p>
        </p:txBody>
      </p:sp>
      <p:sp>
        <p:nvSpPr>
          <p:cNvPr id="18" name="Text 16"/>
          <p:cNvSpPr txBox="1"/>
          <p:nvPr/>
        </p:nvSpPr>
        <p:spPr>
          <a:xfrm>
            <a:off x="2240280" y="5202936"/>
            <a:ext cx="5486400" cy="914400"/>
          </a:xfrm>
          <a:prstGeom prst="rect">
            <a:avLst/>
          </a:prstGeom>
          <a:noFill/>
          <a:ln/>
        </p:spPr>
        <p:txBody>
          <a:bodyPr wrap="square" lIns="0" tIns="0" rIns="0" bIns="0" rtlCol="0" anchor="t"/>
          <a:lstStyle/>
          <a:p>
            <a:pPr indent="0" marL="0">
              <a:buNone/>
            </a:pPr>
            <a:r>
              <a:rPr lang="en-US" sz="1300" dirty="0">
                <a:solidFill>
                  <a:schemeClr val="tx1"/>
                </a:solidFill>
              </a:rPr>
              <a:t>With the low-cost process changes (€0.16M, payback ~1.6 years). The racking decision comes last. Main risk: stock growth fills the racks in ~4 months.</a:t>
            </a:r>
            <a:endParaRPr lang="en-US" sz="1300" dirty="0"/>
          </a:p>
        </p:txBody>
      </p:sp>
      <p:sp>
        <p:nvSpPr>
          <p:cNvPr id="19" name="Shape 17"/>
          <p:cNvSpPr/>
          <p:nvPr/>
        </p:nvSpPr>
        <p:spPr>
          <a:xfrm>
            <a:off x="548640" y="6172200"/>
            <a:ext cx="7178040" cy="0"/>
          </a:xfrm>
          <a:prstGeom prst="line">
            <a:avLst/>
          </a:prstGeom>
          <a:noFill/>
          <a:ln w="9525">
            <a:solidFill>
              <a:schemeClr val="accent4"/>
            </a:solidFill>
            <a:prstDash val="solid"/>
          </a:ln>
        </p:spPr>
      </p:sp>
      <p:sp>
        <p:nvSpPr>
          <p:cNvPr id="20" name="What DHL gets panel"/>
          <p:cNvSpPr/>
          <p:nvPr/>
        </p:nvSpPr>
        <p:spPr>
          <a:xfrm>
            <a:off x="8092440" y="1783080"/>
            <a:ext cx="3547872" cy="4389120"/>
          </a:xfrm>
          <a:prstGeom prst="rect">
            <a:avLst/>
          </a:prstGeom>
          <a:solidFill>
            <a:schemeClr val="accent6"/>
          </a:solidFill>
          <a:ln/>
        </p:spPr>
      </p:sp>
      <p:sp>
        <p:nvSpPr>
          <p:cNvPr id="21" name="Text 19"/>
          <p:cNvSpPr txBox="1"/>
          <p:nvPr/>
        </p:nvSpPr>
        <p:spPr>
          <a:xfrm>
            <a:off x="8321040" y="1938528"/>
            <a:ext cx="3108960" cy="228600"/>
          </a:xfrm>
          <a:prstGeom prst="rect">
            <a:avLst/>
          </a:prstGeom>
          <a:noFill/>
          <a:ln/>
        </p:spPr>
        <p:txBody>
          <a:bodyPr wrap="square" lIns="0" tIns="0" rIns="0" bIns="0" rtlCol="0" anchor="t"/>
          <a:lstStyle/>
          <a:p>
            <a:pPr indent="0" marL="0">
              <a:buNone/>
            </a:pPr>
            <a:r>
              <a:rPr lang="en-US" sz="1000" b="1" spc="100" kern="0" dirty="0">
                <a:solidFill>
                  <a:schemeClr val="tx1"/>
                </a:solidFill>
              </a:rPr>
              <a:t>WHAT DHL GETS</a:t>
            </a:r>
            <a:endParaRPr lang="en-US" sz="1000" dirty="0"/>
          </a:p>
        </p:txBody>
      </p:sp>
      <p:sp>
        <p:nvSpPr>
          <p:cNvPr id="22" name="Text 20"/>
          <p:cNvSpPr txBox="1"/>
          <p:nvPr/>
        </p:nvSpPr>
        <p:spPr>
          <a:xfrm>
            <a:off x="8321040" y="2286000"/>
            <a:ext cx="3108960" cy="502920"/>
          </a:xfrm>
          <a:prstGeom prst="rect">
            <a:avLst/>
          </a:prstGeom>
          <a:noFill/>
          <a:ln/>
        </p:spPr>
        <p:txBody>
          <a:bodyPr wrap="square" lIns="0" tIns="0" rIns="0" bIns="0" rtlCol="0" anchor="t"/>
          <a:lstStyle/>
          <a:p>
            <a:pPr indent="0" marL="0">
              <a:buNone/>
            </a:pPr>
            <a:r>
              <a:rPr lang="en-US" sz="3000" b="1" dirty="0">
                <a:solidFill>
                  <a:schemeClr val="accent1"/>
                </a:solidFill>
              </a:rPr>
              <a:t>65%</a:t>
            </a:r>
            <a:endParaRPr lang="en-US" sz="3000" dirty="0"/>
          </a:p>
        </p:txBody>
      </p:sp>
      <p:sp>
        <p:nvSpPr>
          <p:cNvPr id="23" name="Text 21"/>
          <p:cNvSpPr txBox="1"/>
          <p:nvPr/>
        </p:nvSpPr>
        <p:spPr>
          <a:xfrm>
            <a:off x="8321040" y="2788920"/>
            <a:ext cx="3108960" cy="411480"/>
          </a:xfrm>
          <a:prstGeom prst="rect">
            <a:avLst/>
          </a:prstGeom>
          <a:noFill/>
          <a:ln/>
        </p:spPr>
        <p:txBody>
          <a:bodyPr wrap="square" lIns="0" tIns="0" rIns="0" bIns="0" rtlCol="0" anchor="t"/>
          <a:lstStyle/>
          <a:p>
            <a:pPr indent="0" marL="0">
              <a:buNone/>
            </a:pPr>
            <a:r>
              <a:rPr lang="en-US" sz="1200" dirty="0">
                <a:solidFill>
                  <a:schemeClr val="tx1"/>
                </a:solidFill>
              </a:rPr>
              <a:t>of orders out within 24 h — modelled (today 37%, measured)</a:t>
            </a:r>
            <a:endParaRPr lang="en-US" sz="1200" dirty="0"/>
          </a:p>
        </p:txBody>
      </p:sp>
      <p:sp>
        <p:nvSpPr>
          <p:cNvPr id="24" name="Text 22"/>
          <p:cNvSpPr txBox="1"/>
          <p:nvPr/>
        </p:nvSpPr>
        <p:spPr>
          <a:xfrm>
            <a:off x="8321040" y="3246120"/>
            <a:ext cx="3108960" cy="502920"/>
          </a:xfrm>
          <a:prstGeom prst="rect">
            <a:avLst/>
          </a:prstGeom>
          <a:noFill/>
          <a:ln/>
        </p:spPr>
        <p:txBody>
          <a:bodyPr wrap="square" lIns="0" tIns="0" rIns="0" bIns="0" rtlCol="0" anchor="t"/>
          <a:lstStyle/>
          <a:p>
            <a:pPr indent="0" marL="0">
              <a:buNone/>
            </a:pPr>
            <a:r>
              <a:rPr lang="en-US" sz="3000" b="1" dirty="0">
                <a:solidFill>
                  <a:schemeClr val="accent1"/>
                </a:solidFill>
              </a:rPr>
              <a:t>≥ 98%</a:t>
            </a:r>
            <a:endParaRPr lang="en-US" sz="3000" dirty="0"/>
          </a:p>
        </p:txBody>
      </p:sp>
      <p:sp>
        <p:nvSpPr>
          <p:cNvPr id="25" name="Text 23"/>
          <p:cNvSpPr txBox="1"/>
          <p:nvPr/>
        </p:nvSpPr>
        <p:spPr>
          <a:xfrm>
            <a:off x="8321040" y="3749040"/>
            <a:ext cx="3108960" cy="411480"/>
          </a:xfrm>
          <a:prstGeom prst="rect">
            <a:avLst/>
          </a:prstGeom>
          <a:noFill/>
          <a:ln/>
        </p:spPr>
        <p:txBody>
          <a:bodyPr wrap="square" lIns="0" tIns="0" rIns="0" bIns="0" rtlCol="0" anchor="t"/>
          <a:lstStyle/>
          <a:p>
            <a:pPr indent="0" marL="0">
              <a:buNone/>
            </a:pPr>
            <a:r>
              <a:rPr lang="en-US" sz="1200" dirty="0">
                <a:solidFill>
                  <a:schemeClr val="tx1"/>
                </a:solidFill>
              </a:rPr>
              <a:t>of lines on time — target of the wave plan (today 50%)</a:t>
            </a:r>
            <a:endParaRPr lang="en-US" sz="1200" dirty="0"/>
          </a:p>
        </p:txBody>
      </p:sp>
      <p:sp>
        <p:nvSpPr>
          <p:cNvPr id="26" name="Text 24"/>
          <p:cNvSpPr txBox="1"/>
          <p:nvPr/>
        </p:nvSpPr>
        <p:spPr>
          <a:xfrm>
            <a:off x="8321040" y="4206240"/>
            <a:ext cx="3108960" cy="502920"/>
          </a:xfrm>
          <a:prstGeom prst="rect">
            <a:avLst/>
          </a:prstGeom>
          <a:noFill/>
          <a:ln/>
        </p:spPr>
        <p:txBody>
          <a:bodyPr wrap="square" lIns="0" tIns="0" rIns="0" bIns="0" rtlCol="0" anchor="t"/>
          <a:lstStyle/>
          <a:p>
            <a:pPr indent="0" marL="0">
              <a:buNone/>
            </a:pPr>
            <a:r>
              <a:rPr lang="en-US" sz="3000" b="1" dirty="0">
                <a:solidFill>
                  <a:schemeClr val="accent1"/>
                </a:solidFill>
              </a:rPr>
              <a:t>−62%</a:t>
            </a:r>
            <a:endParaRPr lang="en-US" sz="3000" dirty="0"/>
          </a:p>
        </p:txBody>
      </p:sp>
      <p:sp>
        <p:nvSpPr>
          <p:cNvPr id="27" name="Text 25"/>
          <p:cNvSpPr txBox="1"/>
          <p:nvPr/>
        </p:nvSpPr>
        <p:spPr>
          <a:xfrm>
            <a:off x="8321040" y="4709160"/>
            <a:ext cx="3108960" cy="411480"/>
          </a:xfrm>
          <a:prstGeom prst="rect">
            <a:avLst/>
          </a:prstGeom>
          <a:noFill/>
          <a:ln/>
        </p:spPr>
        <p:txBody>
          <a:bodyPr wrap="square" lIns="0" tIns="0" rIns="0" bIns="0" rtlCol="0" anchor="t"/>
          <a:lstStyle/>
          <a:p>
            <a:pPr indent="0" marL="0">
              <a:buNone/>
            </a:pPr>
            <a:r>
              <a:rPr lang="en-US" sz="1200" dirty="0">
                <a:solidFill>
                  <a:schemeClr val="tx1"/>
                </a:solidFill>
              </a:rPr>
              <a:t>picker-hours a day: ~31 → ~12 (modelled)</a:t>
            </a:r>
            <a:endParaRPr lang="en-US" sz="1200" dirty="0"/>
          </a:p>
        </p:txBody>
      </p:sp>
      <p:sp>
        <p:nvSpPr>
          <p:cNvPr id="28" name="Text 26"/>
          <p:cNvSpPr txBox="1"/>
          <p:nvPr/>
        </p:nvSpPr>
        <p:spPr>
          <a:xfrm>
            <a:off x="8321040" y="5166360"/>
            <a:ext cx="3108960" cy="502920"/>
          </a:xfrm>
          <a:prstGeom prst="rect">
            <a:avLst/>
          </a:prstGeom>
          <a:noFill/>
          <a:ln/>
        </p:spPr>
        <p:txBody>
          <a:bodyPr wrap="square" lIns="0" tIns="0" rIns="0" bIns="0" rtlCol="0" anchor="t"/>
          <a:lstStyle/>
          <a:p>
            <a:pPr indent="0" marL="0">
              <a:buNone/>
            </a:pPr>
            <a:r>
              <a:rPr lang="en-US" sz="3000" b="1" dirty="0">
                <a:solidFill>
                  <a:schemeClr val="accent1"/>
                </a:solidFill>
              </a:rPr>
              <a:t>1.6 yrs</a:t>
            </a:r>
            <a:endParaRPr lang="en-US" sz="3000" dirty="0"/>
          </a:p>
        </p:txBody>
      </p:sp>
      <p:sp>
        <p:nvSpPr>
          <p:cNvPr id="29" name="Text 27"/>
          <p:cNvSpPr txBox="1"/>
          <p:nvPr/>
        </p:nvSpPr>
        <p:spPr>
          <a:xfrm>
            <a:off x="8321040" y="5669280"/>
            <a:ext cx="3108960" cy="411480"/>
          </a:xfrm>
          <a:prstGeom prst="rect">
            <a:avLst/>
          </a:prstGeom>
          <a:noFill/>
          <a:ln/>
        </p:spPr>
        <p:txBody>
          <a:bodyPr wrap="square" lIns="0" tIns="0" rIns="0" bIns="0" rtlCol="0" anchor="t"/>
          <a:lstStyle/>
          <a:p>
            <a:pPr indent="0" marL="0">
              <a:buNone/>
            </a:pPr>
            <a:r>
              <a:rPr lang="en-US" sz="1200" dirty="0">
                <a:solidFill>
                  <a:schemeClr val="tx1"/>
                </a:solidFill>
              </a:rPr>
              <a:t>payback: €157k invested ÷ €101k saved a year</a:t>
            </a:r>
            <a:endParaRPr lang="en-US" sz="12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HOW WE GOT OUR NUMBERS</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Every number comes from Assa Abloy's own warehouse data, run through simple models — every assumption is written down with its source</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WMS data April–June 2025 (Assa Abloy &amp; DHL Supply Chain, 2025); assumption register (data/assumptions.json) and source register; Deliverable 3 calculation workbook</a:t>
            </a:r>
            <a:endParaRPr lang="en-US" sz="900" dirty="0"/>
          </a:p>
        </p:txBody>
      </p:sp>
      <p:sp>
        <p:nvSpPr>
          <p:cNvPr id="5" name="Owner marker"/>
          <p:cNvSpPr/>
          <p:nvPr/>
        </p:nvSpPr>
        <p:spPr>
          <a:xfrm>
            <a:off x="9098280" y="338328"/>
            <a:ext cx="118872" cy="118872"/>
          </a:xfrm>
          <a:prstGeom prst="rect">
            <a:avLst/>
          </a:prstGeom>
          <a:solidFill>
            <a:srgbClr val="15803D"/>
          </a:solidFill>
          <a:ln/>
        </p:spPr>
      </p:sp>
      <p:sp>
        <p:nvSpPr>
          <p:cNvPr id="6" name="Presenter"/>
          <p:cNvSpPr txBox="1"/>
          <p:nvPr/>
        </p:nvSpPr>
        <p:spPr>
          <a:xfrm>
            <a:off x="929030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Arnau</a:t>
            </a:r>
            <a:pPr indent="0" marL="0">
              <a:buNone/>
            </a:pPr>
            <a:r>
              <a:rPr lang="en-US" sz="1000" dirty="0">
                <a:solidFill>
                  <a:schemeClr val="accent2"/>
                </a:solidFill>
              </a:rPr>
              <a:t> · presenter</a:t>
            </a:r>
            <a:endParaRPr lang="en-US" sz="1000" dirty="0"/>
          </a:p>
        </p:txBody>
      </p:sp>
      <p:sp>
        <p:nvSpPr>
          <p:cNvPr id="7" name="Text 5"/>
          <p:cNvSpPr/>
          <p:nvPr/>
        </p:nvSpPr>
        <p:spPr>
          <a:xfrm>
            <a:off x="548640" y="1737360"/>
            <a:ext cx="2855900" cy="502920"/>
          </a:xfrm>
          <a:prstGeom prst="homePlate">
            <a:avLst/>
          </a:prstGeom>
          <a:solidFill>
            <a:schemeClr val="tx2"/>
          </a:solidFill>
          <a:ln/>
        </p:spPr>
        <p:txBody>
          <a:bodyPr wrap="square" lIns="228600" tIns="0" rIns="228600" bIns="0" rtlCol="0" anchor="ctr"/>
          <a:lstStyle/>
          <a:p>
            <a:pPr algn="ctr" indent="0" marL="0">
              <a:buNone/>
            </a:pPr>
            <a:r>
              <a:rPr lang="en-US" sz="1400" b="1" dirty="0">
                <a:solidFill>
                  <a:schemeClr val="bg1"/>
                </a:solidFill>
              </a:rPr>
              <a:t>1  Data</a:t>
            </a:r>
            <a:endParaRPr lang="en-US" sz="1400" dirty="0"/>
          </a:p>
        </p:txBody>
      </p:sp>
      <p:sp>
        <p:nvSpPr>
          <p:cNvPr id="8" name="Text 6"/>
          <p:cNvSpPr/>
          <p:nvPr/>
        </p:nvSpPr>
        <p:spPr>
          <a:xfrm>
            <a:off x="3294812" y="1737360"/>
            <a:ext cx="2855900" cy="502920"/>
          </a:xfrm>
          <a:prstGeom prst="chevron">
            <a:avLst/>
          </a:prstGeom>
          <a:solidFill>
            <a:schemeClr val="tx2"/>
          </a:solidFill>
          <a:ln/>
        </p:spPr>
        <p:txBody>
          <a:bodyPr wrap="square" lIns="228600" tIns="0" rIns="228600" bIns="0" rtlCol="0" anchor="ctr"/>
          <a:lstStyle/>
          <a:p>
            <a:pPr algn="ctr" indent="0" marL="0">
              <a:buNone/>
            </a:pPr>
            <a:r>
              <a:rPr lang="en-US" sz="1400" b="1" dirty="0">
                <a:solidFill>
                  <a:schemeClr val="bg1"/>
                </a:solidFill>
              </a:rPr>
              <a:t>2  Assumptions</a:t>
            </a:r>
            <a:endParaRPr lang="en-US" sz="1400" dirty="0"/>
          </a:p>
        </p:txBody>
      </p:sp>
      <p:sp>
        <p:nvSpPr>
          <p:cNvPr id="9" name="Text 7"/>
          <p:cNvSpPr/>
          <p:nvPr/>
        </p:nvSpPr>
        <p:spPr>
          <a:xfrm>
            <a:off x="6040984" y="1737360"/>
            <a:ext cx="2855900" cy="502920"/>
          </a:xfrm>
          <a:prstGeom prst="chevron">
            <a:avLst/>
          </a:prstGeom>
          <a:solidFill>
            <a:schemeClr val="tx2"/>
          </a:solidFill>
          <a:ln/>
        </p:spPr>
        <p:txBody>
          <a:bodyPr wrap="square" lIns="228600" tIns="0" rIns="228600" bIns="0" rtlCol="0" anchor="ctr"/>
          <a:lstStyle/>
          <a:p>
            <a:pPr algn="ctr" indent="0" marL="0">
              <a:buNone/>
            </a:pPr>
            <a:r>
              <a:rPr lang="en-US" sz="1400" b="1" dirty="0">
                <a:solidFill>
                  <a:schemeClr val="bg1"/>
                </a:solidFill>
              </a:rPr>
              <a:t>3  Models</a:t>
            </a:r>
            <a:endParaRPr lang="en-US" sz="1400" dirty="0"/>
          </a:p>
        </p:txBody>
      </p:sp>
      <p:sp>
        <p:nvSpPr>
          <p:cNvPr id="10" name="Text 8"/>
          <p:cNvSpPr/>
          <p:nvPr/>
        </p:nvSpPr>
        <p:spPr>
          <a:xfrm>
            <a:off x="8787155" y="1737360"/>
            <a:ext cx="2855900" cy="502920"/>
          </a:xfrm>
          <a:prstGeom prst="chevron">
            <a:avLst/>
          </a:prstGeom>
          <a:solidFill>
            <a:schemeClr val="tx2"/>
          </a:solidFill>
          <a:ln/>
        </p:spPr>
        <p:txBody>
          <a:bodyPr wrap="square" lIns="228600" tIns="0" rIns="228600" bIns="0" rtlCol="0" anchor="ctr"/>
          <a:lstStyle/>
          <a:p>
            <a:pPr algn="ctr" indent="0" marL="0">
              <a:buNone/>
            </a:pPr>
            <a:r>
              <a:rPr lang="en-US" sz="1400" b="1" dirty="0">
                <a:solidFill>
                  <a:schemeClr val="bg1"/>
                </a:solidFill>
              </a:rPr>
              <a:t>4  Checks</a:t>
            </a:r>
            <a:endParaRPr lang="en-US" sz="1400" dirty="0"/>
          </a:p>
        </p:txBody>
      </p:sp>
      <p:sp>
        <p:nvSpPr>
          <p:cNvPr id="11" name="Text 9"/>
          <p:cNvSpPr txBox="1"/>
          <p:nvPr/>
        </p:nvSpPr>
        <p:spPr>
          <a:xfrm>
            <a:off x="548640" y="2395728"/>
            <a:ext cx="2602154" cy="201168"/>
          </a:xfrm>
          <a:prstGeom prst="rect">
            <a:avLst/>
          </a:prstGeom>
          <a:noFill/>
          <a:ln/>
        </p:spPr>
        <p:txBody>
          <a:bodyPr wrap="square" lIns="0" tIns="0" rIns="0" bIns="0" rtlCol="0" anchor="t"/>
          <a:lstStyle/>
          <a:p>
            <a:pPr indent="0" marL="0">
              <a:buNone/>
            </a:pPr>
            <a:r>
              <a:rPr lang="en-US" sz="900" b="1" spc="100" kern="0" dirty="0">
                <a:solidFill>
                  <a:schemeClr val="accent1"/>
                </a:solidFill>
              </a:rPr>
              <a:t>MEASURED</a:t>
            </a:r>
            <a:endParaRPr lang="en-US" sz="900" dirty="0"/>
          </a:p>
        </p:txBody>
      </p:sp>
      <p:sp>
        <p:nvSpPr>
          <p:cNvPr id="12" name="Text 10"/>
          <p:cNvSpPr txBox="1"/>
          <p:nvPr/>
        </p:nvSpPr>
        <p:spPr>
          <a:xfrm>
            <a:off x="548640" y="2615184"/>
            <a:ext cx="2602154" cy="548640"/>
          </a:xfrm>
          <a:prstGeom prst="rect">
            <a:avLst/>
          </a:prstGeom>
          <a:noFill/>
          <a:ln/>
        </p:spPr>
        <p:txBody>
          <a:bodyPr wrap="square" lIns="0" tIns="0" rIns="0" bIns="0" rtlCol="0" anchor="t"/>
          <a:lstStyle/>
          <a:p>
            <a:pPr indent="0" marL="0">
              <a:buNone/>
            </a:pPr>
            <a:r>
              <a:rPr lang="en-US" sz="3000" b="1" dirty="0">
                <a:solidFill>
                  <a:schemeClr val="tx2"/>
                </a:solidFill>
              </a:rPr>
              <a:t>39,069</a:t>
            </a:r>
            <a:endParaRPr lang="en-US" sz="3000" dirty="0"/>
          </a:p>
        </p:txBody>
      </p:sp>
      <p:sp>
        <p:nvSpPr>
          <p:cNvPr id="13" name="Text 11"/>
          <p:cNvSpPr txBox="1"/>
          <p:nvPr/>
        </p:nvSpPr>
        <p:spPr>
          <a:xfrm>
            <a:off x="548640" y="3182112"/>
            <a:ext cx="2602154" cy="566928"/>
          </a:xfrm>
          <a:prstGeom prst="rect">
            <a:avLst/>
          </a:prstGeom>
          <a:noFill/>
          <a:ln/>
        </p:spPr>
        <p:txBody>
          <a:bodyPr wrap="square" lIns="0" tIns="0" rIns="0" bIns="0" rtlCol="0" anchor="t"/>
          <a:lstStyle/>
          <a:p>
            <a:pPr indent="0" marL="0">
              <a:buNone/>
            </a:pPr>
            <a:r>
              <a:rPr lang="en-US" sz="1200" dirty="0">
                <a:solidFill>
                  <a:schemeClr val="tx1"/>
                </a:solidFill>
              </a:rPr>
              <a:t>order lines in the WMS, April–June 2025</a:t>
            </a:r>
            <a:endParaRPr lang="en-US" sz="1200" dirty="0"/>
          </a:p>
        </p:txBody>
      </p:sp>
      <p:sp>
        <p:nvSpPr>
          <p:cNvPr id="14" name="Shape 12"/>
          <p:cNvSpPr/>
          <p:nvPr/>
        </p:nvSpPr>
        <p:spPr>
          <a:xfrm>
            <a:off x="548640" y="3822192"/>
            <a:ext cx="2602154" cy="0"/>
          </a:xfrm>
          <a:prstGeom prst="line">
            <a:avLst/>
          </a:prstGeom>
          <a:noFill/>
          <a:ln w="9525">
            <a:solidFill>
              <a:schemeClr val="accent3"/>
            </a:solidFill>
            <a:prstDash val="solid"/>
          </a:ln>
        </p:spPr>
      </p:sp>
      <p:sp>
        <p:nvSpPr>
          <p:cNvPr id="15" name="Text 13"/>
          <p:cNvSpPr txBox="1"/>
          <p:nvPr/>
        </p:nvSpPr>
        <p:spPr>
          <a:xfrm>
            <a:off x="548640" y="3913632"/>
            <a:ext cx="2602154" cy="14630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accent2"/>
                </a:solidFill>
              </a:rPr>
              <a:t>8,781 orders over 61 working days</a:t>
            </a:r>
            <a:endParaRPr lang="en-US" sz="1200" dirty="0"/>
          </a:p>
          <a:p>
            <a:pPr marL="152400" indent="-152400">
              <a:spcAft>
                <a:spcPts val="400"/>
              </a:spcAft>
              <a:buSzPct val="100000"/>
              <a:buChar char="•"/>
            </a:pPr>
            <a:r>
              <a:rPr lang="en-US" sz="1200" dirty="0">
                <a:solidFill>
                  <a:schemeClr val="accent2"/>
                </a:solidFill>
              </a:rPr>
              <a:t>3 stock snapshots: up to 11,015 loads in 8,512 places</a:t>
            </a:r>
            <a:endParaRPr lang="en-US" sz="1200" dirty="0"/>
          </a:p>
          <a:p>
            <a:pPr marL="152400" indent="-152400">
              <a:spcAft>
                <a:spcPts val="400"/>
              </a:spcAft>
              <a:buSzPct val="100000"/>
              <a:buChar char="•"/>
            </a:pPr>
            <a:r>
              <a:rPr lang="en-US" sz="1200" dirty="0">
                <a:solidFill>
                  <a:schemeClr val="accent2"/>
                </a:solidFill>
              </a:rPr>
              <a:t>~15 outbound trailers a day, with arrive and dispatch times</a:t>
            </a:r>
            <a:endParaRPr lang="en-US" sz="1200" dirty="0"/>
          </a:p>
        </p:txBody>
      </p:sp>
      <p:sp>
        <p:nvSpPr>
          <p:cNvPr id="16" name="Text 14"/>
          <p:cNvSpPr txBox="1"/>
          <p:nvPr/>
        </p:nvSpPr>
        <p:spPr>
          <a:xfrm>
            <a:off x="3379394" y="2395728"/>
            <a:ext cx="2602154" cy="201168"/>
          </a:xfrm>
          <a:prstGeom prst="rect">
            <a:avLst/>
          </a:prstGeom>
          <a:noFill/>
          <a:ln/>
        </p:spPr>
        <p:txBody>
          <a:bodyPr wrap="square" lIns="0" tIns="0" rIns="0" bIns="0" rtlCol="0" anchor="t"/>
          <a:lstStyle/>
          <a:p>
            <a:pPr indent="0" marL="0">
              <a:buNone/>
            </a:pPr>
            <a:r>
              <a:rPr lang="en-US" sz="900" b="1" spc="100" kern="0" dirty="0">
                <a:solidFill>
                  <a:schemeClr val="accent1"/>
                </a:solidFill>
              </a:rPr>
              <a:t>WRITTEN DOWN</a:t>
            </a:r>
            <a:endParaRPr lang="en-US" sz="900" dirty="0"/>
          </a:p>
        </p:txBody>
      </p:sp>
      <p:sp>
        <p:nvSpPr>
          <p:cNvPr id="17" name="Text 15"/>
          <p:cNvSpPr txBox="1"/>
          <p:nvPr/>
        </p:nvSpPr>
        <p:spPr>
          <a:xfrm>
            <a:off x="3379394" y="2615184"/>
            <a:ext cx="2602154" cy="548640"/>
          </a:xfrm>
          <a:prstGeom prst="rect">
            <a:avLst/>
          </a:prstGeom>
          <a:noFill/>
          <a:ln/>
        </p:spPr>
        <p:txBody>
          <a:bodyPr wrap="square" lIns="0" tIns="0" rIns="0" bIns="0" rtlCol="0" anchor="t"/>
          <a:lstStyle/>
          <a:p>
            <a:pPr indent="0" marL="0">
              <a:buNone/>
            </a:pPr>
            <a:r>
              <a:rPr lang="en-US" sz="3000" b="1" dirty="0">
                <a:solidFill>
                  <a:schemeClr val="tx2"/>
                </a:solidFill>
              </a:rPr>
              <a:t>46</a:t>
            </a:r>
            <a:endParaRPr lang="en-US" sz="3000" dirty="0"/>
          </a:p>
        </p:txBody>
      </p:sp>
      <p:sp>
        <p:nvSpPr>
          <p:cNvPr id="18" name="Text 16"/>
          <p:cNvSpPr txBox="1"/>
          <p:nvPr/>
        </p:nvSpPr>
        <p:spPr>
          <a:xfrm>
            <a:off x="3379394" y="3182112"/>
            <a:ext cx="2602154" cy="566928"/>
          </a:xfrm>
          <a:prstGeom prst="rect">
            <a:avLst/>
          </a:prstGeom>
          <a:noFill/>
          <a:ln/>
        </p:spPr>
        <p:txBody>
          <a:bodyPr wrap="square" lIns="0" tIns="0" rIns="0" bIns="0" rtlCol="0" anchor="t"/>
          <a:lstStyle/>
          <a:p>
            <a:pPr indent="0" marL="0">
              <a:buNone/>
            </a:pPr>
            <a:r>
              <a:rPr lang="en-US" sz="1200" dirty="0">
                <a:solidFill>
                  <a:schemeClr val="tx1"/>
                </a:solidFill>
              </a:rPr>
              <a:t>assumptions, each with its reason and source</a:t>
            </a:r>
            <a:endParaRPr lang="en-US" sz="1200" dirty="0"/>
          </a:p>
        </p:txBody>
      </p:sp>
      <p:sp>
        <p:nvSpPr>
          <p:cNvPr id="19" name="Shape 17"/>
          <p:cNvSpPr/>
          <p:nvPr/>
        </p:nvSpPr>
        <p:spPr>
          <a:xfrm>
            <a:off x="3379394" y="3822192"/>
            <a:ext cx="2602154" cy="0"/>
          </a:xfrm>
          <a:prstGeom prst="line">
            <a:avLst/>
          </a:prstGeom>
          <a:noFill/>
          <a:ln w="9525">
            <a:solidFill>
              <a:schemeClr val="accent3"/>
            </a:solidFill>
            <a:prstDash val="solid"/>
          </a:ln>
        </p:spPr>
      </p:sp>
      <p:sp>
        <p:nvSpPr>
          <p:cNvPr id="20" name="Text 18"/>
          <p:cNvSpPr txBox="1"/>
          <p:nvPr/>
        </p:nvSpPr>
        <p:spPr>
          <a:xfrm>
            <a:off x="3379394" y="3913632"/>
            <a:ext cx="2602154" cy="14630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accent2"/>
                </a:solidFill>
              </a:rPr>
              <a:t>25 s per picked line, walking 0.8 m/s, +10% for delays</a:t>
            </a:r>
            <a:endParaRPr lang="en-US" sz="1200" dirty="0"/>
          </a:p>
          <a:p>
            <a:pPr marL="152400" indent="-152400">
              <a:spcAft>
                <a:spcPts val="400"/>
              </a:spcAft>
              <a:buSzPct val="100000"/>
              <a:buChar char="•"/>
            </a:pPr>
            <a:r>
              <a:rPr lang="en-US" sz="1200" dirty="0">
                <a:solidFill>
                  <a:schemeClr val="accent2"/>
                </a:solidFill>
              </a:rPr>
              <a:t>€20 per hour for an operator (course teacher)</a:t>
            </a:r>
            <a:endParaRPr lang="en-US" sz="1200" dirty="0"/>
          </a:p>
          <a:p>
            <a:pPr marL="152400" indent="-152400">
              <a:spcAft>
                <a:spcPts val="400"/>
              </a:spcAft>
              <a:buSzPct val="100000"/>
              <a:buChar char="•"/>
            </a:pPr>
            <a:r>
              <a:rPr lang="en-US" sz="1200" dirty="0">
                <a:solidFill>
                  <a:schemeClr val="accent2"/>
                </a:solidFill>
              </a:rPr>
              <a:t>racking €130 per place (benchmark €80–200)</a:t>
            </a:r>
            <a:endParaRPr lang="en-US" sz="1200" dirty="0"/>
          </a:p>
        </p:txBody>
      </p:sp>
      <p:sp>
        <p:nvSpPr>
          <p:cNvPr id="21" name="Text 19"/>
          <p:cNvSpPr txBox="1"/>
          <p:nvPr/>
        </p:nvSpPr>
        <p:spPr>
          <a:xfrm>
            <a:off x="6210148" y="2395728"/>
            <a:ext cx="2602154" cy="201168"/>
          </a:xfrm>
          <a:prstGeom prst="rect">
            <a:avLst/>
          </a:prstGeom>
          <a:noFill/>
          <a:ln/>
        </p:spPr>
        <p:txBody>
          <a:bodyPr wrap="square" lIns="0" tIns="0" rIns="0" bIns="0" rtlCol="0" anchor="t"/>
          <a:lstStyle/>
          <a:p>
            <a:pPr indent="0" marL="0">
              <a:buNone/>
            </a:pPr>
            <a:r>
              <a:rPr lang="en-US" sz="900" b="1" spc="100" kern="0" dirty="0">
                <a:solidFill>
                  <a:schemeClr val="accent1"/>
                </a:solidFill>
              </a:rPr>
              <a:t>CALCULATED</a:t>
            </a:r>
            <a:endParaRPr lang="en-US" sz="900" dirty="0"/>
          </a:p>
        </p:txBody>
      </p:sp>
      <p:sp>
        <p:nvSpPr>
          <p:cNvPr id="22" name="Text 20"/>
          <p:cNvSpPr txBox="1"/>
          <p:nvPr/>
        </p:nvSpPr>
        <p:spPr>
          <a:xfrm>
            <a:off x="6210148" y="2615184"/>
            <a:ext cx="2602154" cy="548640"/>
          </a:xfrm>
          <a:prstGeom prst="rect">
            <a:avLst/>
          </a:prstGeom>
          <a:noFill/>
          <a:ln/>
        </p:spPr>
        <p:txBody>
          <a:bodyPr wrap="square" lIns="0" tIns="0" rIns="0" bIns="0" rtlCol="0" anchor="t"/>
          <a:lstStyle/>
          <a:p>
            <a:pPr indent="0" marL="0">
              <a:buNone/>
            </a:pPr>
            <a:r>
              <a:rPr lang="en-US" sz="3000" b="1" dirty="0">
                <a:solidFill>
                  <a:schemeClr val="tx2"/>
                </a:solidFill>
              </a:rPr>
              <a:t>8,774</a:t>
            </a:r>
            <a:endParaRPr lang="en-US" sz="3000" dirty="0"/>
          </a:p>
        </p:txBody>
      </p:sp>
      <p:sp>
        <p:nvSpPr>
          <p:cNvPr id="23" name="Text 21"/>
          <p:cNvSpPr txBox="1"/>
          <p:nvPr/>
        </p:nvSpPr>
        <p:spPr>
          <a:xfrm>
            <a:off x="6210148" y="3182112"/>
            <a:ext cx="2602154" cy="566928"/>
          </a:xfrm>
          <a:prstGeom prst="rect">
            <a:avLst/>
          </a:prstGeom>
          <a:noFill/>
          <a:ln/>
        </p:spPr>
        <p:txBody>
          <a:bodyPr wrap="square" lIns="0" tIns="0" rIns="0" bIns="0" rtlCol="0" anchor="t"/>
          <a:lstStyle/>
          <a:p>
            <a:pPr indent="0" marL="0">
              <a:buNone/>
            </a:pPr>
            <a:r>
              <a:rPr lang="en-US" sz="1200" dirty="0">
                <a:solidFill>
                  <a:schemeClr val="tx1"/>
                </a:solidFill>
              </a:rPr>
              <a:t>real orders re-timed with the new wave plan</a:t>
            </a:r>
            <a:endParaRPr lang="en-US" sz="1200" dirty="0"/>
          </a:p>
        </p:txBody>
      </p:sp>
      <p:sp>
        <p:nvSpPr>
          <p:cNvPr id="24" name="Shape 22"/>
          <p:cNvSpPr/>
          <p:nvPr/>
        </p:nvSpPr>
        <p:spPr>
          <a:xfrm>
            <a:off x="6210148" y="3822192"/>
            <a:ext cx="2602154" cy="0"/>
          </a:xfrm>
          <a:prstGeom prst="line">
            <a:avLst/>
          </a:prstGeom>
          <a:noFill/>
          <a:ln w="9525">
            <a:solidFill>
              <a:schemeClr val="accent3"/>
            </a:solidFill>
            <a:prstDash val="solid"/>
          </a:ln>
        </p:spPr>
      </p:sp>
      <p:sp>
        <p:nvSpPr>
          <p:cNvPr id="25" name="Text 23"/>
          <p:cNvSpPr txBox="1"/>
          <p:nvPr/>
        </p:nvSpPr>
        <p:spPr>
          <a:xfrm>
            <a:off x="6210148" y="3913632"/>
            <a:ext cx="2602154" cy="14630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accent2"/>
                </a:solidFill>
              </a:rPr>
              <a:t>pick time per tour: set-up + walking + time per line</a:t>
            </a:r>
            <a:endParaRPr lang="en-US" sz="1200" dirty="0"/>
          </a:p>
          <a:p>
            <a:pPr marL="152400" indent="-152400">
              <a:spcAft>
                <a:spcPts val="400"/>
              </a:spcAft>
              <a:buSzPct val="100000"/>
              <a:buChar char="•"/>
            </a:pPr>
            <a:r>
              <a:rPr lang="en-US" sz="1200" dirty="0">
                <a:solidFill>
                  <a:schemeClr val="accent2"/>
                </a:solidFill>
              </a:rPr>
              <a:t>storage growth from the three snapshots</a:t>
            </a:r>
            <a:endParaRPr lang="en-US" sz="1200" dirty="0"/>
          </a:p>
          <a:p>
            <a:pPr marL="152400" indent="-152400">
              <a:spcAft>
                <a:spcPts val="400"/>
              </a:spcAft>
              <a:buSzPct val="100000"/>
              <a:buChar char="•"/>
            </a:pPr>
            <a:r>
              <a:rPr lang="en-US" sz="1200" dirty="0">
                <a:solidFill>
                  <a:schemeClr val="accent2"/>
                </a:solidFill>
              </a:rPr>
              <a:t>every cost formula live in the D3 workbook</a:t>
            </a:r>
            <a:endParaRPr lang="en-US" sz="1200" dirty="0"/>
          </a:p>
        </p:txBody>
      </p:sp>
      <p:sp>
        <p:nvSpPr>
          <p:cNvPr id="26" name="Text 24"/>
          <p:cNvSpPr txBox="1"/>
          <p:nvPr/>
        </p:nvSpPr>
        <p:spPr>
          <a:xfrm>
            <a:off x="9040901" y="2395728"/>
            <a:ext cx="2602154" cy="201168"/>
          </a:xfrm>
          <a:prstGeom prst="rect">
            <a:avLst/>
          </a:prstGeom>
          <a:noFill/>
          <a:ln/>
        </p:spPr>
        <p:txBody>
          <a:bodyPr wrap="square" lIns="0" tIns="0" rIns="0" bIns="0" rtlCol="0" anchor="t"/>
          <a:lstStyle/>
          <a:p>
            <a:pPr indent="0" marL="0">
              <a:buNone/>
            </a:pPr>
            <a:r>
              <a:rPr lang="en-US" sz="900" b="1" spc="100" kern="0" dirty="0">
                <a:solidFill>
                  <a:schemeClr val="accent1"/>
                </a:solidFill>
              </a:rPr>
              <a:t>TESTED</a:t>
            </a:r>
            <a:endParaRPr lang="en-US" sz="900" dirty="0"/>
          </a:p>
        </p:txBody>
      </p:sp>
      <p:sp>
        <p:nvSpPr>
          <p:cNvPr id="27" name="Text 25"/>
          <p:cNvSpPr txBox="1"/>
          <p:nvPr/>
        </p:nvSpPr>
        <p:spPr>
          <a:xfrm>
            <a:off x="9040901" y="2615184"/>
            <a:ext cx="2602154" cy="548640"/>
          </a:xfrm>
          <a:prstGeom prst="rect">
            <a:avLst/>
          </a:prstGeom>
          <a:noFill/>
          <a:ln/>
        </p:spPr>
        <p:txBody>
          <a:bodyPr wrap="square" lIns="0" tIns="0" rIns="0" bIns="0" rtlCol="0" anchor="t"/>
          <a:lstStyle/>
          <a:p>
            <a:pPr indent="0" marL="0">
              <a:buNone/>
            </a:pPr>
            <a:r>
              <a:rPr lang="en-US" sz="3000" b="1" dirty="0">
                <a:solidFill>
                  <a:schemeClr val="tx2"/>
                </a:solidFill>
              </a:rPr>
              <a:t>+€86k</a:t>
            </a:r>
            <a:endParaRPr lang="en-US" sz="3000" dirty="0"/>
          </a:p>
        </p:txBody>
      </p:sp>
      <p:sp>
        <p:nvSpPr>
          <p:cNvPr id="28" name="Text 26"/>
          <p:cNvSpPr txBox="1"/>
          <p:nvPr/>
        </p:nvSpPr>
        <p:spPr>
          <a:xfrm>
            <a:off x="9040901" y="3182112"/>
            <a:ext cx="2602154" cy="566928"/>
          </a:xfrm>
          <a:prstGeom prst="rect">
            <a:avLst/>
          </a:prstGeom>
          <a:noFill/>
          <a:ln/>
        </p:spPr>
        <p:txBody>
          <a:bodyPr wrap="square" lIns="0" tIns="0" rIns="0" bIns="0" rtlCol="0" anchor="t"/>
          <a:lstStyle/>
          <a:p>
            <a:pPr indent="0" marL="0">
              <a:buNone/>
            </a:pPr>
            <a:r>
              <a:rPr lang="en-US" sz="1200" dirty="0">
                <a:solidFill>
                  <a:schemeClr val="tx1"/>
                </a:solidFill>
              </a:rPr>
              <a:t>a year if labour costs €28 instead of €20 per hour — our biggest uncertainty</a:t>
            </a:r>
            <a:endParaRPr lang="en-US" sz="1200" dirty="0"/>
          </a:p>
        </p:txBody>
      </p:sp>
      <p:sp>
        <p:nvSpPr>
          <p:cNvPr id="29" name="Shape 27"/>
          <p:cNvSpPr/>
          <p:nvPr/>
        </p:nvSpPr>
        <p:spPr>
          <a:xfrm>
            <a:off x="9040901" y="3822192"/>
            <a:ext cx="2602154" cy="0"/>
          </a:xfrm>
          <a:prstGeom prst="line">
            <a:avLst/>
          </a:prstGeom>
          <a:noFill/>
          <a:ln w="9525">
            <a:solidFill>
              <a:schemeClr val="accent3"/>
            </a:solidFill>
            <a:prstDash val="solid"/>
          </a:ln>
        </p:spPr>
      </p:sp>
      <p:sp>
        <p:nvSpPr>
          <p:cNvPr id="30" name="Text 28"/>
          <p:cNvSpPr txBox="1"/>
          <p:nvPr/>
        </p:nvSpPr>
        <p:spPr>
          <a:xfrm>
            <a:off x="9040901" y="3913632"/>
            <a:ext cx="2602154" cy="14630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accent2"/>
                </a:solidFill>
              </a:rPr>
              <a:t>today and design compared on the same orders</a:t>
            </a:r>
            <a:endParaRPr lang="en-US" sz="1200" dirty="0"/>
          </a:p>
          <a:p>
            <a:pPr marL="152400" indent="-152400">
              <a:spcAft>
                <a:spcPts val="400"/>
              </a:spcAft>
              <a:buSzPct val="100000"/>
              <a:buChar char="•"/>
            </a:pPr>
            <a:r>
              <a:rPr lang="en-US" sz="1200" dirty="0">
                <a:solidFill>
                  <a:schemeClr val="accent2"/>
                </a:solidFill>
              </a:rPr>
              <a:t>racking price and productivity ±20% also tested</a:t>
            </a:r>
            <a:endParaRPr lang="en-US" sz="1200" dirty="0"/>
          </a:p>
          <a:p>
            <a:pPr marL="152400" indent="-152400">
              <a:spcAft>
                <a:spcPts val="400"/>
              </a:spcAft>
              <a:buSzPct val="100000"/>
              <a:buChar char="•"/>
            </a:pPr>
            <a:r>
              <a:rPr lang="en-US" sz="1200" dirty="0">
                <a:solidFill>
                  <a:schemeClr val="accent2"/>
                </a:solidFill>
              </a:rPr>
              <a:t>stress test at 150–250% volume</a:t>
            </a:r>
            <a:endParaRPr lang="en-US" sz="1200" dirty="0"/>
          </a:p>
        </p:txBody>
      </p:sp>
      <p:sp>
        <p:nvSpPr>
          <p:cNvPr id="31" name="Text 29"/>
          <p:cNvSpPr txBox="1"/>
          <p:nvPr/>
        </p:nvSpPr>
        <p:spPr>
          <a:xfrm>
            <a:off x="548640" y="5577840"/>
            <a:ext cx="11094415" cy="594360"/>
          </a:xfrm>
          <a:prstGeom prst="rect">
            <a:avLst/>
          </a:prstGeom>
          <a:solidFill>
            <a:schemeClr val="accent6"/>
          </a:solidFill>
          <a:ln/>
        </p:spPr>
        <p:txBody>
          <a:bodyPr wrap="square" lIns="177800" tIns="50800" rIns="177800" bIns="50800" rtlCol="0" anchor="ctr"/>
          <a:lstStyle/>
          <a:p>
            <a:pPr indent="0" marL="0">
              <a:buNone/>
            </a:pPr>
            <a:r>
              <a:rPr lang="en-US" sz="1300" b="1" dirty="0">
                <a:solidFill>
                  <a:schemeClr val="tx1"/>
                </a:solidFill>
              </a:rPr>
              <a:t>How to read our numbers:   </a:t>
            </a:r>
            <a:pPr indent="0" marL="0">
              <a:buNone/>
            </a:pPr>
            <a:r>
              <a:rPr lang="en-US" sz="1300" b="1" dirty="0">
                <a:solidFill>
                  <a:schemeClr val="accent1"/>
                </a:solidFill>
              </a:rPr>
              <a:t>measured</a:t>
            </a:r>
            <a:pPr indent="0" marL="0">
              <a:buNone/>
            </a:pPr>
            <a:r>
              <a:rPr lang="en-US" sz="1300" dirty="0">
                <a:solidFill>
                  <a:schemeClr val="tx1"/>
                </a:solidFill>
              </a:rPr>
              <a:t> = straight from Assa Abloy's data   ·   </a:t>
            </a:r>
            <a:pPr indent="0" marL="0">
              <a:buNone/>
            </a:pPr>
            <a:r>
              <a:rPr lang="en-US" sz="1300" b="1" dirty="0">
                <a:solidFill>
                  <a:schemeClr val="accent1"/>
                </a:solidFill>
              </a:rPr>
              <a:t>modelled</a:t>
            </a:r>
            <a:pPr indent="0" marL="0">
              <a:buNone/>
            </a:pPr>
            <a:r>
              <a:rPr lang="en-US" sz="1300" dirty="0">
                <a:solidFill>
                  <a:schemeClr val="tx1"/>
                </a:solidFill>
              </a:rPr>
              <a:t> = our calculation on the same data   ·   </a:t>
            </a:r>
            <a:pPr indent="0" marL="0">
              <a:buNone/>
            </a:pPr>
            <a:r>
              <a:rPr lang="en-US" sz="1300" b="1" dirty="0">
                <a:solidFill>
                  <a:schemeClr val="accent1"/>
                </a:solidFill>
              </a:rPr>
              <a:t>target</a:t>
            </a:r>
            <a:pPr indent="0" marL="0">
              <a:buNone/>
            </a:pPr>
            <a:r>
              <a:rPr lang="en-US" sz="1300" dirty="0">
                <a:solidFill>
                  <a:schemeClr val="tx1"/>
                </a:solidFill>
              </a:rPr>
              <a:t> = what the design is built to reach</a:t>
            </a:r>
            <a:endParaRPr lang="en-US" sz="13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TODAY</a:t>
            </a:r>
            <a:pPr indent="0" marL="0">
              <a:buNone/>
            </a:pPr>
            <a:r>
              <a:rPr lang="en-US" sz="900" spc="100" kern="0" dirty="0">
                <a:solidFill>
                  <a:schemeClr val="accent3"/>
                </a:solidFill>
              </a:rPr>
              <a:t>   ·   </a:t>
            </a:r>
            <a:pPr indent="0" marL="0">
              <a:buNone/>
            </a:pPr>
            <a:r>
              <a:rPr lang="en-US" sz="900" spc="100" kern="0" dirty="0">
                <a:solidFill>
                  <a:schemeClr val="accent3"/>
                </a:solidFill>
              </a:rPr>
              <a:t>OUR SOLUTION</a:t>
            </a:r>
            <a:pPr indent="0" marL="0">
              <a:buNone/>
            </a:pPr>
            <a:r>
              <a:rPr lang="en-US" sz="900" spc="100" kern="0" dirty="0">
                <a:solidFill>
                  <a:schemeClr val="accent3"/>
                </a:solidFill>
              </a:rPr>
              <a:t>   ·   </a:t>
            </a:r>
            <a:pPr indent="0" marL="0">
              <a:buNone/>
            </a:pPr>
            <a:r>
              <a:rPr lang="en-US" sz="900" spc="100" kern="0" dirty="0">
                <a:solidFill>
                  <a:schemeClr val="accent3"/>
                </a:solidFill>
              </a:rPr>
              <a:t>PROCESSES</a:t>
            </a:r>
            <a:pPr indent="0" marL="0">
              <a:buNone/>
            </a:pPr>
            <a:r>
              <a:rPr lang="en-US" sz="900" spc="100" kern="0" dirty="0">
                <a:solidFill>
                  <a:schemeClr val="accent3"/>
                </a:solidFill>
              </a:rPr>
              <a:t>   ·   </a:t>
            </a:r>
            <a:pPr indent="0" marL="0">
              <a:buNone/>
            </a:pPr>
            <a:r>
              <a:rPr lang="en-US" sz="900" spc="100" kern="0" dirty="0">
                <a:solidFill>
                  <a:schemeClr val="accent3"/>
                </a:solidFill>
              </a:rPr>
              <a:t>VALUE FOR DHL</a:t>
            </a:r>
            <a:pPr indent="0" marL="0">
              <a:buNone/>
            </a:pPr>
            <a:r>
              <a:rPr lang="en-US" sz="900" spc="100" kern="0" dirty="0">
                <a:solidFill>
                  <a:schemeClr val="accent3"/>
                </a:solidFill>
              </a:rPr>
              <a:t>   ·   </a:t>
            </a:r>
            <a:pPr indent="0" marL="0">
              <a:buNone/>
            </a:pPr>
            <a:r>
              <a:rPr lang="en-US" sz="900" spc="100" kern="0" dirty="0">
                <a:solidFill>
                  <a:schemeClr val="accent3"/>
                </a:solidFill>
              </a:rPr>
              <a:t>ROADMAP</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Today all orders are released at once: picking peaks at 08:00, half the lines ship late and the racks are almost full</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WMS data April–June 2025 (Assa Abloy &amp; DHL Supply Chain, 2025); picker-hours modelled (Deliverable 3 §2.2); step by step: appendix "How we calculated: picking"</a:t>
            </a:r>
            <a:endParaRPr lang="en-US" sz="900" dirty="0"/>
          </a:p>
        </p:txBody>
      </p:sp>
      <p:sp>
        <p:nvSpPr>
          <p:cNvPr id="5" name="Owner marker"/>
          <p:cNvSpPr/>
          <p:nvPr/>
        </p:nvSpPr>
        <p:spPr>
          <a:xfrm>
            <a:off x="9098280" y="338328"/>
            <a:ext cx="118872" cy="118872"/>
          </a:xfrm>
          <a:prstGeom prst="rect">
            <a:avLst/>
          </a:prstGeom>
          <a:solidFill>
            <a:srgbClr val="15803D"/>
          </a:solidFill>
          <a:ln/>
        </p:spPr>
      </p:sp>
      <p:sp>
        <p:nvSpPr>
          <p:cNvPr id="6" name="Presenter"/>
          <p:cNvSpPr txBox="1"/>
          <p:nvPr/>
        </p:nvSpPr>
        <p:spPr>
          <a:xfrm>
            <a:off x="929030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Arnau</a:t>
            </a:r>
            <a:pPr indent="0" marL="0">
              <a:buNone/>
            </a:pPr>
            <a:r>
              <a:rPr lang="en-US" sz="1000" dirty="0">
                <a:solidFill>
                  <a:schemeClr val="accent2"/>
                </a:solidFill>
              </a:rPr>
              <a:t> · presenter</a:t>
            </a:r>
            <a:endParaRPr lang="en-US" sz="1000" dirty="0"/>
          </a:p>
        </p:txBody>
      </p:sp>
      <p:sp>
        <p:nvSpPr>
          <p:cNvPr id="7" name="Text 5"/>
          <p:cNvSpPr txBox="1"/>
          <p:nvPr/>
        </p:nvSpPr>
        <p:spPr>
          <a:xfrm>
            <a:off x="548640" y="1737360"/>
            <a:ext cx="6126480" cy="274320"/>
          </a:xfrm>
          <a:prstGeom prst="rect">
            <a:avLst/>
          </a:prstGeom>
          <a:noFill/>
          <a:ln/>
        </p:spPr>
        <p:txBody>
          <a:bodyPr wrap="square" lIns="0" tIns="0" rIns="0" bIns="0" rtlCol="0" anchor="t"/>
          <a:lstStyle/>
          <a:p>
            <a:pPr indent="0" marL="0">
              <a:buNone/>
            </a:pPr>
            <a:r>
              <a:rPr lang="en-US" sz="1300" b="1" dirty="0">
                <a:solidFill>
                  <a:schemeClr val="tx2"/>
                </a:solidFill>
              </a:rPr>
              <a:t>When orders arrive vs when lines are picked</a:t>
            </a:r>
            <a:endParaRPr lang="en-US" sz="1300" dirty="0"/>
          </a:p>
        </p:txBody>
      </p:sp>
      <p:sp>
        <p:nvSpPr>
          <p:cNvPr id="8" name="Text 6"/>
          <p:cNvSpPr txBox="1"/>
          <p:nvPr/>
        </p:nvSpPr>
        <p:spPr>
          <a:xfrm>
            <a:off x="548640" y="2002536"/>
            <a:ext cx="6126480" cy="237744"/>
          </a:xfrm>
          <a:prstGeom prst="rect">
            <a:avLst/>
          </a:prstGeom>
          <a:noFill/>
          <a:ln/>
        </p:spPr>
        <p:txBody>
          <a:bodyPr wrap="square" lIns="0" tIns="0" rIns="0" bIns="0" rtlCol="0" anchor="t"/>
          <a:lstStyle/>
          <a:p>
            <a:pPr indent="0" marL="0">
              <a:buNone/>
            </a:pPr>
            <a:r>
              <a:rPr lang="en-US" sz="1100" dirty="0">
                <a:solidFill>
                  <a:schemeClr val="accent2"/>
                </a:solidFill>
              </a:rPr>
              <a:t>share of the day's total per hour of the day, % — measured, April–June 2025</a:t>
            </a:r>
            <a:endParaRPr lang="en-US" sz="1100" dirty="0"/>
          </a:p>
        </p:txBody>
      </p:sp>
      <p:graphicFrame>
        <p:nvGraphicFramePr>
          <p:cNvPr id="9" name="Chart 0" descr=""/>
          <p:cNvGraphicFramePr/>
          <p:nvPr/>
        </p:nvGraphicFramePr>
        <p:xfrm>
          <a:off x="411480" y="2286000"/>
          <a:ext cx="6309360" cy="329184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1188720" y="2395728"/>
            <a:ext cx="2377440" cy="457200"/>
          </a:xfrm>
          <a:prstGeom prst="rect">
            <a:avLst/>
          </a:prstGeom>
          <a:noFill/>
          <a:ln/>
        </p:spPr>
        <p:txBody>
          <a:bodyPr wrap="square" lIns="0" tIns="0" rIns="0" bIns="0" rtlCol="0" anchor="t"/>
          <a:lstStyle/>
          <a:p>
            <a:pPr indent="0" marL="0">
              <a:buNone/>
            </a:pPr>
            <a:r>
              <a:rPr lang="en-US" sz="1100" b="1" dirty="0">
                <a:solidFill>
                  <a:schemeClr val="accent1"/>
                </a:solidFill>
              </a:rPr>
              <a:t>Picking peaks at 08:00: 1.31× the average hour</a:t>
            </a:r>
            <a:endParaRPr lang="en-US" sz="1100" dirty="0"/>
          </a:p>
        </p:txBody>
      </p:sp>
      <p:sp>
        <p:nvSpPr>
          <p:cNvPr id="11" name="Text 8"/>
          <p:cNvSpPr txBox="1"/>
          <p:nvPr/>
        </p:nvSpPr>
        <p:spPr>
          <a:xfrm>
            <a:off x="3566160" y="2395728"/>
            <a:ext cx="2377440" cy="457200"/>
          </a:xfrm>
          <a:prstGeom prst="rect">
            <a:avLst/>
          </a:prstGeom>
          <a:noFill/>
          <a:ln/>
        </p:spPr>
        <p:txBody>
          <a:bodyPr wrap="square" lIns="0" tIns="0" rIns="0" bIns="0" rtlCol="0" anchor="t"/>
          <a:lstStyle/>
          <a:p>
            <a:pPr algn="r" indent="0" marL="0">
              <a:buNone/>
            </a:pPr>
            <a:r>
              <a:rPr lang="en-US" sz="1100" b="1" dirty="0">
                <a:solidFill>
                  <a:schemeClr val="accent2"/>
                </a:solidFill>
              </a:rPr>
              <a:t>55% of orders arrive 15:00–17:00, released together in the evening</a:t>
            </a:r>
            <a:endParaRPr lang="en-US" sz="1100" dirty="0"/>
          </a:p>
        </p:txBody>
      </p:sp>
      <p:sp>
        <p:nvSpPr>
          <p:cNvPr id="12" name="Text 9"/>
          <p:cNvSpPr txBox="1"/>
          <p:nvPr/>
        </p:nvSpPr>
        <p:spPr>
          <a:xfrm>
            <a:off x="7086600" y="1737360"/>
            <a:ext cx="4556455" cy="274320"/>
          </a:xfrm>
          <a:prstGeom prst="rect">
            <a:avLst/>
          </a:prstGeom>
          <a:noFill/>
          <a:ln/>
        </p:spPr>
        <p:txBody>
          <a:bodyPr wrap="square" lIns="0" tIns="0" rIns="0" bIns="0" rtlCol="0" anchor="t"/>
          <a:lstStyle/>
          <a:p>
            <a:pPr indent="0" marL="0">
              <a:buNone/>
            </a:pPr>
            <a:r>
              <a:rPr lang="en-US" sz="1300" b="1" dirty="0">
                <a:solidFill>
                  <a:schemeClr val="tx2"/>
                </a:solidFill>
              </a:rPr>
              <a:t>What it costs DHL today</a:t>
            </a:r>
            <a:endParaRPr lang="en-US" sz="1300" dirty="0"/>
          </a:p>
        </p:txBody>
      </p:sp>
      <p:sp>
        <p:nvSpPr>
          <p:cNvPr id="13" name="Shape 10"/>
          <p:cNvSpPr/>
          <p:nvPr/>
        </p:nvSpPr>
        <p:spPr>
          <a:xfrm>
            <a:off x="7086600" y="2103120"/>
            <a:ext cx="4556455" cy="0"/>
          </a:xfrm>
          <a:prstGeom prst="line">
            <a:avLst/>
          </a:prstGeom>
          <a:noFill/>
          <a:ln w="9525">
            <a:solidFill>
              <a:schemeClr val="accent4"/>
            </a:solidFill>
            <a:prstDash val="solid"/>
          </a:ln>
        </p:spPr>
      </p:sp>
      <p:sp>
        <p:nvSpPr>
          <p:cNvPr id="14" name="Text 11"/>
          <p:cNvSpPr txBox="1"/>
          <p:nvPr/>
        </p:nvSpPr>
        <p:spPr>
          <a:xfrm>
            <a:off x="7086600" y="2212848"/>
            <a:ext cx="1097280" cy="274320"/>
          </a:xfrm>
          <a:prstGeom prst="rect">
            <a:avLst/>
          </a:prstGeom>
          <a:noFill/>
          <a:ln/>
        </p:spPr>
        <p:txBody>
          <a:bodyPr wrap="square" lIns="0" tIns="0" rIns="0" bIns="0" rtlCol="0" anchor="t"/>
          <a:lstStyle/>
          <a:p>
            <a:pPr indent="0" marL="0">
              <a:buNone/>
            </a:pPr>
            <a:r>
              <a:rPr lang="en-US" sz="1400" b="1" dirty="0">
                <a:solidFill>
                  <a:schemeClr val="tx2"/>
                </a:solidFill>
              </a:rPr>
              <a:t>Service</a:t>
            </a:r>
            <a:endParaRPr lang="en-US" sz="1400" dirty="0"/>
          </a:p>
        </p:txBody>
      </p:sp>
      <p:sp>
        <p:nvSpPr>
          <p:cNvPr id="15" name="Text 12"/>
          <p:cNvSpPr txBox="1"/>
          <p:nvPr/>
        </p:nvSpPr>
        <p:spPr>
          <a:xfrm>
            <a:off x="8229600" y="2212848"/>
            <a:ext cx="2788920" cy="768096"/>
          </a:xfrm>
          <a:prstGeom prst="rect">
            <a:avLst/>
          </a:prstGeom>
          <a:noFill/>
          <a:ln/>
        </p:spPr>
        <p:txBody>
          <a:bodyPr wrap="square" lIns="0" tIns="0" rIns="0" bIns="0" rtlCol="0" anchor="t"/>
          <a:lstStyle/>
          <a:p>
            <a:pPr indent="0" marL="0">
              <a:buNone/>
            </a:pPr>
            <a:r>
              <a:rPr lang="en-US" sz="1250" dirty="0">
                <a:solidFill>
                  <a:schemeClr val="tx1"/>
                </a:solidFill>
              </a:rPr>
              <a:t>49.9% of lines staged on time; 37% of orders out within 24 h, the slowest 10% take over 102 h</a:t>
            </a:r>
            <a:endParaRPr lang="en-US" sz="1250" dirty="0"/>
          </a:p>
        </p:txBody>
      </p:sp>
      <p:sp>
        <p:nvSpPr>
          <p:cNvPr id="16" name="Shape 13"/>
          <p:cNvSpPr/>
          <p:nvPr/>
        </p:nvSpPr>
        <p:spPr>
          <a:xfrm>
            <a:off x="11140135" y="2276856"/>
            <a:ext cx="118872" cy="118872"/>
          </a:xfrm>
          <a:prstGeom prst="ellipse">
            <a:avLst/>
          </a:prstGeom>
          <a:solidFill>
            <a:schemeClr val="accent1"/>
          </a:solidFill>
          <a:ln/>
        </p:spPr>
      </p:sp>
      <p:sp>
        <p:nvSpPr>
          <p:cNvPr id="17" name="Shape 14"/>
          <p:cNvSpPr/>
          <p:nvPr/>
        </p:nvSpPr>
        <p:spPr>
          <a:xfrm>
            <a:off x="11323015" y="2276856"/>
            <a:ext cx="118872" cy="118872"/>
          </a:xfrm>
          <a:prstGeom prst="ellipse">
            <a:avLst/>
          </a:prstGeom>
          <a:solidFill>
            <a:schemeClr val="accent1"/>
          </a:solidFill>
          <a:ln/>
        </p:spPr>
      </p:sp>
      <p:sp>
        <p:nvSpPr>
          <p:cNvPr id="18" name="Shape 15"/>
          <p:cNvSpPr/>
          <p:nvPr/>
        </p:nvSpPr>
        <p:spPr>
          <a:xfrm>
            <a:off x="11505895" y="2276856"/>
            <a:ext cx="118872" cy="118872"/>
          </a:xfrm>
          <a:prstGeom prst="ellipse">
            <a:avLst/>
          </a:prstGeom>
          <a:solidFill>
            <a:schemeClr val="accent1"/>
          </a:solidFill>
          <a:ln/>
        </p:spPr>
      </p:sp>
      <p:sp>
        <p:nvSpPr>
          <p:cNvPr id="19" name="Shape 16"/>
          <p:cNvSpPr/>
          <p:nvPr/>
        </p:nvSpPr>
        <p:spPr>
          <a:xfrm>
            <a:off x="7086600" y="2999232"/>
            <a:ext cx="4556455" cy="0"/>
          </a:xfrm>
          <a:prstGeom prst="line">
            <a:avLst/>
          </a:prstGeom>
          <a:noFill/>
          <a:ln w="9525">
            <a:solidFill>
              <a:schemeClr val="accent4"/>
            </a:solidFill>
            <a:prstDash val="solid"/>
          </a:ln>
        </p:spPr>
      </p:sp>
      <p:sp>
        <p:nvSpPr>
          <p:cNvPr id="20" name="Text 17"/>
          <p:cNvSpPr txBox="1"/>
          <p:nvPr/>
        </p:nvSpPr>
        <p:spPr>
          <a:xfrm>
            <a:off x="7086600" y="3108960"/>
            <a:ext cx="1097280" cy="274320"/>
          </a:xfrm>
          <a:prstGeom prst="rect">
            <a:avLst/>
          </a:prstGeom>
          <a:noFill/>
          <a:ln/>
        </p:spPr>
        <p:txBody>
          <a:bodyPr wrap="square" lIns="0" tIns="0" rIns="0" bIns="0" rtlCol="0" anchor="t"/>
          <a:lstStyle/>
          <a:p>
            <a:pPr indent="0" marL="0">
              <a:buNone/>
            </a:pPr>
            <a:r>
              <a:rPr lang="en-US" sz="1400" b="1" dirty="0">
                <a:solidFill>
                  <a:schemeClr val="tx2"/>
                </a:solidFill>
              </a:rPr>
              <a:t>Cost</a:t>
            </a:r>
            <a:endParaRPr lang="en-US" sz="1400" dirty="0"/>
          </a:p>
        </p:txBody>
      </p:sp>
      <p:sp>
        <p:nvSpPr>
          <p:cNvPr id="21" name="Text 18"/>
          <p:cNvSpPr txBox="1"/>
          <p:nvPr/>
        </p:nvSpPr>
        <p:spPr>
          <a:xfrm>
            <a:off x="8229600" y="3108960"/>
            <a:ext cx="2788920" cy="768096"/>
          </a:xfrm>
          <a:prstGeom prst="rect">
            <a:avLst/>
          </a:prstGeom>
          <a:noFill/>
          <a:ln/>
        </p:spPr>
        <p:txBody>
          <a:bodyPr wrap="square" lIns="0" tIns="0" rIns="0" bIns="0" rtlCol="0" anchor="t"/>
          <a:lstStyle/>
          <a:p>
            <a:pPr indent="0" marL="0">
              <a:buNone/>
            </a:pPr>
            <a:r>
              <a:rPr lang="en-US" sz="1250" dirty="0">
                <a:solidFill>
                  <a:schemeClr val="tx1"/>
                </a:solidFill>
              </a:rPr>
              <a:t>~31 picker-hours a day: every tour picks one order, and staff is planned for the 08:00 peak</a:t>
            </a:r>
            <a:endParaRPr lang="en-US" sz="1250" dirty="0"/>
          </a:p>
        </p:txBody>
      </p:sp>
      <p:sp>
        <p:nvSpPr>
          <p:cNvPr id="22" name="Shape 19"/>
          <p:cNvSpPr/>
          <p:nvPr/>
        </p:nvSpPr>
        <p:spPr>
          <a:xfrm>
            <a:off x="11140135" y="3172968"/>
            <a:ext cx="118872" cy="118872"/>
          </a:xfrm>
          <a:prstGeom prst="ellipse">
            <a:avLst/>
          </a:prstGeom>
          <a:solidFill>
            <a:schemeClr val="accent1"/>
          </a:solidFill>
          <a:ln/>
        </p:spPr>
      </p:sp>
      <p:sp>
        <p:nvSpPr>
          <p:cNvPr id="23" name="Shape 20"/>
          <p:cNvSpPr/>
          <p:nvPr/>
        </p:nvSpPr>
        <p:spPr>
          <a:xfrm>
            <a:off x="11323015" y="3172968"/>
            <a:ext cx="118872" cy="118872"/>
          </a:xfrm>
          <a:prstGeom prst="ellipse">
            <a:avLst/>
          </a:prstGeom>
          <a:solidFill>
            <a:schemeClr val="accent1"/>
          </a:solidFill>
          <a:ln/>
        </p:spPr>
      </p:sp>
      <p:sp>
        <p:nvSpPr>
          <p:cNvPr id="24" name="Shape 21"/>
          <p:cNvSpPr/>
          <p:nvPr/>
        </p:nvSpPr>
        <p:spPr>
          <a:xfrm>
            <a:off x="11505895" y="3172968"/>
            <a:ext cx="118872" cy="118872"/>
          </a:xfrm>
          <a:prstGeom prst="ellipse">
            <a:avLst/>
          </a:prstGeom>
          <a:solidFill>
            <a:schemeClr val="accent1"/>
          </a:solidFill>
          <a:ln/>
        </p:spPr>
      </p:sp>
      <p:sp>
        <p:nvSpPr>
          <p:cNvPr id="25" name="Shape 22"/>
          <p:cNvSpPr/>
          <p:nvPr/>
        </p:nvSpPr>
        <p:spPr>
          <a:xfrm>
            <a:off x="7086600" y="3895344"/>
            <a:ext cx="4556455" cy="0"/>
          </a:xfrm>
          <a:prstGeom prst="line">
            <a:avLst/>
          </a:prstGeom>
          <a:noFill/>
          <a:ln w="9525">
            <a:solidFill>
              <a:schemeClr val="accent4"/>
            </a:solidFill>
            <a:prstDash val="solid"/>
          </a:ln>
        </p:spPr>
      </p:sp>
      <p:sp>
        <p:nvSpPr>
          <p:cNvPr id="26" name="Text 23"/>
          <p:cNvSpPr txBox="1"/>
          <p:nvPr/>
        </p:nvSpPr>
        <p:spPr>
          <a:xfrm>
            <a:off x="7086600" y="4005072"/>
            <a:ext cx="1097280" cy="274320"/>
          </a:xfrm>
          <a:prstGeom prst="rect">
            <a:avLst/>
          </a:prstGeom>
          <a:noFill/>
          <a:ln/>
        </p:spPr>
        <p:txBody>
          <a:bodyPr wrap="square" lIns="0" tIns="0" rIns="0" bIns="0" rtlCol="0" anchor="t"/>
          <a:lstStyle/>
          <a:p>
            <a:pPr indent="0" marL="0">
              <a:buNone/>
            </a:pPr>
            <a:r>
              <a:rPr lang="en-US" sz="1400" b="1" dirty="0">
                <a:solidFill>
                  <a:schemeClr val="tx2"/>
                </a:solidFill>
              </a:rPr>
              <a:t>Space</a:t>
            </a:r>
            <a:endParaRPr lang="en-US" sz="1400" dirty="0"/>
          </a:p>
        </p:txBody>
      </p:sp>
      <p:sp>
        <p:nvSpPr>
          <p:cNvPr id="27" name="Text 24"/>
          <p:cNvSpPr txBox="1"/>
          <p:nvPr/>
        </p:nvSpPr>
        <p:spPr>
          <a:xfrm>
            <a:off x="8229600" y="4005072"/>
            <a:ext cx="2788920" cy="768096"/>
          </a:xfrm>
          <a:prstGeom prst="rect">
            <a:avLst/>
          </a:prstGeom>
          <a:noFill/>
          <a:ln/>
        </p:spPr>
        <p:txBody>
          <a:bodyPr wrap="square" lIns="0" tIns="0" rIns="0" bIns="0" rtlCol="0" anchor="t"/>
          <a:lstStyle/>
          <a:p>
            <a:pPr indent="0" marL="0">
              <a:buNone/>
            </a:pPr>
            <a:r>
              <a:rPr lang="en-US" sz="1250" dirty="0">
                <a:solidFill>
                  <a:schemeClr val="tx1"/>
                </a:solidFill>
              </a:rPr>
              <a:t>racks full in ~4 months at the current growth; slotting matches demand for only 49% of items</a:t>
            </a:r>
            <a:endParaRPr lang="en-US" sz="1250" dirty="0"/>
          </a:p>
        </p:txBody>
      </p:sp>
      <p:sp>
        <p:nvSpPr>
          <p:cNvPr id="28" name="Shape 25"/>
          <p:cNvSpPr/>
          <p:nvPr/>
        </p:nvSpPr>
        <p:spPr>
          <a:xfrm>
            <a:off x="11140135" y="4069080"/>
            <a:ext cx="118872" cy="118872"/>
          </a:xfrm>
          <a:prstGeom prst="ellipse">
            <a:avLst/>
          </a:prstGeom>
          <a:solidFill>
            <a:schemeClr val="accent1"/>
          </a:solidFill>
          <a:ln/>
        </p:spPr>
      </p:sp>
      <p:sp>
        <p:nvSpPr>
          <p:cNvPr id="29" name="Shape 26"/>
          <p:cNvSpPr/>
          <p:nvPr/>
        </p:nvSpPr>
        <p:spPr>
          <a:xfrm>
            <a:off x="11323015" y="4069080"/>
            <a:ext cx="118872" cy="118872"/>
          </a:xfrm>
          <a:prstGeom prst="ellipse">
            <a:avLst/>
          </a:prstGeom>
          <a:solidFill>
            <a:schemeClr val="accent1"/>
          </a:solidFill>
          <a:ln/>
        </p:spPr>
      </p:sp>
      <p:sp>
        <p:nvSpPr>
          <p:cNvPr id="30" name="Shape 27"/>
          <p:cNvSpPr/>
          <p:nvPr/>
        </p:nvSpPr>
        <p:spPr>
          <a:xfrm>
            <a:off x="11505895" y="4069080"/>
            <a:ext cx="118872" cy="118872"/>
          </a:xfrm>
          <a:prstGeom prst="ellipse">
            <a:avLst/>
          </a:prstGeom>
          <a:solidFill>
            <a:schemeClr val="accent4"/>
          </a:solidFill>
          <a:ln/>
        </p:spPr>
      </p:sp>
      <p:sp>
        <p:nvSpPr>
          <p:cNvPr id="31" name="Shape 28"/>
          <p:cNvSpPr/>
          <p:nvPr/>
        </p:nvSpPr>
        <p:spPr>
          <a:xfrm>
            <a:off x="7086600" y="4791456"/>
            <a:ext cx="4556455" cy="0"/>
          </a:xfrm>
          <a:prstGeom prst="line">
            <a:avLst/>
          </a:prstGeom>
          <a:noFill/>
          <a:ln w="9525">
            <a:solidFill>
              <a:schemeClr val="accent4"/>
            </a:solidFill>
            <a:prstDash val="solid"/>
          </a:ln>
        </p:spPr>
      </p:sp>
      <p:sp>
        <p:nvSpPr>
          <p:cNvPr id="32" name="Text 29"/>
          <p:cNvSpPr txBox="1"/>
          <p:nvPr/>
        </p:nvSpPr>
        <p:spPr>
          <a:xfrm>
            <a:off x="7086600" y="4956048"/>
            <a:ext cx="4556455" cy="566928"/>
          </a:xfrm>
          <a:prstGeom prst="rect">
            <a:avLst/>
          </a:prstGeom>
          <a:solidFill>
            <a:schemeClr val="accent6"/>
          </a:solidFill>
          <a:ln/>
        </p:spPr>
        <p:txBody>
          <a:bodyPr wrap="square" lIns="127000" tIns="50800" rIns="127000" bIns="50800" rtlCol="0" anchor="ctr"/>
          <a:lstStyle/>
          <a:p>
            <a:pPr indent="0" marL="0">
              <a:buNone/>
            </a:pPr>
            <a:r>
              <a:rPr lang="en-US" sz="1300" b="1" dirty="0">
                <a:solidFill>
                  <a:schemeClr val="tx1"/>
                </a:solidFill>
              </a:rPr>
              <a:t>The cause: </a:t>
            </a:r>
            <a:pPr indent="0" marL="0">
              <a:buNone/>
            </a:pPr>
            <a:r>
              <a:rPr lang="en-US" sz="1300" dirty="0">
                <a:solidFill>
                  <a:schemeClr val="tx1"/>
                </a:solidFill>
              </a:rPr>
              <a:t>how work is released and picked — not a lack of space.</a:t>
            </a:r>
            <a:endParaRPr lang="en-US" sz="1300" dirty="0"/>
          </a:p>
        </p:txBody>
      </p:sp>
      <p:sp>
        <p:nvSpPr>
          <p:cNvPr id="33" name="How we calculated it"/>
          <p:cNvSpPr txBox="1"/>
          <p:nvPr/>
        </p:nvSpPr>
        <p:spPr>
          <a:xfrm>
            <a:off x="548640" y="5641848"/>
            <a:ext cx="11094415" cy="640080"/>
          </a:xfrm>
          <a:prstGeom prst="rect">
            <a:avLst/>
          </a:prstGeom>
          <a:solidFill>
            <a:schemeClr val="bg2"/>
          </a:solidFill>
          <a:ln/>
        </p:spPr>
        <p:txBody>
          <a:bodyPr wrap="square" lIns="127000" tIns="38100" rIns="127000" bIns="38100" rtlCol="0" anchor="ctr"/>
          <a:lstStyle/>
          <a:p>
            <a:pPr indent="0" marL="0">
              <a:buNone/>
            </a:pPr>
            <a:r>
              <a:rPr lang="en-US" sz="900" b="1" spc="100" kern="0" dirty="0">
                <a:solidFill>
                  <a:schemeClr val="accent1"/>
                </a:solidFill>
              </a:rPr>
              <a:t>HOW WE CALCULATED IT    </a:t>
            </a:r>
            <a:pPr indent="0" marL="0">
              <a:buNone/>
            </a:pPr>
            <a:r>
              <a:rPr lang="en-US" sz="1100" dirty="0">
                <a:solidFill>
                  <a:schemeClr val="tx1"/>
                </a:solidFill>
              </a:rPr>
              <a:t>Measured: on time = order lines the WMS did not flag 'LATE'; within 24 h = trailer left − order received, per order (8,774 orders); arrivals and picks counted per hour. Modelled: picker-hours = time per tour × tours, one order per tour today (23.77 h), × 1.31 because staff is planned for the 08:00 peak = 31.1 h.</a:t>
            </a:r>
            <a:endParaRPr lang="en-US" sz="11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spc="100" kern="0" dirty="0">
                <a:solidFill>
                  <a:schemeClr val="accent3"/>
                </a:solidFill>
              </a:rPr>
              <a:t>TODAY</a:t>
            </a:r>
            <a:pPr indent="0" marL="0">
              <a:buNone/>
            </a:pPr>
            <a:r>
              <a:rPr lang="en-US" sz="900" spc="100" kern="0" dirty="0">
                <a:solidFill>
                  <a:schemeClr val="accent3"/>
                </a:solidFill>
              </a:rPr>
              <a:t>   ·   </a:t>
            </a:r>
            <a:pPr indent="0" marL="0">
              <a:buNone/>
            </a:pPr>
            <a:r>
              <a:rPr lang="en-US" sz="900" b="1" spc="100" kern="0" dirty="0">
                <a:solidFill>
                  <a:schemeClr val="accent1"/>
                </a:solidFill>
              </a:rPr>
              <a:t>OUR SOLUTION</a:t>
            </a:r>
            <a:pPr indent="0" marL="0">
              <a:buNone/>
            </a:pPr>
            <a:r>
              <a:rPr lang="en-US" sz="900" spc="100" kern="0" dirty="0">
                <a:solidFill>
                  <a:schemeClr val="accent3"/>
                </a:solidFill>
              </a:rPr>
              <a:t>   ·   </a:t>
            </a:r>
            <a:pPr indent="0" marL="0">
              <a:buNone/>
            </a:pPr>
            <a:r>
              <a:rPr lang="en-US" sz="900" spc="100" kern="0" dirty="0">
                <a:solidFill>
                  <a:schemeClr val="accent3"/>
                </a:solidFill>
              </a:rPr>
              <a:t>PROCESSES</a:t>
            </a:r>
            <a:pPr indent="0" marL="0">
              <a:buNone/>
            </a:pPr>
            <a:r>
              <a:rPr lang="en-US" sz="900" spc="100" kern="0" dirty="0">
                <a:solidFill>
                  <a:schemeClr val="accent3"/>
                </a:solidFill>
              </a:rPr>
              <a:t>   ·   </a:t>
            </a:r>
            <a:pPr indent="0" marL="0">
              <a:buNone/>
            </a:pPr>
            <a:r>
              <a:rPr lang="en-US" sz="900" spc="100" kern="0" dirty="0">
                <a:solidFill>
                  <a:schemeClr val="accent3"/>
                </a:solidFill>
              </a:rPr>
              <a:t>VALUE FOR DHL</a:t>
            </a:r>
            <a:pPr indent="0" marL="0">
              <a:buNone/>
            </a:pPr>
            <a:r>
              <a:rPr lang="en-US" sz="900" spc="100" kern="0" dirty="0">
                <a:solidFill>
                  <a:schemeClr val="accent3"/>
                </a:solidFill>
              </a:rPr>
              <a:t>   ·   </a:t>
            </a:r>
            <a:pPr indent="0" marL="0">
              <a:buNone/>
            </a:pPr>
            <a:r>
              <a:rPr lang="en-US" sz="900" spc="100" kern="0" dirty="0">
                <a:solidFill>
                  <a:schemeClr val="accent3"/>
                </a:solidFill>
              </a:rPr>
              <a:t>ROADMAP</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One-way flow from dock to trailer in 6,731 m² — the design fits the current 7,000 m² building</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team layout drawing, to scale (Deliverable 2 §2); option choice: team decision matrix (Deliverable 1 §15)</a:t>
            </a:r>
            <a:endParaRPr lang="en-US" sz="900" dirty="0"/>
          </a:p>
        </p:txBody>
      </p:sp>
      <p:sp>
        <p:nvSpPr>
          <p:cNvPr id="5" name="Owner marker"/>
          <p:cNvSpPr/>
          <p:nvPr/>
        </p:nvSpPr>
        <p:spPr>
          <a:xfrm>
            <a:off x="9098280" y="338328"/>
            <a:ext cx="118872" cy="118872"/>
          </a:xfrm>
          <a:prstGeom prst="rect">
            <a:avLst/>
          </a:prstGeom>
          <a:solidFill>
            <a:srgbClr val="C2410C"/>
          </a:solidFill>
          <a:ln/>
        </p:spPr>
      </p:sp>
      <p:sp>
        <p:nvSpPr>
          <p:cNvPr id="6" name="Presenter"/>
          <p:cNvSpPr txBox="1"/>
          <p:nvPr/>
        </p:nvSpPr>
        <p:spPr>
          <a:xfrm>
            <a:off x="929030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Vidhi</a:t>
            </a:r>
            <a:pPr indent="0" marL="0">
              <a:buNone/>
            </a:pPr>
            <a:r>
              <a:rPr lang="en-US" sz="1000" dirty="0">
                <a:solidFill>
                  <a:schemeClr val="accent2"/>
                </a:solidFill>
              </a:rPr>
              <a:t> · presenter</a:t>
            </a:r>
            <a:endParaRPr lang="en-US" sz="1000" dirty="0"/>
          </a:p>
        </p:txBody>
      </p:sp>
      <p:pic>
        <p:nvPicPr>
          <p:cNvPr id="7" name="Image 0" descr="Warehouse layout with the numbered route of an order line">    </p:cNvPr>
          <p:cNvPicPr>
            <a:picLocks noChangeAspect="1"/>
          </p:cNvPicPr>
          <p:nvPr/>
        </p:nvPicPr>
        <p:blipFill>
          <a:blip r:embed="rId1"/>
          <a:stretch>
            <a:fillRect/>
          </a:stretch>
        </p:blipFill>
        <p:spPr>
          <a:xfrm>
            <a:off x="548640" y="1737360"/>
            <a:ext cx="5462155" cy="3794760"/>
          </a:xfrm>
          <a:prstGeom prst="rect">
            <a:avLst/>
          </a:prstGeom>
        </p:spPr>
      </p:pic>
      <p:sp>
        <p:nvSpPr>
          <p:cNvPr id="8" name="Text 5"/>
          <p:cNvSpPr txBox="1"/>
          <p:nvPr/>
        </p:nvSpPr>
        <p:spPr>
          <a:xfrm>
            <a:off x="6422275" y="1737360"/>
            <a:ext cx="5220781" cy="274320"/>
          </a:xfrm>
          <a:prstGeom prst="rect">
            <a:avLst/>
          </a:prstGeom>
          <a:noFill/>
          <a:ln/>
        </p:spPr>
        <p:txBody>
          <a:bodyPr wrap="square" lIns="0" tIns="0" rIns="0" bIns="0" rtlCol="0" anchor="t"/>
          <a:lstStyle/>
          <a:p>
            <a:pPr indent="0" marL="0">
              <a:buNone/>
            </a:pPr>
            <a:r>
              <a:rPr lang="en-US" sz="1300" b="1" dirty="0">
                <a:solidFill>
                  <a:schemeClr val="tx2"/>
                </a:solidFill>
              </a:rPr>
              <a:t>The route of an order line</a:t>
            </a:r>
            <a:endParaRPr lang="en-US" sz="1300" dirty="0"/>
          </a:p>
        </p:txBody>
      </p:sp>
      <p:sp>
        <p:nvSpPr>
          <p:cNvPr id="9" name="Text 6"/>
          <p:cNvSpPr/>
          <p:nvPr/>
        </p:nvSpPr>
        <p:spPr>
          <a:xfrm>
            <a:off x="6422275" y="2103120"/>
            <a:ext cx="265176" cy="265176"/>
          </a:xfrm>
          <a:prstGeom prst="ellipse">
            <a:avLst/>
          </a:prstGeom>
          <a:solidFill>
            <a:schemeClr val="bg1"/>
          </a:solidFill>
          <a:ln w="25400">
            <a:solidFill>
              <a:srgbClr val="2B6CB0"/>
            </a:solidFill>
          </a:ln>
        </p:spPr>
        <p:txBody>
          <a:bodyPr wrap="square" lIns="0" tIns="0" rIns="0" bIns="0" rtlCol="0" anchor="ctr"/>
          <a:lstStyle/>
          <a:p>
            <a:pPr algn="ctr" indent="0" marL="0">
              <a:buNone/>
            </a:pPr>
            <a:r>
              <a:rPr lang="en-US" sz="1100" b="1" dirty="0">
                <a:solidFill>
                  <a:srgbClr val="2B6CB0"/>
                </a:solidFill>
              </a:rPr>
              <a:t>1</a:t>
            </a:r>
            <a:endParaRPr lang="en-US" sz="1100" dirty="0"/>
          </a:p>
        </p:txBody>
      </p:sp>
      <p:sp>
        <p:nvSpPr>
          <p:cNvPr id="10" name="Text 7"/>
          <p:cNvSpPr txBox="1"/>
          <p:nvPr/>
        </p:nvSpPr>
        <p:spPr>
          <a:xfrm>
            <a:off x="6806323" y="2121408"/>
            <a:ext cx="4836733" cy="274320"/>
          </a:xfrm>
          <a:prstGeom prst="rect">
            <a:avLst/>
          </a:prstGeom>
          <a:noFill/>
          <a:ln/>
        </p:spPr>
        <p:txBody>
          <a:bodyPr wrap="square" lIns="0" tIns="0" rIns="0" bIns="0" rtlCol="0" anchor="t"/>
          <a:lstStyle/>
          <a:p>
            <a:pPr indent="0" marL="0">
              <a:buNone/>
            </a:pPr>
            <a:r>
              <a:rPr lang="en-US" sz="1250" dirty="0">
                <a:solidFill>
                  <a:schemeClr val="tx1"/>
                </a:solidFill>
              </a:rPr>
              <a:t>Trailers unloaded and checked at R2 / R3</a:t>
            </a:r>
            <a:endParaRPr lang="en-US" sz="1250" dirty="0"/>
          </a:p>
        </p:txBody>
      </p:sp>
      <p:sp>
        <p:nvSpPr>
          <p:cNvPr id="11" name="Text 8"/>
          <p:cNvSpPr/>
          <p:nvPr/>
        </p:nvSpPr>
        <p:spPr>
          <a:xfrm>
            <a:off x="6422275" y="2459736"/>
            <a:ext cx="265176" cy="265176"/>
          </a:xfrm>
          <a:prstGeom prst="ellipse">
            <a:avLst/>
          </a:prstGeom>
          <a:solidFill>
            <a:schemeClr val="bg1"/>
          </a:solidFill>
          <a:ln w="25400">
            <a:solidFill>
              <a:srgbClr val="D97706"/>
            </a:solidFill>
          </a:ln>
        </p:spPr>
        <p:txBody>
          <a:bodyPr wrap="square" lIns="0" tIns="0" rIns="0" bIns="0" rtlCol="0" anchor="ctr"/>
          <a:lstStyle/>
          <a:p>
            <a:pPr algn="ctr" indent="0" marL="0">
              <a:buNone/>
            </a:pPr>
            <a:r>
              <a:rPr lang="en-US" sz="1100" b="1" dirty="0">
                <a:solidFill>
                  <a:srgbClr val="D97706"/>
                </a:solidFill>
              </a:rPr>
              <a:t>C</a:t>
            </a:r>
            <a:endParaRPr lang="en-US" sz="1100" dirty="0"/>
          </a:p>
        </p:txBody>
      </p:sp>
      <p:sp>
        <p:nvSpPr>
          <p:cNvPr id="12" name="Text 9"/>
          <p:cNvSpPr txBox="1"/>
          <p:nvPr/>
        </p:nvSpPr>
        <p:spPr>
          <a:xfrm>
            <a:off x="6806323" y="2478024"/>
            <a:ext cx="4836733" cy="274320"/>
          </a:xfrm>
          <a:prstGeom prst="rect">
            <a:avLst/>
          </a:prstGeom>
          <a:noFill/>
          <a:ln/>
        </p:spPr>
        <p:txBody>
          <a:bodyPr wrap="square" lIns="0" tIns="0" rIns="0" bIns="0" rtlCol="0" anchor="t"/>
          <a:lstStyle/>
          <a:p>
            <a:pPr indent="0" marL="0">
              <a:buNone/>
            </a:pPr>
            <a:r>
              <a:rPr lang="en-US" sz="1250" dirty="0">
                <a:solidFill>
                  <a:schemeClr val="tx1"/>
                </a:solidFill>
              </a:rPr>
              <a:t>Containers unpacked at R1, built onto pallets</a:t>
            </a:r>
            <a:endParaRPr lang="en-US" sz="1250" dirty="0"/>
          </a:p>
        </p:txBody>
      </p:sp>
      <p:sp>
        <p:nvSpPr>
          <p:cNvPr id="13" name="Text 10"/>
          <p:cNvSpPr/>
          <p:nvPr/>
        </p:nvSpPr>
        <p:spPr>
          <a:xfrm>
            <a:off x="6422275" y="2816352"/>
            <a:ext cx="265176" cy="265176"/>
          </a:xfrm>
          <a:prstGeom prst="ellipse">
            <a:avLst/>
          </a:prstGeom>
          <a:solidFill>
            <a:schemeClr val="bg1"/>
          </a:solidFill>
          <a:ln w="25400">
            <a:solidFill>
              <a:srgbClr val="2B6CB0"/>
            </a:solidFill>
          </a:ln>
        </p:spPr>
        <p:txBody>
          <a:bodyPr wrap="square" lIns="0" tIns="0" rIns="0" bIns="0" rtlCol="0" anchor="ctr"/>
          <a:lstStyle/>
          <a:p>
            <a:pPr algn="ctr" indent="0" marL="0">
              <a:buNone/>
            </a:pPr>
            <a:r>
              <a:rPr lang="en-US" sz="1100" b="1" dirty="0">
                <a:solidFill>
                  <a:srgbClr val="2B6CB0"/>
                </a:solidFill>
              </a:rPr>
              <a:t>2</a:t>
            </a:r>
            <a:endParaRPr lang="en-US" sz="1100" dirty="0"/>
          </a:p>
        </p:txBody>
      </p:sp>
      <p:sp>
        <p:nvSpPr>
          <p:cNvPr id="14" name="Text 11"/>
          <p:cNvSpPr txBox="1"/>
          <p:nvPr/>
        </p:nvSpPr>
        <p:spPr>
          <a:xfrm>
            <a:off x="6806323" y="2834640"/>
            <a:ext cx="4836733" cy="274320"/>
          </a:xfrm>
          <a:prstGeom prst="rect">
            <a:avLst/>
          </a:prstGeom>
          <a:noFill/>
          <a:ln/>
        </p:spPr>
        <p:txBody>
          <a:bodyPr wrap="square" lIns="0" tIns="0" rIns="0" bIns="0" rtlCol="0" anchor="t"/>
          <a:lstStyle/>
          <a:p>
            <a:pPr indent="0" marL="0">
              <a:buNone/>
            </a:pPr>
            <a:r>
              <a:rPr lang="en-US" sz="1250" dirty="0">
                <a:solidFill>
                  <a:schemeClr val="tx1"/>
                </a:solidFill>
              </a:rPr>
              <a:t>Reach truck puts the pallets away</a:t>
            </a:r>
            <a:endParaRPr lang="en-US" sz="1250" dirty="0"/>
          </a:p>
        </p:txBody>
      </p:sp>
      <p:sp>
        <p:nvSpPr>
          <p:cNvPr id="15" name="Text 12"/>
          <p:cNvSpPr/>
          <p:nvPr/>
        </p:nvSpPr>
        <p:spPr>
          <a:xfrm>
            <a:off x="6422275" y="3172968"/>
            <a:ext cx="265176" cy="265176"/>
          </a:xfrm>
          <a:prstGeom prst="ellipse">
            <a:avLst/>
          </a:prstGeom>
          <a:solidFill>
            <a:schemeClr val="bg1"/>
          </a:solidFill>
          <a:ln w="25400">
            <a:solidFill>
              <a:srgbClr val="2F855A"/>
            </a:solidFill>
          </a:ln>
        </p:spPr>
        <p:txBody>
          <a:bodyPr wrap="square" lIns="0" tIns="0" rIns="0" bIns="0" rtlCol="0" anchor="ctr"/>
          <a:lstStyle/>
          <a:p>
            <a:pPr algn="ctr" indent="0" marL="0">
              <a:buNone/>
            </a:pPr>
            <a:r>
              <a:rPr lang="en-US" sz="1100" b="1" dirty="0">
                <a:solidFill>
                  <a:srgbClr val="2F855A"/>
                </a:solidFill>
              </a:rPr>
              <a:t>3</a:t>
            </a:r>
            <a:endParaRPr lang="en-US" sz="1100" dirty="0"/>
          </a:p>
        </p:txBody>
      </p:sp>
      <p:sp>
        <p:nvSpPr>
          <p:cNvPr id="16" name="Text 13"/>
          <p:cNvSpPr txBox="1"/>
          <p:nvPr/>
        </p:nvSpPr>
        <p:spPr>
          <a:xfrm>
            <a:off x="6806323" y="3191256"/>
            <a:ext cx="4836733" cy="274320"/>
          </a:xfrm>
          <a:prstGeom prst="rect">
            <a:avLst/>
          </a:prstGeom>
          <a:noFill/>
          <a:ln/>
        </p:spPr>
        <p:txBody>
          <a:bodyPr wrap="square" lIns="0" tIns="0" rIns="0" bIns="0" rtlCol="0" anchor="t"/>
          <a:lstStyle/>
          <a:p>
            <a:pPr indent="0" marL="0">
              <a:buNone/>
            </a:pPr>
            <a:r>
              <a:rPr lang="en-US" sz="1250" dirty="0">
                <a:solidFill>
                  <a:schemeClr val="tx1"/>
                </a:solidFill>
              </a:rPr>
              <a:t>Refills drop cases into the fast-pick area</a:t>
            </a:r>
            <a:endParaRPr lang="en-US" sz="1250" dirty="0"/>
          </a:p>
        </p:txBody>
      </p:sp>
      <p:sp>
        <p:nvSpPr>
          <p:cNvPr id="17" name="Text 14"/>
          <p:cNvSpPr/>
          <p:nvPr/>
        </p:nvSpPr>
        <p:spPr>
          <a:xfrm>
            <a:off x="6422275" y="3529584"/>
            <a:ext cx="265176" cy="265176"/>
          </a:xfrm>
          <a:prstGeom prst="ellipse">
            <a:avLst/>
          </a:prstGeom>
          <a:solidFill>
            <a:schemeClr val="bg1"/>
          </a:solidFill>
          <a:ln w="25400">
            <a:solidFill>
              <a:srgbClr val="D40011"/>
            </a:solidFill>
          </a:ln>
        </p:spPr>
        <p:txBody>
          <a:bodyPr wrap="square" lIns="0" tIns="0" rIns="0" bIns="0" rtlCol="0" anchor="ctr"/>
          <a:lstStyle/>
          <a:p>
            <a:pPr algn="ctr" indent="0" marL="0">
              <a:buNone/>
            </a:pPr>
            <a:r>
              <a:rPr lang="en-US" sz="1100" b="1" dirty="0">
                <a:solidFill>
                  <a:srgbClr val="D40011"/>
                </a:solidFill>
              </a:rPr>
              <a:t>4</a:t>
            </a:r>
            <a:endParaRPr lang="en-US" sz="1100" dirty="0"/>
          </a:p>
        </p:txBody>
      </p:sp>
      <p:sp>
        <p:nvSpPr>
          <p:cNvPr id="18" name="Text 15"/>
          <p:cNvSpPr txBox="1"/>
          <p:nvPr/>
        </p:nvSpPr>
        <p:spPr>
          <a:xfrm>
            <a:off x="6806323" y="3547872"/>
            <a:ext cx="4836733" cy="274320"/>
          </a:xfrm>
          <a:prstGeom prst="rect">
            <a:avLst/>
          </a:prstGeom>
          <a:noFill/>
          <a:ln/>
        </p:spPr>
        <p:txBody>
          <a:bodyPr wrap="square" lIns="0" tIns="0" rIns="0" bIns="0" rtlCol="0" anchor="t"/>
          <a:lstStyle/>
          <a:p>
            <a:pPr indent="0" marL="0">
              <a:buNone/>
            </a:pPr>
            <a:r>
              <a:rPr lang="en-US" sz="1250" dirty="0">
                <a:solidFill>
                  <a:schemeClr val="tx1"/>
                </a:solidFill>
              </a:rPr>
              <a:t>Orders picked in waves, taken to packing</a:t>
            </a:r>
            <a:endParaRPr lang="en-US" sz="1250" dirty="0"/>
          </a:p>
        </p:txBody>
      </p:sp>
      <p:sp>
        <p:nvSpPr>
          <p:cNvPr id="19" name="Text 16"/>
          <p:cNvSpPr/>
          <p:nvPr/>
        </p:nvSpPr>
        <p:spPr>
          <a:xfrm>
            <a:off x="6422275" y="3886200"/>
            <a:ext cx="265176" cy="265176"/>
          </a:xfrm>
          <a:prstGeom prst="ellipse">
            <a:avLst/>
          </a:prstGeom>
          <a:solidFill>
            <a:schemeClr val="bg1"/>
          </a:solidFill>
          <a:ln w="25400">
            <a:solidFill>
              <a:srgbClr val="D40011"/>
            </a:solidFill>
          </a:ln>
        </p:spPr>
        <p:txBody>
          <a:bodyPr wrap="square" lIns="0" tIns="0" rIns="0" bIns="0" rtlCol="0" anchor="ctr"/>
          <a:lstStyle/>
          <a:p>
            <a:pPr algn="ctr" indent="0" marL="0">
              <a:buNone/>
            </a:pPr>
            <a:r>
              <a:rPr lang="en-US" sz="1100" b="1" dirty="0">
                <a:solidFill>
                  <a:srgbClr val="D40011"/>
                </a:solidFill>
              </a:rPr>
              <a:t>5</a:t>
            </a:r>
            <a:endParaRPr lang="en-US" sz="1100" dirty="0"/>
          </a:p>
        </p:txBody>
      </p:sp>
      <p:sp>
        <p:nvSpPr>
          <p:cNvPr id="20" name="Text 17"/>
          <p:cNvSpPr txBox="1"/>
          <p:nvPr/>
        </p:nvSpPr>
        <p:spPr>
          <a:xfrm>
            <a:off x="6806323" y="3904488"/>
            <a:ext cx="4836733" cy="274320"/>
          </a:xfrm>
          <a:prstGeom prst="rect">
            <a:avLst/>
          </a:prstGeom>
          <a:noFill/>
          <a:ln/>
        </p:spPr>
        <p:txBody>
          <a:bodyPr wrap="square" lIns="0" tIns="0" rIns="0" bIns="0" rtlCol="0" anchor="t"/>
          <a:lstStyle/>
          <a:p>
            <a:pPr indent="0" marL="0">
              <a:buNone/>
            </a:pPr>
            <a:r>
              <a:rPr lang="en-US" sz="1250" dirty="0">
                <a:solidFill>
                  <a:schemeClr val="tx1"/>
                </a:solidFill>
              </a:rPr>
              <a:t>Sorted at the put-to-light wall and packed</a:t>
            </a:r>
            <a:endParaRPr lang="en-US" sz="1250" dirty="0"/>
          </a:p>
        </p:txBody>
      </p:sp>
      <p:sp>
        <p:nvSpPr>
          <p:cNvPr id="21" name="Text 18"/>
          <p:cNvSpPr/>
          <p:nvPr/>
        </p:nvSpPr>
        <p:spPr>
          <a:xfrm>
            <a:off x="6422275" y="4242816"/>
            <a:ext cx="265176" cy="265176"/>
          </a:xfrm>
          <a:prstGeom prst="ellipse">
            <a:avLst/>
          </a:prstGeom>
          <a:solidFill>
            <a:schemeClr val="bg1"/>
          </a:solidFill>
          <a:ln w="25400">
            <a:solidFill>
              <a:srgbClr val="D40011"/>
            </a:solidFill>
          </a:ln>
        </p:spPr>
        <p:txBody>
          <a:bodyPr wrap="square" lIns="0" tIns="0" rIns="0" bIns="0" rtlCol="0" anchor="ctr"/>
          <a:lstStyle/>
          <a:p>
            <a:pPr algn="ctr" indent="0" marL="0">
              <a:buNone/>
            </a:pPr>
            <a:r>
              <a:rPr lang="en-US" sz="1100" b="1" dirty="0">
                <a:solidFill>
                  <a:srgbClr val="D40011"/>
                </a:solidFill>
              </a:rPr>
              <a:t>6</a:t>
            </a:r>
            <a:endParaRPr lang="en-US" sz="1100" dirty="0"/>
          </a:p>
        </p:txBody>
      </p:sp>
      <p:sp>
        <p:nvSpPr>
          <p:cNvPr id="22" name="Text 19"/>
          <p:cNvSpPr txBox="1"/>
          <p:nvPr/>
        </p:nvSpPr>
        <p:spPr>
          <a:xfrm>
            <a:off x="6806323" y="4261104"/>
            <a:ext cx="4836733" cy="274320"/>
          </a:xfrm>
          <a:prstGeom prst="rect">
            <a:avLst/>
          </a:prstGeom>
          <a:noFill/>
          <a:ln/>
        </p:spPr>
        <p:txBody>
          <a:bodyPr wrap="square" lIns="0" tIns="0" rIns="0" bIns="0" rtlCol="0" anchor="t"/>
          <a:lstStyle/>
          <a:p>
            <a:pPr indent="0" marL="0">
              <a:buNone/>
            </a:pPr>
            <a:r>
              <a:rPr lang="en-US" sz="1250" dirty="0">
                <a:solidFill>
                  <a:schemeClr val="tx1"/>
                </a:solidFill>
              </a:rPr>
              <a:t>Staged in the lane of its door and loaded</a:t>
            </a:r>
            <a:endParaRPr lang="en-US" sz="1250" dirty="0"/>
          </a:p>
        </p:txBody>
      </p:sp>
      <p:sp>
        <p:nvSpPr>
          <p:cNvPr id="23" name="Shape 20"/>
          <p:cNvSpPr/>
          <p:nvPr/>
        </p:nvSpPr>
        <p:spPr>
          <a:xfrm>
            <a:off x="6422275" y="4645152"/>
            <a:ext cx="5220781" cy="0"/>
          </a:xfrm>
          <a:prstGeom prst="line">
            <a:avLst/>
          </a:prstGeom>
          <a:noFill/>
          <a:ln w="9525">
            <a:solidFill>
              <a:schemeClr val="accent4"/>
            </a:solidFill>
            <a:prstDash val="solid"/>
          </a:ln>
        </p:spPr>
      </p:sp>
      <p:sp>
        <p:nvSpPr>
          <p:cNvPr id="24" name="Text 21"/>
          <p:cNvSpPr txBox="1"/>
          <p:nvPr/>
        </p:nvSpPr>
        <p:spPr>
          <a:xfrm>
            <a:off x="6422275" y="4718304"/>
            <a:ext cx="1232043" cy="365760"/>
          </a:xfrm>
          <a:prstGeom prst="rect">
            <a:avLst/>
          </a:prstGeom>
          <a:noFill/>
          <a:ln/>
        </p:spPr>
        <p:txBody>
          <a:bodyPr wrap="square" lIns="0" tIns="0" rIns="0" bIns="0" rtlCol="0" anchor="t"/>
          <a:lstStyle/>
          <a:p>
            <a:pPr indent="0" marL="0">
              <a:buNone/>
            </a:pPr>
            <a:r>
              <a:rPr lang="en-US" sz="2000" b="1" dirty="0">
                <a:solidFill>
                  <a:schemeClr val="tx2"/>
                </a:solidFill>
              </a:rPr>
              <a:t>96%</a:t>
            </a:r>
            <a:endParaRPr lang="en-US" sz="2000" dirty="0"/>
          </a:p>
        </p:txBody>
      </p:sp>
      <p:sp>
        <p:nvSpPr>
          <p:cNvPr id="25" name="Text 22"/>
          <p:cNvSpPr txBox="1"/>
          <p:nvPr/>
        </p:nvSpPr>
        <p:spPr>
          <a:xfrm>
            <a:off x="6422275" y="5084064"/>
            <a:ext cx="1232043" cy="411480"/>
          </a:xfrm>
          <a:prstGeom prst="rect">
            <a:avLst/>
          </a:prstGeom>
          <a:noFill/>
          <a:ln/>
        </p:spPr>
        <p:txBody>
          <a:bodyPr wrap="square" lIns="0" tIns="0" rIns="0" bIns="0" rtlCol="0" anchor="t"/>
          <a:lstStyle/>
          <a:p>
            <a:pPr indent="0" marL="0">
              <a:buNone/>
            </a:pPr>
            <a:r>
              <a:rPr lang="en-US" sz="1050" dirty="0">
                <a:solidFill>
                  <a:schemeClr val="tx1"/>
                </a:solidFill>
              </a:rPr>
              <a:t>of the 7,000 m² used</a:t>
            </a:r>
            <a:endParaRPr lang="en-US" sz="1050" dirty="0"/>
          </a:p>
        </p:txBody>
      </p:sp>
      <p:sp>
        <p:nvSpPr>
          <p:cNvPr id="26" name="Text 23"/>
          <p:cNvSpPr txBox="1"/>
          <p:nvPr/>
        </p:nvSpPr>
        <p:spPr>
          <a:xfrm>
            <a:off x="7727470" y="4718304"/>
            <a:ext cx="1232043" cy="365760"/>
          </a:xfrm>
          <a:prstGeom prst="rect">
            <a:avLst/>
          </a:prstGeom>
          <a:noFill/>
          <a:ln/>
        </p:spPr>
        <p:txBody>
          <a:bodyPr wrap="square" lIns="0" tIns="0" rIns="0" bIns="0" rtlCol="0" anchor="t"/>
          <a:lstStyle/>
          <a:p>
            <a:pPr indent="0" marL="0">
              <a:buNone/>
            </a:pPr>
            <a:r>
              <a:rPr lang="en-US" sz="2000" b="1" dirty="0">
                <a:solidFill>
                  <a:schemeClr val="tx2"/>
                </a:solidFill>
              </a:rPr>
              <a:t>8,960</a:t>
            </a:r>
            <a:endParaRPr lang="en-US" sz="2000" dirty="0"/>
          </a:p>
        </p:txBody>
      </p:sp>
      <p:sp>
        <p:nvSpPr>
          <p:cNvPr id="27" name="Text 24"/>
          <p:cNvSpPr txBox="1"/>
          <p:nvPr/>
        </p:nvSpPr>
        <p:spPr>
          <a:xfrm>
            <a:off x="7727470" y="5084064"/>
            <a:ext cx="1232043" cy="411480"/>
          </a:xfrm>
          <a:prstGeom prst="rect">
            <a:avLst/>
          </a:prstGeom>
          <a:noFill/>
          <a:ln/>
        </p:spPr>
        <p:txBody>
          <a:bodyPr wrap="square" lIns="0" tIns="0" rIns="0" bIns="0" rtlCol="0" anchor="t"/>
          <a:lstStyle/>
          <a:p>
            <a:pPr indent="0" marL="0">
              <a:buNone/>
            </a:pPr>
            <a:r>
              <a:rPr lang="en-US" sz="1050" dirty="0">
                <a:solidFill>
                  <a:schemeClr val="tx1"/>
                </a:solidFill>
              </a:rPr>
              <a:t>pallet places</a:t>
            </a:r>
            <a:endParaRPr lang="en-US" sz="1050" dirty="0"/>
          </a:p>
        </p:txBody>
      </p:sp>
      <p:sp>
        <p:nvSpPr>
          <p:cNvPr id="28" name="Text 25"/>
          <p:cNvSpPr txBox="1"/>
          <p:nvPr/>
        </p:nvSpPr>
        <p:spPr>
          <a:xfrm>
            <a:off x="9032665" y="4718304"/>
            <a:ext cx="1232043" cy="365760"/>
          </a:xfrm>
          <a:prstGeom prst="rect">
            <a:avLst/>
          </a:prstGeom>
          <a:noFill/>
          <a:ln/>
        </p:spPr>
        <p:txBody>
          <a:bodyPr wrap="square" lIns="0" tIns="0" rIns="0" bIns="0" rtlCol="0" anchor="t"/>
          <a:lstStyle/>
          <a:p>
            <a:pPr indent="0" marL="0">
              <a:buNone/>
            </a:pPr>
            <a:r>
              <a:rPr lang="en-US" sz="2000" b="1" dirty="0">
                <a:solidFill>
                  <a:schemeClr val="tx2"/>
                </a:solidFill>
              </a:rPr>
              <a:t>3 + 5</a:t>
            </a:r>
            <a:endParaRPr lang="en-US" sz="2000" dirty="0"/>
          </a:p>
        </p:txBody>
      </p:sp>
      <p:sp>
        <p:nvSpPr>
          <p:cNvPr id="29" name="Text 26"/>
          <p:cNvSpPr txBox="1"/>
          <p:nvPr/>
        </p:nvSpPr>
        <p:spPr>
          <a:xfrm>
            <a:off x="9032665" y="5084064"/>
            <a:ext cx="1232043" cy="411480"/>
          </a:xfrm>
          <a:prstGeom prst="rect">
            <a:avLst/>
          </a:prstGeom>
          <a:noFill/>
          <a:ln/>
        </p:spPr>
        <p:txBody>
          <a:bodyPr wrap="square" lIns="0" tIns="0" rIns="0" bIns="0" rtlCol="0" anchor="t"/>
          <a:lstStyle/>
          <a:p>
            <a:pPr indent="0" marL="0">
              <a:buNone/>
            </a:pPr>
            <a:r>
              <a:rPr lang="en-US" sz="1050" dirty="0">
                <a:solidFill>
                  <a:schemeClr val="tx1"/>
                </a:solidFill>
              </a:rPr>
              <a:t>doors in / out</a:t>
            </a:r>
            <a:endParaRPr lang="en-US" sz="1050" dirty="0"/>
          </a:p>
        </p:txBody>
      </p:sp>
      <p:sp>
        <p:nvSpPr>
          <p:cNvPr id="30" name="Text 27"/>
          <p:cNvSpPr txBox="1"/>
          <p:nvPr/>
        </p:nvSpPr>
        <p:spPr>
          <a:xfrm>
            <a:off x="10337860" y="4718304"/>
            <a:ext cx="1232043" cy="365760"/>
          </a:xfrm>
          <a:prstGeom prst="rect">
            <a:avLst/>
          </a:prstGeom>
          <a:noFill/>
          <a:ln/>
        </p:spPr>
        <p:txBody>
          <a:bodyPr wrap="square" lIns="0" tIns="0" rIns="0" bIns="0" rtlCol="0" anchor="t"/>
          <a:lstStyle/>
          <a:p>
            <a:pPr indent="0" marL="0">
              <a:buNone/>
            </a:pPr>
            <a:r>
              <a:rPr lang="en-US" sz="2000" b="1" dirty="0">
                <a:solidFill>
                  <a:schemeClr val="tx2"/>
                </a:solidFill>
              </a:rPr>
              <a:t>3.75</a:t>
            </a:r>
            <a:endParaRPr lang="en-US" sz="2000" dirty="0"/>
          </a:p>
        </p:txBody>
      </p:sp>
      <p:sp>
        <p:nvSpPr>
          <p:cNvPr id="31" name="Text 28"/>
          <p:cNvSpPr txBox="1"/>
          <p:nvPr/>
        </p:nvSpPr>
        <p:spPr>
          <a:xfrm>
            <a:off x="10337860" y="5084064"/>
            <a:ext cx="1232043" cy="411480"/>
          </a:xfrm>
          <a:prstGeom prst="rect">
            <a:avLst/>
          </a:prstGeom>
          <a:noFill/>
          <a:ln/>
        </p:spPr>
        <p:txBody>
          <a:bodyPr wrap="square" lIns="0" tIns="0" rIns="0" bIns="0" rtlCol="0" anchor="t"/>
          <a:lstStyle/>
          <a:p>
            <a:pPr indent="0" marL="0">
              <a:buNone/>
            </a:pPr>
            <a:r>
              <a:rPr lang="en-US" sz="1050" dirty="0">
                <a:solidFill>
                  <a:schemeClr val="tx1"/>
                </a:solidFill>
              </a:rPr>
              <a:t>of 5: best of three options</a:t>
            </a:r>
            <a:endParaRPr lang="en-US" sz="1050" dirty="0"/>
          </a:p>
        </p:txBody>
      </p:sp>
      <p:sp>
        <p:nvSpPr>
          <p:cNvPr id="32" name="How we calculated it"/>
          <p:cNvSpPr txBox="1"/>
          <p:nvPr/>
        </p:nvSpPr>
        <p:spPr>
          <a:xfrm>
            <a:off x="548640" y="5641848"/>
            <a:ext cx="11094415" cy="640080"/>
          </a:xfrm>
          <a:prstGeom prst="rect">
            <a:avLst/>
          </a:prstGeom>
          <a:solidFill>
            <a:schemeClr val="bg2"/>
          </a:solidFill>
          <a:ln/>
        </p:spPr>
        <p:txBody>
          <a:bodyPr wrap="square" lIns="127000" tIns="38100" rIns="127000" bIns="38100" rtlCol="0" anchor="ctr"/>
          <a:lstStyle/>
          <a:p>
            <a:pPr indent="0" marL="0">
              <a:buNone/>
            </a:pPr>
            <a:r>
              <a:rPr lang="en-US" sz="900" b="1" spc="100" kern="0" dirty="0">
                <a:solidFill>
                  <a:schemeClr val="accent1"/>
                </a:solidFill>
              </a:rPr>
              <a:t>HOW WE CALCULATED IT    </a:t>
            </a:r>
            <a:pPr indent="0" marL="0">
              <a:buNone/>
            </a:pPr>
            <a:r>
              <a:rPr lang="en-US" sz="1100" dirty="0">
                <a:solidFill>
                  <a:schemeClr val="tx1"/>
                </a:solidFill>
              </a:rPr>
              <a:t>6,731 m² = all zones measured on the to-scale drawing, added up: racks 3,505 + odd/long goods 728 + fast-pick 500 + packing 450 + aisles 450 + 5 smaller zones 1,098. 8,960 places counted: 7,776 standard + 864 odd-size + 320 long. Option score = sum of weight × score (1–5).</a:t>
            </a:r>
            <a:endParaRPr lang="en-US" sz="11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spc="100" kern="0" dirty="0">
                <a:solidFill>
                  <a:schemeClr val="accent3"/>
                </a:solidFill>
              </a:rPr>
              <a:t>TODAY</a:t>
            </a:r>
            <a:pPr indent="0" marL="0">
              <a:buNone/>
            </a:pPr>
            <a:r>
              <a:rPr lang="en-US" sz="900" spc="100" kern="0" dirty="0">
                <a:solidFill>
                  <a:schemeClr val="accent3"/>
                </a:solidFill>
              </a:rPr>
              <a:t>   ·   </a:t>
            </a:r>
            <a:pPr indent="0" marL="0">
              <a:buNone/>
            </a:pPr>
            <a:r>
              <a:rPr lang="en-US" sz="900" spc="100" kern="0" dirty="0">
                <a:solidFill>
                  <a:schemeClr val="accent3"/>
                </a:solidFill>
              </a:rPr>
              <a:t>OUR SOLUTION</a:t>
            </a:r>
            <a:pPr indent="0" marL="0">
              <a:buNone/>
            </a:pPr>
            <a:r>
              <a:rPr lang="en-US" sz="900" spc="100" kern="0" dirty="0">
                <a:solidFill>
                  <a:schemeClr val="accent3"/>
                </a:solidFill>
              </a:rPr>
              <a:t>   ·   </a:t>
            </a:r>
            <a:pPr indent="0" marL="0">
              <a:buNone/>
            </a:pPr>
            <a:r>
              <a:rPr lang="en-US" sz="900" b="1" spc="100" kern="0" dirty="0">
                <a:solidFill>
                  <a:schemeClr val="accent1"/>
                </a:solidFill>
              </a:rPr>
              <a:t>PROCESSES</a:t>
            </a:r>
            <a:pPr indent="0" marL="0">
              <a:buNone/>
            </a:pPr>
            <a:r>
              <a:rPr lang="en-US" sz="900" spc="100" kern="0" dirty="0">
                <a:solidFill>
                  <a:schemeClr val="accent3"/>
                </a:solidFill>
              </a:rPr>
              <a:t>   ·   </a:t>
            </a:r>
            <a:pPr indent="0" marL="0">
              <a:buNone/>
            </a:pPr>
            <a:r>
              <a:rPr lang="en-US" sz="900" spc="100" kern="0" dirty="0">
                <a:solidFill>
                  <a:schemeClr val="accent3"/>
                </a:solidFill>
              </a:rPr>
              <a:t>VALUE FOR DHL</a:t>
            </a:r>
            <a:pPr indent="0" marL="0">
              <a:buNone/>
            </a:pPr>
            <a:r>
              <a:rPr lang="en-US" sz="900" spc="100" kern="0" dirty="0">
                <a:solidFill>
                  <a:schemeClr val="accent3"/>
                </a:solidFill>
              </a:rPr>
              <a:t>   ·   </a:t>
            </a:r>
            <a:pPr indent="0" marL="0">
              <a:buNone/>
            </a:pPr>
            <a:r>
              <a:rPr lang="en-US" sz="900" spc="100" kern="0" dirty="0">
                <a:solidFill>
                  <a:schemeClr val="accent3"/>
                </a:solidFill>
              </a:rPr>
              <a:t>ROADMAP</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Receiving keeps pallet trailers and loose containers apart, so a 40 ft container is unloaded and palletised in ~3.3 hours</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inbound receipts April–June 2025 (Assa Abloy &amp; DHL Supply Chain, 2025); dock-to-stock benchmark (Extensiv, n.d.); step by step: appendix "How we calculated: receiving"</a:t>
            </a:r>
            <a:endParaRPr lang="en-US" sz="900" dirty="0"/>
          </a:p>
        </p:txBody>
      </p:sp>
      <p:sp>
        <p:nvSpPr>
          <p:cNvPr id="5" name="Owner marker"/>
          <p:cNvSpPr/>
          <p:nvPr/>
        </p:nvSpPr>
        <p:spPr>
          <a:xfrm>
            <a:off x="9098280" y="338328"/>
            <a:ext cx="118872" cy="118872"/>
          </a:xfrm>
          <a:prstGeom prst="rect">
            <a:avLst/>
          </a:prstGeom>
          <a:solidFill>
            <a:srgbClr val="C2410C"/>
          </a:solidFill>
          <a:ln/>
        </p:spPr>
      </p:sp>
      <p:sp>
        <p:nvSpPr>
          <p:cNvPr id="6" name="Presenter"/>
          <p:cNvSpPr txBox="1"/>
          <p:nvPr/>
        </p:nvSpPr>
        <p:spPr>
          <a:xfrm>
            <a:off x="929030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Vidhi</a:t>
            </a:r>
            <a:pPr indent="0" marL="0">
              <a:buNone/>
            </a:pPr>
            <a:r>
              <a:rPr lang="en-US" sz="1000" dirty="0">
                <a:solidFill>
                  <a:schemeClr val="accent2"/>
                </a:solidFill>
              </a:rPr>
              <a:t> · Receiving owner</a:t>
            </a:r>
            <a:endParaRPr lang="en-US" sz="1000" dirty="0"/>
          </a:p>
        </p:txBody>
      </p:sp>
      <p:pic>
        <p:nvPicPr>
          <p:cNvPr id="7" name="Image 0" descr="Receiving and the container zone, enlarged, with letters A to I">    </p:cNvPr>
          <p:cNvPicPr>
            <a:picLocks noChangeAspect="1"/>
          </p:cNvPicPr>
          <p:nvPr/>
        </p:nvPicPr>
        <p:blipFill>
          <a:blip r:embed="rId1"/>
          <a:stretch>
            <a:fillRect/>
          </a:stretch>
        </p:blipFill>
        <p:spPr>
          <a:xfrm>
            <a:off x="548640" y="1737360"/>
            <a:ext cx="2004214" cy="3794760"/>
          </a:xfrm>
          <a:prstGeom prst="rect">
            <a:avLst/>
          </a:prstGeom>
        </p:spPr>
      </p:pic>
      <p:sp>
        <p:nvSpPr>
          <p:cNvPr id="8" name="Text 5"/>
          <p:cNvSpPr txBox="1"/>
          <p:nvPr/>
        </p:nvSpPr>
        <p:spPr>
          <a:xfrm>
            <a:off x="2918614" y="1737360"/>
            <a:ext cx="4853786" cy="274320"/>
          </a:xfrm>
          <a:prstGeom prst="rect">
            <a:avLst/>
          </a:prstGeom>
          <a:noFill/>
          <a:ln/>
        </p:spPr>
        <p:txBody>
          <a:bodyPr wrap="square" lIns="0" tIns="0" rIns="0" bIns="0" rtlCol="0" anchor="t"/>
          <a:lstStyle/>
          <a:p>
            <a:pPr indent="0" marL="0">
              <a:buNone/>
            </a:pPr>
            <a:r>
              <a:rPr lang="en-US" sz="1300" b="1" dirty="0">
                <a:solidFill>
                  <a:schemeClr val="tx2"/>
                </a:solidFill>
              </a:rPr>
              <a:t>How it works</a:t>
            </a:r>
            <a:endParaRPr lang="en-US" sz="1300" dirty="0"/>
          </a:p>
        </p:txBody>
      </p:sp>
      <p:sp>
        <p:nvSpPr>
          <p:cNvPr id="9" name="Text 6"/>
          <p:cNvSpPr txBox="1"/>
          <p:nvPr/>
        </p:nvSpPr>
        <p:spPr>
          <a:xfrm>
            <a:off x="2918614" y="2112264"/>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1</a:t>
            </a:r>
            <a:endParaRPr lang="en-US" sz="1800" dirty="0"/>
          </a:p>
        </p:txBody>
      </p:sp>
      <p:sp>
        <p:nvSpPr>
          <p:cNvPr id="10" name="Text 7"/>
          <p:cNvSpPr txBox="1"/>
          <p:nvPr/>
        </p:nvSpPr>
        <p:spPr>
          <a:xfrm>
            <a:off x="3302662" y="2148840"/>
            <a:ext cx="4469738" cy="1042416"/>
          </a:xfrm>
          <a:prstGeom prst="rect">
            <a:avLst/>
          </a:prstGeom>
          <a:noFill/>
          <a:ln/>
        </p:spPr>
        <p:txBody>
          <a:bodyPr wrap="square" lIns="0" tIns="0" rIns="0" bIns="0" rtlCol="0" anchor="t"/>
          <a:lstStyle/>
          <a:p>
            <a:pPr indent="0" marL="0">
              <a:buNone/>
            </a:pPr>
            <a:r>
              <a:rPr lang="en-US" sz="1300" b="1" dirty="0">
                <a:solidFill>
                  <a:schemeClr val="tx2"/>
                </a:solidFill>
              </a:rPr>
              <a:t>Pallet trailers at R2 / R3. </a:t>
            </a:r>
            <a:pPr indent="0" marL="0">
              <a:buNone/>
            </a:pPr>
            <a:r>
              <a:rPr lang="en-US" sz="1300" dirty="0">
                <a:solidFill>
                  <a:schemeClr val="tx1"/>
                </a:solidFill>
              </a:rPr>
              <a:t>Unloaded into a lane (A–B), counted, checked and scanned at the bench (C), then collected by the reach truck at the pick-up point (D).</a:t>
            </a:r>
            <a:endParaRPr lang="en-US" sz="1300" dirty="0"/>
          </a:p>
        </p:txBody>
      </p:sp>
      <p:sp>
        <p:nvSpPr>
          <p:cNvPr id="11" name="Text 8"/>
          <p:cNvSpPr txBox="1"/>
          <p:nvPr/>
        </p:nvSpPr>
        <p:spPr>
          <a:xfrm>
            <a:off x="2918614" y="3209544"/>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2</a:t>
            </a:r>
            <a:endParaRPr lang="en-US" sz="1800" dirty="0"/>
          </a:p>
        </p:txBody>
      </p:sp>
      <p:sp>
        <p:nvSpPr>
          <p:cNvPr id="12" name="Text 9"/>
          <p:cNvSpPr txBox="1"/>
          <p:nvPr/>
        </p:nvSpPr>
        <p:spPr>
          <a:xfrm>
            <a:off x="3302662" y="3246120"/>
            <a:ext cx="4469738" cy="1042416"/>
          </a:xfrm>
          <a:prstGeom prst="rect">
            <a:avLst/>
          </a:prstGeom>
          <a:noFill/>
          <a:ln/>
        </p:spPr>
        <p:txBody>
          <a:bodyPr wrap="square" lIns="0" tIns="0" rIns="0" bIns="0" rtlCol="0" anchor="t"/>
          <a:lstStyle/>
          <a:p>
            <a:pPr indent="0" marL="0">
              <a:buNone/>
            </a:pPr>
            <a:r>
              <a:rPr lang="en-US" sz="1300" b="1" dirty="0">
                <a:solidFill>
                  <a:schemeClr val="tx2"/>
                </a:solidFill>
              </a:rPr>
              <a:t>Loose containers at R1. </a:t>
            </a:r>
            <a:pPr indent="0" marL="0">
              <a:buNone/>
            </a:pPr>
            <a:r>
              <a:rPr lang="en-US" sz="1300" dirty="0">
                <a:solidFill>
                  <a:schemeClr val="tx1"/>
                </a:solidFill>
              </a:rPr>
              <a:t>Cartons roll out on a conveyor (F); two people build 12 pallets at once, one per item (G), with room for 35 finished pallets (H) and a wrap-and-label station (I).</a:t>
            </a:r>
            <a:endParaRPr lang="en-US" sz="1300" dirty="0"/>
          </a:p>
        </p:txBody>
      </p:sp>
      <p:sp>
        <p:nvSpPr>
          <p:cNvPr id="13" name="Text 10"/>
          <p:cNvSpPr txBox="1"/>
          <p:nvPr/>
        </p:nvSpPr>
        <p:spPr>
          <a:xfrm>
            <a:off x="2918614" y="4306824"/>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3</a:t>
            </a:r>
            <a:endParaRPr lang="en-US" sz="1800" dirty="0"/>
          </a:p>
        </p:txBody>
      </p:sp>
      <p:sp>
        <p:nvSpPr>
          <p:cNvPr id="14" name="Text 11"/>
          <p:cNvSpPr txBox="1"/>
          <p:nvPr/>
        </p:nvSpPr>
        <p:spPr>
          <a:xfrm>
            <a:off x="3302662" y="4343400"/>
            <a:ext cx="4469738" cy="1042416"/>
          </a:xfrm>
          <a:prstGeom prst="rect">
            <a:avLst/>
          </a:prstGeom>
          <a:noFill/>
          <a:ln/>
        </p:spPr>
        <p:txBody>
          <a:bodyPr wrap="square" lIns="0" tIns="0" rIns="0" bIns="0" rtlCol="0" anchor="t"/>
          <a:lstStyle/>
          <a:p>
            <a:pPr indent="0" marL="0">
              <a:buNone/>
            </a:pPr>
            <a:r>
              <a:rPr lang="en-US" sz="1300" b="1" dirty="0">
                <a:solidFill>
                  <a:schemeClr val="tx2"/>
                </a:solidFill>
              </a:rPr>
              <a:t>Flexible space. </a:t>
            </a:r>
            <a:pPr indent="0" marL="0">
              <a:buNone/>
            </a:pPr>
            <a:r>
              <a:rPr lang="en-US" sz="1300" dirty="0">
                <a:solidFill>
                  <a:schemeClr val="tx1"/>
                </a:solidFill>
              </a:rPr>
              <a:t>On big-container days half of the R2 area (E) joins the container zone: +131 m².</a:t>
            </a:r>
            <a:endParaRPr lang="en-US" sz="1300" dirty="0"/>
          </a:p>
        </p:txBody>
      </p:sp>
      <p:sp>
        <p:nvSpPr>
          <p:cNvPr id="15" name="Receiving numbers"/>
          <p:cNvSpPr/>
          <p:nvPr/>
        </p:nvSpPr>
        <p:spPr>
          <a:xfrm>
            <a:off x="8092440" y="1737360"/>
            <a:ext cx="3550615" cy="3794760"/>
          </a:xfrm>
          <a:prstGeom prst="rect">
            <a:avLst/>
          </a:prstGeom>
          <a:solidFill>
            <a:schemeClr val="bg2"/>
          </a:solidFill>
          <a:ln/>
        </p:spPr>
      </p:sp>
      <p:sp>
        <p:nvSpPr>
          <p:cNvPr id="16" name="Text 13"/>
          <p:cNvSpPr txBox="1"/>
          <p:nvPr/>
        </p:nvSpPr>
        <p:spPr>
          <a:xfrm>
            <a:off x="8321040" y="1847088"/>
            <a:ext cx="3093415" cy="438912"/>
          </a:xfrm>
          <a:prstGeom prst="rect">
            <a:avLst/>
          </a:prstGeom>
          <a:noFill/>
          <a:ln/>
        </p:spPr>
        <p:txBody>
          <a:bodyPr wrap="square" lIns="0" tIns="0" rIns="0" bIns="0" rtlCol="0" anchor="t"/>
          <a:lstStyle/>
          <a:p>
            <a:pPr indent="0" marL="0">
              <a:buNone/>
            </a:pPr>
            <a:r>
              <a:rPr lang="en-US" sz="2600" b="1" dirty="0">
                <a:solidFill>
                  <a:schemeClr val="accent1"/>
                </a:solidFill>
              </a:rPr>
              <a:t>99</a:t>
            </a:r>
            <a:endParaRPr lang="en-US" sz="2600" dirty="0"/>
          </a:p>
        </p:txBody>
      </p:sp>
      <p:sp>
        <p:nvSpPr>
          <p:cNvPr id="17" name="Text 14"/>
          <p:cNvSpPr txBox="1"/>
          <p:nvPr/>
        </p:nvSpPr>
        <p:spPr>
          <a:xfrm>
            <a:off x="8321040" y="2286000"/>
            <a:ext cx="3093415" cy="438912"/>
          </a:xfrm>
          <a:prstGeom prst="rect">
            <a:avLst/>
          </a:prstGeom>
          <a:noFill/>
          <a:ln/>
        </p:spPr>
        <p:txBody>
          <a:bodyPr wrap="square" lIns="0" tIns="0" rIns="0" bIns="0" rtlCol="0" anchor="t"/>
          <a:lstStyle/>
          <a:p>
            <a:pPr indent="0" marL="0">
              <a:buNone/>
            </a:pPr>
            <a:r>
              <a:rPr lang="en-US" sz="1200" dirty="0">
                <a:solidFill>
                  <a:schemeClr val="tx1"/>
                </a:solidFill>
              </a:rPr>
              <a:t>inbound loads a day — measured (busiest day 167)</a:t>
            </a:r>
            <a:endParaRPr lang="en-US" sz="1200" dirty="0"/>
          </a:p>
        </p:txBody>
      </p:sp>
      <p:sp>
        <p:nvSpPr>
          <p:cNvPr id="18" name="Text 15"/>
          <p:cNvSpPr txBox="1"/>
          <p:nvPr/>
        </p:nvSpPr>
        <p:spPr>
          <a:xfrm>
            <a:off x="8321040" y="2761488"/>
            <a:ext cx="3093415" cy="438912"/>
          </a:xfrm>
          <a:prstGeom prst="rect">
            <a:avLst/>
          </a:prstGeom>
          <a:noFill/>
          <a:ln/>
        </p:spPr>
        <p:txBody>
          <a:bodyPr wrap="square" lIns="0" tIns="0" rIns="0" bIns="0" rtlCol="0" anchor="t"/>
          <a:lstStyle/>
          <a:p>
            <a:pPr indent="0" marL="0">
              <a:buNone/>
            </a:pPr>
            <a:r>
              <a:rPr lang="en-US" sz="2600" b="1" dirty="0">
                <a:solidFill>
                  <a:schemeClr val="accent1"/>
                </a:solidFill>
              </a:rPr>
              <a:t>41%</a:t>
            </a:r>
            <a:endParaRPr lang="en-US" sz="2600" dirty="0"/>
          </a:p>
        </p:txBody>
      </p:sp>
      <p:sp>
        <p:nvSpPr>
          <p:cNvPr id="19" name="Text 16"/>
          <p:cNvSpPr txBox="1"/>
          <p:nvPr/>
        </p:nvSpPr>
        <p:spPr>
          <a:xfrm>
            <a:off x="8321040" y="3200400"/>
            <a:ext cx="3093415" cy="438912"/>
          </a:xfrm>
          <a:prstGeom prst="rect">
            <a:avLst/>
          </a:prstGeom>
          <a:noFill/>
          <a:ln/>
        </p:spPr>
        <p:txBody>
          <a:bodyPr wrap="square" lIns="0" tIns="0" rIns="0" bIns="0" rtlCol="0" anchor="t"/>
          <a:lstStyle/>
          <a:p>
            <a:pPr indent="0" marL="0">
              <a:buNone/>
            </a:pPr>
            <a:r>
              <a:rPr lang="en-US" sz="1200" dirty="0">
                <a:solidFill>
                  <a:schemeClr val="tx1"/>
                </a:solidFill>
              </a:rPr>
              <a:t>of loads come from Asia, loose in containers</a:t>
            </a:r>
            <a:endParaRPr lang="en-US" sz="1200" dirty="0"/>
          </a:p>
        </p:txBody>
      </p:sp>
      <p:sp>
        <p:nvSpPr>
          <p:cNvPr id="20" name="Text 17"/>
          <p:cNvSpPr txBox="1"/>
          <p:nvPr/>
        </p:nvSpPr>
        <p:spPr>
          <a:xfrm>
            <a:off x="8321040" y="3675888"/>
            <a:ext cx="3093415" cy="438912"/>
          </a:xfrm>
          <a:prstGeom prst="rect">
            <a:avLst/>
          </a:prstGeom>
          <a:noFill/>
          <a:ln/>
        </p:spPr>
        <p:txBody>
          <a:bodyPr wrap="square" lIns="0" tIns="0" rIns="0" bIns="0" rtlCol="0" anchor="t"/>
          <a:lstStyle/>
          <a:p>
            <a:pPr indent="0" marL="0">
              <a:buNone/>
            </a:pPr>
            <a:r>
              <a:rPr lang="en-US" sz="2600" b="1" dirty="0">
                <a:solidFill>
                  <a:schemeClr val="accent1"/>
                </a:solidFill>
              </a:rPr>
              <a:t>97%</a:t>
            </a:r>
            <a:endParaRPr lang="en-US" sz="2600" dirty="0"/>
          </a:p>
        </p:txBody>
      </p:sp>
      <p:sp>
        <p:nvSpPr>
          <p:cNvPr id="21" name="Text 18"/>
          <p:cNvSpPr txBox="1"/>
          <p:nvPr/>
        </p:nvSpPr>
        <p:spPr>
          <a:xfrm>
            <a:off x="8321040" y="4114800"/>
            <a:ext cx="3093415" cy="438912"/>
          </a:xfrm>
          <a:prstGeom prst="rect">
            <a:avLst/>
          </a:prstGeom>
          <a:noFill/>
          <a:ln/>
        </p:spPr>
        <p:txBody>
          <a:bodyPr wrap="square" lIns="0" tIns="0" rIns="0" bIns="0" rtlCol="0" anchor="t"/>
          <a:lstStyle/>
          <a:p>
            <a:pPr indent="0" marL="0">
              <a:buNone/>
            </a:pPr>
            <a:r>
              <a:rPr lang="en-US" sz="1200" dirty="0">
                <a:solidFill>
                  <a:schemeClr val="tx1"/>
                </a:solidFill>
              </a:rPr>
              <a:t>of containers fit the zone (91% without R2's half)</a:t>
            </a:r>
            <a:endParaRPr lang="en-US" sz="1200" dirty="0"/>
          </a:p>
        </p:txBody>
      </p:sp>
      <p:sp>
        <p:nvSpPr>
          <p:cNvPr id="22" name="Text 19"/>
          <p:cNvSpPr txBox="1"/>
          <p:nvPr/>
        </p:nvSpPr>
        <p:spPr>
          <a:xfrm>
            <a:off x="8321040" y="4590288"/>
            <a:ext cx="3093415" cy="438912"/>
          </a:xfrm>
          <a:prstGeom prst="rect">
            <a:avLst/>
          </a:prstGeom>
          <a:noFill/>
          <a:ln/>
        </p:spPr>
        <p:txBody>
          <a:bodyPr wrap="square" lIns="0" tIns="0" rIns="0" bIns="0" rtlCol="0" anchor="t"/>
          <a:lstStyle/>
          <a:p>
            <a:pPr indent="0" marL="0">
              <a:buNone/>
            </a:pPr>
            <a:r>
              <a:rPr lang="en-US" sz="2600" b="1" dirty="0">
                <a:solidFill>
                  <a:schemeClr val="accent1"/>
                </a:solidFill>
              </a:rPr>
              <a:t>~1.5 h</a:t>
            </a:r>
            <a:endParaRPr lang="en-US" sz="2600" dirty="0"/>
          </a:p>
        </p:txBody>
      </p:sp>
      <p:sp>
        <p:nvSpPr>
          <p:cNvPr id="23" name="Text 20"/>
          <p:cNvSpPr txBox="1"/>
          <p:nvPr/>
        </p:nvSpPr>
        <p:spPr>
          <a:xfrm>
            <a:off x="8321040" y="5029200"/>
            <a:ext cx="3093415" cy="438912"/>
          </a:xfrm>
          <a:prstGeom prst="rect">
            <a:avLst/>
          </a:prstGeom>
          <a:noFill/>
          <a:ln/>
        </p:spPr>
        <p:txBody>
          <a:bodyPr wrap="square" lIns="0" tIns="0" rIns="0" bIns="0" rtlCol="0" anchor="t"/>
          <a:lstStyle/>
          <a:p>
            <a:pPr indent="0" marL="0">
              <a:buNone/>
            </a:pPr>
            <a:r>
              <a:rPr lang="en-US" sz="1200" dirty="0">
                <a:solidFill>
                  <a:schemeClr val="tx1"/>
                </a:solidFill>
              </a:rPr>
              <a:t>dock-to-stock per pallet trailer — modelled (benchmark &lt; 3.5 h)</a:t>
            </a:r>
            <a:endParaRPr lang="en-US" sz="1200" dirty="0"/>
          </a:p>
        </p:txBody>
      </p:sp>
      <p:sp>
        <p:nvSpPr>
          <p:cNvPr id="24" name="How we calculated it"/>
          <p:cNvSpPr txBox="1"/>
          <p:nvPr/>
        </p:nvSpPr>
        <p:spPr>
          <a:xfrm>
            <a:off x="548640" y="5641848"/>
            <a:ext cx="11094415" cy="640080"/>
          </a:xfrm>
          <a:prstGeom prst="rect">
            <a:avLst/>
          </a:prstGeom>
          <a:solidFill>
            <a:schemeClr val="bg2"/>
          </a:solidFill>
          <a:ln/>
        </p:spPr>
        <p:txBody>
          <a:bodyPr wrap="square" lIns="127000" tIns="38100" rIns="127000" bIns="38100" rtlCol="0" anchor="ctr"/>
          <a:lstStyle/>
          <a:p>
            <a:pPr indent="0" marL="0">
              <a:buNone/>
            </a:pPr>
            <a:r>
              <a:rPr lang="en-US" sz="900" b="1" spc="100" kern="0" dirty="0">
                <a:solidFill>
                  <a:schemeClr val="accent1"/>
                </a:solidFill>
              </a:rPr>
              <a:t>HOW WE CALCULATED IT    </a:t>
            </a:r>
            <a:pPr indent="0" marL="0">
              <a:buNone/>
            </a:pPr>
            <a:r>
              <a:rPr lang="en-US" sz="1100" dirty="0">
                <a:solidFill>
                  <a:schemeClr val="tx1"/>
                </a:solidFill>
              </a:rPr>
              <a:t>99 loads a day = loads booked in during the 14 days before each stock snapshot ÷ receiving days (average of 3). Container 3.3 h = 20 min docking + 3 h unpacking by 2 people (assumption). Dock-to-stock 1.5 h = 20 min + 58 pallets × 1.2 min (2 reach trucks). Zone fit = m² needed by each of 568 containers vs 190 m².</a:t>
            </a:r>
            <a:endParaRPr lang="en-US" sz="11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spc="100" kern="0" dirty="0">
                <a:solidFill>
                  <a:schemeClr val="accent3"/>
                </a:solidFill>
              </a:rPr>
              <a:t>TODAY</a:t>
            </a:r>
            <a:pPr indent="0" marL="0">
              <a:buNone/>
            </a:pPr>
            <a:r>
              <a:rPr lang="en-US" sz="900" spc="100" kern="0" dirty="0">
                <a:solidFill>
                  <a:schemeClr val="accent3"/>
                </a:solidFill>
              </a:rPr>
              <a:t>   ·   </a:t>
            </a:r>
            <a:pPr indent="0" marL="0">
              <a:buNone/>
            </a:pPr>
            <a:r>
              <a:rPr lang="en-US" sz="900" spc="100" kern="0" dirty="0">
                <a:solidFill>
                  <a:schemeClr val="accent3"/>
                </a:solidFill>
              </a:rPr>
              <a:t>OUR SOLUTION</a:t>
            </a:r>
            <a:pPr indent="0" marL="0">
              <a:buNone/>
            </a:pPr>
            <a:r>
              <a:rPr lang="en-US" sz="900" spc="100" kern="0" dirty="0">
                <a:solidFill>
                  <a:schemeClr val="accent3"/>
                </a:solidFill>
              </a:rPr>
              <a:t>   ·   </a:t>
            </a:r>
            <a:pPr indent="0" marL="0">
              <a:buNone/>
            </a:pPr>
            <a:r>
              <a:rPr lang="en-US" sz="900" b="1" spc="100" kern="0" dirty="0">
                <a:solidFill>
                  <a:schemeClr val="accent1"/>
                </a:solidFill>
              </a:rPr>
              <a:t>PROCESSES</a:t>
            </a:r>
            <a:pPr indent="0" marL="0">
              <a:buNone/>
            </a:pPr>
            <a:r>
              <a:rPr lang="en-US" sz="900" spc="100" kern="0" dirty="0">
                <a:solidFill>
                  <a:schemeClr val="accent3"/>
                </a:solidFill>
              </a:rPr>
              <a:t>   ·   </a:t>
            </a:r>
            <a:pPr indent="0" marL="0">
              <a:buNone/>
            </a:pPr>
            <a:r>
              <a:rPr lang="en-US" sz="900" spc="100" kern="0" dirty="0">
                <a:solidFill>
                  <a:schemeClr val="accent3"/>
                </a:solidFill>
              </a:rPr>
              <a:t>VALUE FOR DHL</a:t>
            </a:r>
            <a:pPr indent="0" marL="0">
              <a:buNone/>
            </a:pPr>
            <a:r>
              <a:rPr lang="en-US" sz="900" spc="100" kern="0" dirty="0">
                <a:solidFill>
                  <a:schemeClr val="accent3"/>
                </a:solidFill>
              </a:rPr>
              <a:t>   ·   </a:t>
            </a:r>
            <a:pPr indent="0" marL="0">
              <a:buNone/>
            </a:pPr>
            <a:r>
              <a:rPr lang="en-US" sz="900" spc="100" kern="0" dirty="0">
                <a:solidFill>
                  <a:schemeClr val="accent3"/>
                </a:solidFill>
              </a:rPr>
              <a:t>ROADMAP</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8,960 rack places hold today's peak at 84% full — but at the current stock growth they are full in about 4 months</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stock snapshots 1 April, 1 May and 1 June 2025 (Assa Abloy &amp; DHL Supply Chain, 2025); step by step: appendix "How we calculated: storage"</a:t>
            </a:r>
            <a:endParaRPr lang="en-US" sz="900" dirty="0"/>
          </a:p>
        </p:txBody>
      </p:sp>
      <p:sp>
        <p:nvSpPr>
          <p:cNvPr id="5" name="Owner marker"/>
          <p:cNvSpPr/>
          <p:nvPr/>
        </p:nvSpPr>
        <p:spPr>
          <a:xfrm>
            <a:off x="9098280" y="338328"/>
            <a:ext cx="118872" cy="118872"/>
          </a:xfrm>
          <a:prstGeom prst="rect">
            <a:avLst/>
          </a:prstGeom>
          <a:solidFill>
            <a:srgbClr val="1D4ED8"/>
          </a:solidFill>
          <a:ln/>
        </p:spPr>
      </p:sp>
      <p:sp>
        <p:nvSpPr>
          <p:cNvPr id="6" name="Presenter"/>
          <p:cNvSpPr txBox="1"/>
          <p:nvPr/>
        </p:nvSpPr>
        <p:spPr>
          <a:xfrm>
            <a:off x="929030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Gleb</a:t>
            </a:r>
            <a:pPr indent="0" marL="0">
              <a:buNone/>
            </a:pPr>
            <a:r>
              <a:rPr lang="en-US" sz="1000" dirty="0">
                <a:solidFill>
                  <a:schemeClr val="accent2"/>
                </a:solidFill>
              </a:rPr>
              <a:t> · Storage owner</a:t>
            </a:r>
            <a:endParaRPr lang="en-US" sz="1000" dirty="0"/>
          </a:p>
        </p:txBody>
      </p:sp>
      <p:sp>
        <p:nvSpPr>
          <p:cNvPr id="7" name="Text 5"/>
          <p:cNvSpPr txBox="1"/>
          <p:nvPr/>
        </p:nvSpPr>
        <p:spPr>
          <a:xfrm>
            <a:off x="548640" y="1737360"/>
            <a:ext cx="5120640" cy="274320"/>
          </a:xfrm>
          <a:prstGeom prst="rect">
            <a:avLst/>
          </a:prstGeom>
          <a:noFill/>
          <a:ln/>
        </p:spPr>
        <p:txBody>
          <a:bodyPr wrap="square" lIns="0" tIns="0" rIns="0" bIns="0" rtlCol="0" anchor="t"/>
          <a:lstStyle/>
          <a:p>
            <a:pPr indent="0" marL="0">
              <a:buNone/>
            </a:pPr>
            <a:r>
              <a:rPr lang="en-US" sz="1300" b="1" dirty="0">
                <a:solidFill>
                  <a:schemeClr val="tx2"/>
                </a:solidFill>
              </a:rPr>
              <a:t>Pallet places at the peak (June 2025)</a:t>
            </a:r>
            <a:endParaRPr lang="en-US" sz="1300" dirty="0"/>
          </a:p>
        </p:txBody>
      </p:sp>
      <p:graphicFrame>
        <p:nvGraphicFramePr>
          <p:cNvPr id="8" name="Chart 0" descr=""/>
          <p:cNvGraphicFramePr/>
          <p:nvPr/>
        </p:nvGraphicFramePr>
        <p:xfrm>
          <a:off x="411480" y="2011680"/>
          <a:ext cx="5257800" cy="25603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48640" y="4590288"/>
            <a:ext cx="5120640" cy="320040"/>
          </a:xfrm>
          <a:prstGeom prst="rect">
            <a:avLst/>
          </a:prstGeom>
          <a:noFill/>
          <a:ln/>
        </p:spPr>
        <p:txBody>
          <a:bodyPr wrap="square" lIns="0" tIns="0" rIns="0" bIns="0" rtlCol="0" anchor="t"/>
          <a:lstStyle/>
          <a:p>
            <a:pPr indent="0" marL="0">
              <a:buNone/>
            </a:pPr>
            <a:r>
              <a:rPr lang="en-US" sz="1100" dirty="0">
                <a:solidFill>
                  <a:schemeClr val="accent2"/>
                </a:solidFill>
              </a:rPr>
              <a:t>−1,005 places: 2,657 small, slow items move to bin shelving next to packing.</a:t>
            </a:r>
            <a:endParaRPr lang="en-US" sz="1100" dirty="0"/>
          </a:p>
        </p:txBody>
      </p:sp>
      <p:sp>
        <p:nvSpPr>
          <p:cNvPr id="10" name="Text 7"/>
          <p:cNvSpPr txBox="1"/>
          <p:nvPr/>
        </p:nvSpPr>
        <p:spPr>
          <a:xfrm>
            <a:off x="548640" y="4919472"/>
            <a:ext cx="5120640" cy="621792"/>
          </a:xfrm>
          <a:prstGeom prst="rect">
            <a:avLst/>
          </a:prstGeom>
          <a:solidFill>
            <a:schemeClr val="accent6"/>
          </a:solidFill>
          <a:ln/>
        </p:spPr>
        <p:txBody>
          <a:bodyPr wrap="square" lIns="127000" tIns="38100" rIns="127000" bIns="38100" rtlCol="0" anchor="ctr"/>
          <a:lstStyle/>
          <a:p>
            <a:pPr indent="0" marL="0">
              <a:buNone/>
            </a:pPr>
            <a:r>
              <a:rPr lang="en-US" sz="1150" b="1" dirty="0">
                <a:solidFill>
                  <a:schemeClr val="tx1"/>
                </a:solidFill>
              </a:rPr>
              <a:t>Risk: </a:t>
            </a:r>
            <a:pPr indent="0" marL="0">
              <a:buNone/>
            </a:pPr>
            <a:r>
              <a:rPr lang="en-US" sz="1150" dirty="0">
                <a:solidFill>
                  <a:schemeClr val="tx1"/>
                </a:solidFill>
              </a:rPr>
              <a:t>at +16% a quarter the racks are full in ~4 months (~6 with the 12th module). 21% of loads are over a year old: clear dead stock first.</a:t>
            </a:r>
            <a:endParaRPr lang="en-US" sz="1150" dirty="0"/>
          </a:p>
        </p:txBody>
      </p:sp>
      <p:sp>
        <p:nvSpPr>
          <p:cNvPr id="11" name="Text 8"/>
          <p:cNvSpPr txBox="1"/>
          <p:nvPr/>
        </p:nvSpPr>
        <p:spPr>
          <a:xfrm>
            <a:off x="6172200" y="1737360"/>
            <a:ext cx="5470855" cy="274320"/>
          </a:xfrm>
          <a:prstGeom prst="rect">
            <a:avLst/>
          </a:prstGeom>
          <a:noFill/>
          <a:ln/>
        </p:spPr>
        <p:txBody>
          <a:bodyPr wrap="square" lIns="0" tIns="0" rIns="0" bIns="0" rtlCol="0" anchor="t"/>
          <a:lstStyle/>
          <a:p>
            <a:pPr indent="0" marL="0">
              <a:buNone/>
            </a:pPr>
            <a:r>
              <a:rPr lang="en-US" sz="1300" b="1" dirty="0">
                <a:solidFill>
                  <a:schemeClr val="tx2"/>
                </a:solidFill>
              </a:rPr>
              <a:t>How storage works</a:t>
            </a:r>
            <a:endParaRPr lang="en-US" sz="1300" dirty="0"/>
          </a:p>
        </p:txBody>
      </p:sp>
      <p:sp>
        <p:nvSpPr>
          <p:cNvPr id="12" name="Text 9"/>
          <p:cNvSpPr txBox="1"/>
          <p:nvPr/>
        </p:nvSpPr>
        <p:spPr>
          <a:xfrm>
            <a:off x="6172200" y="2084832"/>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1</a:t>
            </a:r>
            <a:endParaRPr lang="en-US" sz="1800" dirty="0"/>
          </a:p>
        </p:txBody>
      </p:sp>
      <p:sp>
        <p:nvSpPr>
          <p:cNvPr id="13" name="Text 10"/>
          <p:cNvSpPr txBox="1"/>
          <p:nvPr/>
        </p:nvSpPr>
        <p:spPr>
          <a:xfrm>
            <a:off x="6556248" y="2121408"/>
            <a:ext cx="5086807" cy="566928"/>
          </a:xfrm>
          <a:prstGeom prst="rect">
            <a:avLst/>
          </a:prstGeom>
          <a:noFill/>
          <a:ln/>
        </p:spPr>
        <p:txBody>
          <a:bodyPr wrap="square" lIns="0" tIns="0" rIns="0" bIns="0" rtlCol="0" anchor="t"/>
          <a:lstStyle/>
          <a:p>
            <a:pPr indent="0" marL="0">
              <a:buNone/>
            </a:pPr>
            <a:r>
              <a:rPr lang="en-US" sz="1200" b="1" dirty="0">
                <a:solidFill>
                  <a:schemeClr val="tx2"/>
                </a:solidFill>
              </a:rPr>
              <a:t>Every pallet reachable. </a:t>
            </a:r>
            <a:pPr indent="0" marL="0">
              <a:buNone/>
            </a:pPr>
            <a:r>
              <a:rPr lang="en-US" sz="1200" dirty="0">
                <a:solidFill>
                  <a:schemeClr val="tx1"/>
                </a:solidFill>
              </a:rPr>
              <a:t>Single-deep racks back-to-back, 8 levels, 10 aisles; one reach-truck type (ETV 216i).</a:t>
            </a:r>
            <a:endParaRPr lang="en-US" sz="1200" dirty="0"/>
          </a:p>
        </p:txBody>
      </p:sp>
      <p:sp>
        <p:nvSpPr>
          <p:cNvPr id="14" name="Text 11"/>
          <p:cNvSpPr txBox="1"/>
          <p:nvPr/>
        </p:nvSpPr>
        <p:spPr>
          <a:xfrm>
            <a:off x="6172200" y="2706624"/>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2</a:t>
            </a:r>
            <a:endParaRPr lang="en-US" sz="1800" dirty="0"/>
          </a:p>
        </p:txBody>
      </p:sp>
      <p:sp>
        <p:nvSpPr>
          <p:cNvPr id="15" name="Text 12"/>
          <p:cNvSpPr txBox="1"/>
          <p:nvPr/>
        </p:nvSpPr>
        <p:spPr>
          <a:xfrm>
            <a:off x="6556248" y="2743200"/>
            <a:ext cx="5086807" cy="566928"/>
          </a:xfrm>
          <a:prstGeom prst="rect">
            <a:avLst/>
          </a:prstGeom>
          <a:noFill/>
          <a:ln/>
        </p:spPr>
        <p:txBody>
          <a:bodyPr wrap="square" lIns="0" tIns="0" rIns="0" bIns="0" rtlCol="0" anchor="t"/>
          <a:lstStyle/>
          <a:p>
            <a:pPr indent="0" marL="0">
              <a:buNone/>
            </a:pPr>
            <a:r>
              <a:rPr lang="en-US" sz="1200" b="1" dirty="0">
                <a:solidFill>
                  <a:schemeClr val="tx2"/>
                </a:solidFill>
              </a:rPr>
              <a:t>A place by demand. </a:t>
            </a:r>
            <a:pPr indent="0" marL="0">
              <a:buNone/>
            </a:pPr>
            <a:r>
              <a:rPr lang="en-US" sz="1200" dirty="0">
                <a:solidFill>
                  <a:schemeClr val="tx1"/>
                </a:solidFill>
              </a:rPr>
              <a:t>Fast movers' reserve close to the fast-pick area, slow movers further away; heavy pallets low.</a:t>
            </a:r>
            <a:endParaRPr lang="en-US" sz="1200" dirty="0"/>
          </a:p>
        </p:txBody>
      </p:sp>
      <p:sp>
        <p:nvSpPr>
          <p:cNvPr id="16" name="Text 13"/>
          <p:cNvSpPr txBox="1"/>
          <p:nvPr/>
        </p:nvSpPr>
        <p:spPr>
          <a:xfrm>
            <a:off x="6172200" y="3328416"/>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3</a:t>
            </a:r>
            <a:endParaRPr lang="en-US" sz="1800" dirty="0"/>
          </a:p>
        </p:txBody>
      </p:sp>
      <p:sp>
        <p:nvSpPr>
          <p:cNvPr id="17" name="Text 14"/>
          <p:cNvSpPr txBox="1"/>
          <p:nvPr/>
        </p:nvSpPr>
        <p:spPr>
          <a:xfrm>
            <a:off x="6556248" y="3364992"/>
            <a:ext cx="5086807" cy="566928"/>
          </a:xfrm>
          <a:prstGeom prst="rect">
            <a:avLst/>
          </a:prstGeom>
          <a:noFill/>
          <a:ln/>
        </p:spPr>
        <p:txBody>
          <a:bodyPr wrap="square" lIns="0" tIns="0" rIns="0" bIns="0" rtlCol="0" anchor="t"/>
          <a:lstStyle/>
          <a:p>
            <a:pPr indent="0" marL="0">
              <a:buNone/>
            </a:pPr>
            <a:r>
              <a:rPr lang="en-US" sz="1200" b="1" dirty="0">
                <a:solidFill>
                  <a:schemeClr val="tx2"/>
                </a:solidFill>
              </a:rPr>
              <a:t>Safe refills from behind. </a:t>
            </a:r>
            <a:pPr indent="0" marL="0">
              <a:buNone/>
            </a:pPr>
            <a:r>
              <a:rPr lang="en-US" sz="1200" dirty="0">
                <a:solidFill>
                  <a:schemeClr val="tx1"/>
                </a:solidFill>
              </a:rPr>
              <a:t>31 carton-flow bays: the reach truck refills from the back, pickers take from the front.</a:t>
            </a:r>
            <a:endParaRPr lang="en-US" sz="1200" dirty="0"/>
          </a:p>
        </p:txBody>
      </p:sp>
      <p:pic>
        <p:nvPicPr>
          <p:cNvPr id="18" name="Image 0" descr="Cross-section of the fast-pick area: refill side, carton flow, pick aisle">    </p:cNvPr>
          <p:cNvPicPr>
            <a:picLocks noChangeAspect="1"/>
          </p:cNvPicPr>
          <p:nvPr/>
        </p:nvPicPr>
        <p:blipFill>
          <a:blip r:embed="rId2"/>
          <a:stretch>
            <a:fillRect/>
          </a:stretch>
        </p:blipFill>
        <p:spPr>
          <a:xfrm>
            <a:off x="6667348" y="4012960"/>
            <a:ext cx="4480560" cy="1519160"/>
          </a:xfrm>
          <a:prstGeom prst="rect">
            <a:avLst/>
          </a:prstGeom>
        </p:spPr>
      </p:pic>
      <p:sp>
        <p:nvSpPr>
          <p:cNvPr id="19" name="How we calculated it"/>
          <p:cNvSpPr txBox="1"/>
          <p:nvPr/>
        </p:nvSpPr>
        <p:spPr>
          <a:xfrm>
            <a:off x="548640" y="5641848"/>
            <a:ext cx="11094415" cy="640080"/>
          </a:xfrm>
          <a:prstGeom prst="rect">
            <a:avLst/>
          </a:prstGeom>
          <a:solidFill>
            <a:schemeClr val="bg2"/>
          </a:solidFill>
          <a:ln/>
        </p:spPr>
        <p:txBody>
          <a:bodyPr wrap="square" lIns="127000" tIns="38100" rIns="127000" bIns="38100" rtlCol="0" anchor="ctr"/>
          <a:lstStyle/>
          <a:p>
            <a:pPr indent="0" marL="0">
              <a:buNone/>
            </a:pPr>
            <a:r>
              <a:rPr lang="en-US" sz="900" b="1" spc="100" kern="0" dirty="0">
                <a:solidFill>
                  <a:schemeClr val="accent1"/>
                </a:solidFill>
              </a:rPr>
              <a:t>HOW WE CALCULATED IT    </a:t>
            </a:r>
            <a:pPr indent="0" marL="0">
              <a:buNone/>
            </a:pPr>
            <a:r>
              <a:rPr lang="en-US" sz="1100" dirty="0">
                <a:solidFill>
                  <a:schemeClr val="tx1"/>
                </a:solidFill>
              </a:rPr>
              <a:t>Needed = 8,512 occupied (1 June) − 1,005 places freed by small parts = 7,507; 7,507 ÷ 8,960 = 84%. Growth = (8,512 ÷ 7,715)^1.5 − 1 = 15.9% per quarter (2 months scaled to 3). Months until full = ln(8,960 ÷ 7,507) ÷ ln(1.159) × 3 = 3.6.</a:t>
            </a:r>
            <a:endParaRPr lang="en-US" sz="11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spc="100" kern="0" dirty="0">
                <a:solidFill>
                  <a:schemeClr val="accent3"/>
                </a:solidFill>
              </a:rPr>
              <a:t>TODAY</a:t>
            </a:r>
            <a:pPr indent="0" marL="0">
              <a:buNone/>
            </a:pPr>
            <a:r>
              <a:rPr lang="en-US" sz="900" spc="100" kern="0" dirty="0">
                <a:solidFill>
                  <a:schemeClr val="accent3"/>
                </a:solidFill>
              </a:rPr>
              <a:t>   ·   </a:t>
            </a:r>
            <a:pPr indent="0" marL="0">
              <a:buNone/>
            </a:pPr>
            <a:r>
              <a:rPr lang="en-US" sz="900" spc="100" kern="0" dirty="0">
                <a:solidFill>
                  <a:schemeClr val="accent3"/>
                </a:solidFill>
              </a:rPr>
              <a:t>OUR SOLUTION</a:t>
            </a:r>
            <a:pPr indent="0" marL="0">
              <a:buNone/>
            </a:pPr>
            <a:r>
              <a:rPr lang="en-US" sz="900" spc="100" kern="0" dirty="0">
                <a:solidFill>
                  <a:schemeClr val="accent3"/>
                </a:solidFill>
              </a:rPr>
              <a:t>   ·   </a:t>
            </a:r>
            <a:pPr indent="0" marL="0">
              <a:buNone/>
            </a:pPr>
            <a:r>
              <a:rPr lang="en-US" sz="900" b="1" spc="100" kern="0" dirty="0">
                <a:solidFill>
                  <a:schemeClr val="accent1"/>
                </a:solidFill>
              </a:rPr>
              <a:t>PROCESSES</a:t>
            </a:r>
            <a:pPr indent="0" marL="0">
              <a:buNone/>
            </a:pPr>
            <a:r>
              <a:rPr lang="en-US" sz="900" spc="100" kern="0" dirty="0">
                <a:solidFill>
                  <a:schemeClr val="accent3"/>
                </a:solidFill>
              </a:rPr>
              <a:t>   ·   </a:t>
            </a:r>
            <a:pPr indent="0" marL="0">
              <a:buNone/>
            </a:pPr>
            <a:r>
              <a:rPr lang="en-US" sz="900" spc="100" kern="0" dirty="0">
                <a:solidFill>
                  <a:schemeClr val="accent3"/>
                </a:solidFill>
              </a:rPr>
              <a:t>VALUE FOR DHL</a:t>
            </a:r>
            <a:pPr indent="0" marL="0">
              <a:buNone/>
            </a:pPr>
            <a:r>
              <a:rPr lang="en-US" sz="900" spc="100" kern="0" dirty="0">
                <a:solidFill>
                  <a:schemeClr val="accent3"/>
                </a:solidFill>
              </a:rPr>
              <a:t>   ·   </a:t>
            </a:r>
            <a:pPr indent="0" marL="0">
              <a:buNone/>
            </a:pPr>
            <a:r>
              <a:rPr lang="en-US" sz="900" spc="100" kern="0" dirty="0">
                <a:solidFill>
                  <a:schemeClr val="accent3"/>
                </a:solidFill>
              </a:rPr>
              <a:t>ROADMAP</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Batch picking from a fast-pick area cuts picking from ~31 to ~12 picker-hours a day</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model on WMS order lines April–June 2025 (Assa Abloy &amp; DHL Supply Chain, 2025) (Deliverable 3 §2.2); batching (de Koster et al., 2007); step by step: appendix "How we calculated: picking"</a:t>
            </a:r>
            <a:endParaRPr lang="en-US" sz="900" dirty="0"/>
          </a:p>
        </p:txBody>
      </p:sp>
      <p:sp>
        <p:nvSpPr>
          <p:cNvPr id="5" name="Owner marker"/>
          <p:cNvSpPr/>
          <p:nvPr/>
        </p:nvSpPr>
        <p:spPr>
          <a:xfrm>
            <a:off x="9098280" y="338328"/>
            <a:ext cx="118872" cy="118872"/>
          </a:xfrm>
          <a:prstGeom prst="rect">
            <a:avLst/>
          </a:prstGeom>
          <a:solidFill>
            <a:srgbClr val="15803D"/>
          </a:solidFill>
          <a:ln/>
        </p:spPr>
      </p:sp>
      <p:sp>
        <p:nvSpPr>
          <p:cNvPr id="6" name="Presenter"/>
          <p:cNvSpPr txBox="1"/>
          <p:nvPr/>
        </p:nvSpPr>
        <p:spPr>
          <a:xfrm>
            <a:off x="929030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Arnau</a:t>
            </a:r>
            <a:pPr indent="0" marL="0">
              <a:buNone/>
            </a:pPr>
            <a:r>
              <a:rPr lang="en-US" sz="1000" dirty="0">
                <a:solidFill>
                  <a:schemeClr val="accent2"/>
                </a:solidFill>
              </a:rPr>
              <a:t> · Picking owner</a:t>
            </a:r>
            <a:endParaRPr lang="en-US" sz="1000" dirty="0"/>
          </a:p>
        </p:txBody>
      </p:sp>
      <p:sp>
        <p:nvSpPr>
          <p:cNvPr id="7" name="Text 5"/>
          <p:cNvSpPr txBox="1"/>
          <p:nvPr/>
        </p:nvSpPr>
        <p:spPr>
          <a:xfrm>
            <a:off x="548640" y="1737360"/>
            <a:ext cx="4937760" cy="274320"/>
          </a:xfrm>
          <a:prstGeom prst="rect">
            <a:avLst/>
          </a:prstGeom>
          <a:noFill/>
          <a:ln/>
        </p:spPr>
        <p:txBody>
          <a:bodyPr wrap="square" lIns="0" tIns="0" rIns="0" bIns="0" rtlCol="0" anchor="t"/>
          <a:lstStyle/>
          <a:p>
            <a:pPr indent="0" marL="0">
              <a:buNone/>
            </a:pPr>
            <a:r>
              <a:rPr lang="en-US" sz="1300" b="1" dirty="0">
                <a:solidFill>
                  <a:schemeClr val="tx2"/>
                </a:solidFill>
              </a:rPr>
              <a:t>Picker-hours on an average day</a:t>
            </a:r>
            <a:endParaRPr lang="en-US" sz="1300" dirty="0"/>
          </a:p>
        </p:txBody>
      </p:sp>
      <p:sp>
        <p:nvSpPr>
          <p:cNvPr id="8" name="Text 6"/>
          <p:cNvSpPr txBox="1"/>
          <p:nvPr/>
        </p:nvSpPr>
        <p:spPr>
          <a:xfrm>
            <a:off x="548640" y="2002536"/>
            <a:ext cx="4937760" cy="237744"/>
          </a:xfrm>
          <a:prstGeom prst="rect">
            <a:avLst/>
          </a:prstGeom>
          <a:noFill/>
          <a:ln/>
        </p:spPr>
        <p:txBody>
          <a:bodyPr wrap="square" lIns="0" tIns="0" rIns="0" bIns="0" rtlCol="0" anchor="t"/>
          <a:lstStyle/>
          <a:p>
            <a:pPr indent="0" marL="0">
              <a:buNone/>
            </a:pPr>
            <a:r>
              <a:rPr lang="en-US" sz="1100" dirty="0">
                <a:solidFill>
                  <a:schemeClr val="accent2"/>
                </a:solidFill>
              </a:rPr>
              <a:t>modelled on the same order lines</a:t>
            </a:r>
            <a:endParaRPr lang="en-US" sz="1100" dirty="0"/>
          </a:p>
        </p:txBody>
      </p:sp>
      <p:graphicFrame>
        <p:nvGraphicFramePr>
          <p:cNvPr id="9" name="Chart 0" descr=""/>
          <p:cNvGraphicFramePr/>
          <p:nvPr/>
        </p:nvGraphicFramePr>
        <p:xfrm>
          <a:off x="411480" y="2286000"/>
          <a:ext cx="4937760" cy="32461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806440" y="1737360"/>
            <a:ext cx="5836615" cy="274320"/>
          </a:xfrm>
          <a:prstGeom prst="rect">
            <a:avLst/>
          </a:prstGeom>
          <a:noFill/>
          <a:ln/>
        </p:spPr>
        <p:txBody>
          <a:bodyPr wrap="square" lIns="0" tIns="0" rIns="0" bIns="0" rtlCol="0" anchor="t"/>
          <a:lstStyle/>
          <a:p>
            <a:pPr indent="0" marL="0">
              <a:buNone/>
            </a:pPr>
            <a:r>
              <a:rPr lang="en-US" sz="1300" b="1" dirty="0">
                <a:solidFill>
                  <a:schemeClr val="tx2"/>
                </a:solidFill>
              </a:rPr>
              <a:t>How it works</a:t>
            </a:r>
            <a:endParaRPr lang="en-US" sz="1300" dirty="0"/>
          </a:p>
        </p:txBody>
      </p:sp>
      <p:sp>
        <p:nvSpPr>
          <p:cNvPr id="11" name="Text 8"/>
          <p:cNvSpPr txBox="1"/>
          <p:nvPr/>
        </p:nvSpPr>
        <p:spPr>
          <a:xfrm>
            <a:off x="5806440" y="2084832"/>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1</a:t>
            </a:r>
            <a:endParaRPr lang="en-US" sz="1800" dirty="0"/>
          </a:p>
        </p:txBody>
      </p:sp>
      <p:sp>
        <p:nvSpPr>
          <p:cNvPr id="12" name="Text 9"/>
          <p:cNvSpPr txBox="1"/>
          <p:nvPr/>
        </p:nvSpPr>
        <p:spPr>
          <a:xfrm>
            <a:off x="6190488" y="2121408"/>
            <a:ext cx="5452567" cy="795528"/>
          </a:xfrm>
          <a:prstGeom prst="rect">
            <a:avLst/>
          </a:prstGeom>
          <a:noFill/>
          <a:ln/>
        </p:spPr>
        <p:txBody>
          <a:bodyPr wrap="square" lIns="0" tIns="0" rIns="0" bIns="0" rtlCol="0" anchor="t"/>
          <a:lstStyle/>
          <a:p>
            <a:pPr indent="0" marL="0">
              <a:buNone/>
            </a:pPr>
            <a:r>
              <a:rPr lang="en-US" sz="1250" b="1" dirty="0">
                <a:solidFill>
                  <a:schemeClr val="tx2"/>
                </a:solidFill>
              </a:rPr>
              <a:t>Split orders by size. </a:t>
            </a:r>
            <a:pPr indent="0" marL="0">
              <a:buNone/>
            </a:pPr>
            <a:r>
              <a:rPr lang="en-US" sz="1250" dirty="0">
                <a:solidFill>
                  <a:schemeClr val="tx1"/>
                </a:solidFill>
              </a:rPr>
              <a:t>84% of orders are small and go on a trolley with 6 totes; the other 16% carry 88% of the volume and are picked straight onto a pallet.</a:t>
            </a:r>
            <a:endParaRPr lang="en-US" sz="1250" dirty="0"/>
          </a:p>
        </p:txBody>
      </p:sp>
      <p:sp>
        <p:nvSpPr>
          <p:cNvPr id="13" name="Text 10"/>
          <p:cNvSpPr txBox="1"/>
          <p:nvPr/>
        </p:nvSpPr>
        <p:spPr>
          <a:xfrm>
            <a:off x="5806440" y="2935224"/>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2</a:t>
            </a:r>
            <a:endParaRPr lang="en-US" sz="1800" dirty="0"/>
          </a:p>
        </p:txBody>
      </p:sp>
      <p:sp>
        <p:nvSpPr>
          <p:cNvPr id="14" name="Text 11"/>
          <p:cNvSpPr txBox="1"/>
          <p:nvPr/>
        </p:nvSpPr>
        <p:spPr>
          <a:xfrm>
            <a:off x="6190488" y="2971800"/>
            <a:ext cx="5452567" cy="795528"/>
          </a:xfrm>
          <a:prstGeom prst="rect">
            <a:avLst/>
          </a:prstGeom>
          <a:noFill/>
          <a:ln/>
        </p:spPr>
        <p:txBody>
          <a:bodyPr wrap="square" lIns="0" tIns="0" rIns="0" bIns="0" rtlCol="0" anchor="t"/>
          <a:lstStyle/>
          <a:p>
            <a:pPr indent="0" marL="0">
              <a:buNone/>
            </a:pPr>
            <a:r>
              <a:rPr lang="en-US" sz="1250" b="1" dirty="0">
                <a:solidFill>
                  <a:schemeClr val="tx2"/>
                </a:solidFill>
              </a:rPr>
              <a:t>Best-sellers close by. </a:t>
            </a:r>
            <a:pPr indent="0" marL="0">
              <a:buNone/>
            </a:pPr>
            <a:r>
              <a:rPr lang="en-US" sz="1250" dirty="0">
                <a:solidFill>
                  <a:schemeClr val="tx1"/>
                </a:solidFill>
              </a:rPr>
              <a:t>The 1,409 best-sellers sit in the fast-pick area: 71% of lines are picked there, with ~14 m of walking per line.</a:t>
            </a:r>
            <a:endParaRPr lang="en-US" sz="1250" dirty="0"/>
          </a:p>
        </p:txBody>
      </p:sp>
      <p:sp>
        <p:nvSpPr>
          <p:cNvPr id="15" name="Text 12"/>
          <p:cNvSpPr txBox="1"/>
          <p:nvPr/>
        </p:nvSpPr>
        <p:spPr>
          <a:xfrm>
            <a:off x="5806440" y="3785616"/>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3</a:t>
            </a:r>
            <a:endParaRPr lang="en-US" sz="1800" dirty="0"/>
          </a:p>
        </p:txBody>
      </p:sp>
      <p:sp>
        <p:nvSpPr>
          <p:cNvPr id="16" name="Text 13"/>
          <p:cNvSpPr txBox="1"/>
          <p:nvPr/>
        </p:nvSpPr>
        <p:spPr>
          <a:xfrm>
            <a:off x="6190488" y="3822192"/>
            <a:ext cx="5452567" cy="795528"/>
          </a:xfrm>
          <a:prstGeom prst="rect">
            <a:avLst/>
          </a:prstGeom>
          <a:noFill/>
          <a:ln/>
        </p:spPr>
        <p:txBody>
          <a:bodyPr wrap="square" lIns="0" tIns="0" rIns="0" bIns="0" rtlCol="0" anchor="t"/>
          <a:lstStyle/>
          <a:p>
            <a:pPr indent="0" marL="0">
              <a:buNone/>
            </a:pPr>
            <a:r>
              <a:rPr lang="en-US" sz="1250" b="1" dirty="0">
                <a:solidFill>
                  <a:schemeClr val="tx2"/>
                </a:solidFill>
              </a:rPr>
              <a:t>Batch, then sort. </a:t>
            </a:r>
            <a:pPr indent="0" marL="0">
              <a:buNone/>
            </a:pPr>
            <a:r>
              <a:rPr lang="en-US" sz="1250" dirty="0">
                <a:solidFill>
                  <a:schemeClr val="tx1"/>
                </a:solidFill>
              </a:rPr>
              <a:t>One trolley tour picks ~31 lines for many orders; the put-to-light wall (120 slots) sorts them into orders and checks every item.</a:t>
            </a:r>
            <a:endParaRPr lang="en-US" sz="1250" dirty="0"/>
          </a:p>
        </p:txBody>
      </p:sp>
      <p:sp>
        <p:nvSpPr>
          <p:cNvPr id="17" name="Text 14"/>
          <p:cNvSpPr txBox="1"/>
          <p:nvPr/>
        </p:nvSpPr>
        <p:spPr>
          <a:xfrm>
            <a:off x="5806440" y="4636008"/>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4</a:t>
            </a:r>
            <a:endParaRPr lang="en-US" sz="1800" dirty="0"/>
          </a:p>
        </p:txBody>
      </p:sp>
      <p:sp>
        <p:nvSpPr>
          <p:cNvPr id="18" name="Text 15"/>
          <p:cNvSpPr txBox="1"/>
          <p:nvPr/>
        </p:nvSpPr>
        <p:spPr>
          <a:xfrm>
            <a:off x="6190488" y="4672584"/>
            <a:ext cx="5452567" cy="795528"/>
          </a:xfrm>
          <a:prstGeom prst="rect">
            <a:avLst/>
          </a:prstGeom>
          <a:noFill/>
          <a:ln/>
        </p:spPr>
        <p:txBody>
          <a:bodyPr wrap="square" lIns="0" tIns="0" rIns="0" bIns="0" rtlCol="0" anchor="t"/>
          <a:lstStyle/>
          <a:p>
            <a:pPr indent="0" marL="0">
              <a:buNone/>
            </a:pPr>
            <a:r>
              <a:rPr lang="en-US" sz="1250" b="1" dirty="0">
                <a:solidFill>
                  <a:schemeClr val="tx2"/>
                </a:solidFill>
              </a:rPr>
              <a:t>Three waves a day. </a:t>
            </a:r>
            <a:pPr indent="0" marL="0">
              <a:buNone/>
            </a:pPr>
            <a:r>
              <a:rPr lang="en-US" sz="1250" dirty="0">
                <a:solidFill>
                  <a:schemeClr val="tx1"/>
                </a:solidFill>
              </a:rPr>
              <a:t>Instead of one evening release — no 08:00 rush; the first wave starts at 06:00.</a:t>
            </a:r>
            <a:endParaRPr lang="en-US" sz="1250" dirty="0"/>
          </a:p>
        </p:txBody>
      </p:sp>
      <p:sp>
        <p:nvSpPr>
          <p:cNvPr id="19" name="How we calculated it"/>
          <p:cNvSpPr txBox="1"/>
          <p:nvPr/>
        </p:nvSpPr>
        <p:spPr>
          <a:xfrm>
            <a:off x="548640" y="5641848"/>
            <a:ext cx="11094415" cy="640080"/>
          </a:xfrm>
          <a:prstGeom prst="rect">
            <a:avLst/>
          </a:prstGeom>
          <a:solidFill>
            <a:schemeClr val="bg2"/>
          </a:solidFill>
          <a:ln/>
        </p:spPr>
        <p:txBody>
          <a:bodyPr wrap="square" lIns="127000" tIns="38100" rIns="127000" bIns="38100" rtlCol="0" anchor="ctr"/>
          <a:lstStyle/>
          <a:p>
            <a:pPr indent="0" marL="0">
              <a:buNone/>
            </a:pPr>
            <a:r>
              <a:rPr lang="en-US" sz="900" b="1" spc="100" kern="0" dirty="0">
                <a:solidFill>
                  <a:schemeClr val="accent1"/>
                </a:solidFill>
              </a:rPr>
              <a:t>HOW WE CALCULATED IT    </a:t>
            </a:r>
            <a:pPr indent="0" marL="0">
              <a:buNone/>
            </a:pPr>
            <a:r>
              <a:rPr lang="en-US" sz="1100" dirty="0">
                <a:solidFill>
                  <a:schemeClr val="tx1"/>
                </a:solidFill>
              </a:rPr>
              <a:t>Time per tour = (set-up + walk ÷ 0.8 m/s + lines × 25 s) × 1.10 for delays (large orders: pallet truck, 40 s a line). Today one tour per order, picks spread over all aisles = 23.77 h, × 1.31 for the 08:00 peak = 31.1 h. Design: fast-pick 1.9 + reserve 1.0 + large orders 6.9 + small parts 1.9 = 11.7 h.</a:t>
            </a:r>
            <a:endParaRPr lang="en-US" sz="11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spc="100" kern="0" dirty="0">
                <a:solidFill>
                  <a:schemeClr val="accent3"/>
                </a:solidFill>
              </a:rPr>
              <a:t>TODAY</a:t>
            </a:r>
            <a:pPr indent="0" marL="0">
              <a:buNone/>
            </a:pPr>
            <a:r>
              <a:rPr lang="en-US" sz="900" spc="100" kern="0" dirty="0">
                <a:solidFill>
                  <a:schemeClr val="accent3"/>
                </a:solidFill>
              </a:rPr>
              <a:t>   ·   </a:t>
            </a:r>
            <a:pPr indent="0" marL="0">
              <a:buNone/>
            </a:pPr>
            <a:r>
              <a:rPr lang="en-US" sz="900" spc="100" kern="0" dirty="0">
                <a:solidFill>
                  <a:schemeClr val="accent3"/>
                </a:solidFill>
              </a:rPr>
              <a:t>OUR SOLUTION</a:t>
            </a:r>
            <a:pPr indent="0" marL="0">
              <a:buNone/>
            </a:pPr>
            <a:r>
              <a:rPr lang="en-US" sz="900" spc="100" kern="0" dirty="0">
                <a:solidFill>
                  <a:schemeClr val="accent3"/>
                </a:solidFill>
              </a:rPr>
              <a:t>   ·   </a:t>
            </a:r>
            <a:pPr indent="0" marL="0">
              <a:buNone/>
            </a:pPr>
            <a:r>
              <a:rPr lang="en-US" sz="900" b="1" spc="100" kern="0" dirty="0">
                <a:solidFill>
                  <a:schemeClr val="accent1"/>
                </a:solidFill>
              </a:rPr>
              <a:t>PROCESSES</a:t>
            </a:r>
            <a:pPr indent="0" marL="0">
              <a:buNone/>
            </a:pPr>
            <a:r>
              <a:rPr lang="en-US" sz="900" spc="100" kern="0" dirty="0">
                <a:solidFill>
                  <a:schemeClr val="accent3"/>
                </a:solidFill>
              </a:rPr>
              <a:t>   ·   </a:t>
            </a:r>
            <a:pPr indent="0" marL="0">
              <a:buNone/>
            </a:pPr>
            <a:r>
              <a:rPr lang="en-US" sz="900" spc="100" kern="0" dirty="0">
                <a:solidFill>
                  <a:schemeClr val="accent3"/>
                </a:solidFill>
              </a:rPr>
              <a:t>VALUE FOR DHL</a:t>
            </a:r>
            <a:pPr indent="0" marL="0">
              <a:buNone/>
            </a:pPr>
            <a:r>
              <a:rPr lang="en-US" sz="900" spc="100" kern="0" dirty="0">
                <a:solidFill>
                  <a:schemeClr val="accent3"/>
                </a:solidFill>
              </a:rPr>
              <a:t>   ·   </a:t>
            </a:r>
            <a:pPr indent="0" marL="0">
              <a:buNone/>
            </a:pPr>
            <a:r>
              <a:rPr lang="en-US" sz="900" spc="100" kern="0" dirty="0">
                <a:solidFill>
                  <a:schemeClr val="accent3"/>
                </a:solidFill>
              </a:rPr>
              <a:t>ROADMAP</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A fixed trailer departure plan gets 65% of orders out within 24 hours and every wave staged before its trailer leaves</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shipments April–June 2025 (Assa Abloy &amp; DHL Supply Chain, 2025); departure plan (Deliverable 2 §4.5); step by step: appendix "How we calculated: service"</a:t>
            </a:r>
            <a:endParaRPr lang="en-US" sz="900" dirty="0"/>
          </a:p>
        </p:txBody>
      </p:sp>
      <p:sp>
        <p:nvSpPr>
          <p:cNvPr id="5" name="Owner marker"/>
          <p:cNvSpPr/>
          <p:nvPr/>
        </p:nvSpPr>
        <p:spPr>
          <a:xfrm>
            <a:off x="9098280" y="338328"/>
            <a:ext cx="118872" cy="118872"/>
          </a:xfrm>
          <a:prstGeom prst="rect">
            <a:avLst/>
          </a:prstGeom>
          <a:solidFill>
            <a:srgbClr val="7C3AED"/>
          </a:solidFill>
          <a:ln/>
        </p:spPr>
      </p:sp>
      <p:sp>
        <p:nvSpPr>
          <p:cNvPr id="6" name="Presenter"/>
          <p:cNvSpPr txBox="1"/>
          <p:nvPr/>
        </p:nvSpPr>
        <p:spPr>
          <a:xfrm>
            <a:off x="929030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Rachel</a:t>
            </a:r>
            <a:pPr indent="0" marL="0">
              <a:buNone/>
            </a:pPr>
            <a:r>
              <a:rPr lang="en-US" sz="1000" dirty="0">
                <a:solidFill>
                  <a:schemeClr val="accent2"/>
                </a:solidFill>
              </a:rPr>
              <a:t> · Shipping owner</a:t>
            </a:r>
            <a:endParaRPr lang="en-US" sz="1000" dirty="0"/>
          </a:p>
        </p:txBody>
      </p:sp>
      <p:sp>
        <p:nvSpPr>
          <p:cNvPr id="7" name="Text 5"/>
          <p:cNvSpPr txBox="1"/>
          <p:nvPr/>
        </p:nvSpPr>
        <p:spPr>
          <a:xfrm>
            <a:off x="548640" y="1737360"/>
            <a:ext cx="5212080" cy="274320"/>
          </a:xfrm>
          <a:prstGeom prst="rect">
            <a:avLst/>
          </a:prstGeom>
          <a:noFill/>
          <a:ln/>
        </p:spPr>
        <p:txBody>
          <a:bodyPr wrap="square" lIns="0" tIns="0" rIns="0" bIns="0" rtlCol="0" anchor="t"/>
          <a:lstStyle/>
          <a:p>
            <a:pPr indent="0" marL="0">
              <a:buNone/>
            </a:pPr>
            <a:r>
              <a:rPr lang="en-US" sz="1300" b="1" dirty="0">
                <a:solidFill>
                  <a:schemeClr val="tx2"/>
                </a:solidFill>
              </a:rPr>
              <a:t>Service today (measured) vs our design, %</a:t>
            </a:r>
            <a:endParaRPr lang="en-US" sz="1300" dirty="0"/>
          </a:p>
        </p:txBody>
      </p:sp>
      <p:graphicFrame>
        <p:nvGraphicFramePr>
          <p:cNvPr id="8" name="Chart 0" descr=""/>
          <p:cNvGraphicFramePr/>
          <p:nvPr/>
        </p:nvGraphicFramePr>
        <p:xfrm>
          <a:off x="411480" y="2011680"/>
          <a:ext cx="5349240" cy="224028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48640" y="4315968"/>
            <a:ext cx="5303520" cy="256032"/>
          </a:xfrm>
          <a:prstGeom prst="rect">
            <a:avLst/>
          </a:prstGeom>
          <a:noFill/>
          <a:ln/>
        </p:spPr>
        <p:txBody>
          <a:bodyPr wrap="square" lIns="0" tIns="0" rIns="0" bIns="0" rtlCol="0" anchor="t"/>
          <a:lstStyle/>
          <a:p>
            <a:pPr indent="0" marL="0">
              <a:buNone/>
            </a:pPr>
            <a:r>
              <a:rPr lang="en-US" sz="1200" b="1" dirty="0">
                <a:solidFill>
                  <a:schemeClr val="tx2"/>
                </a:solidFill>
              </a:rPr>
              <a:t>The day plan: three waves feed 14 trailer departures</a:t>
            </a:r>
            <a:endParaRPr lang="en-US" sz="1200" dirty="0"/>
          </a:p>
        </p:txBody>
      </p:sp>
      <p:sp>
        <p:nvSpPr>
          <p:cNvPr id="10" name="Text 7"/>
          <p:cNvSpPr txBox="1"/>
          <p:nvPr/>
        </p:nvSpPr>
        <p:spPr>
          <a:xfrm>
            <a:off x="548640" y="4617720"/>
            <a:ext cx="777240" cy="274320"/>
          </a:xfrm>
          <a:prstGeom prst="rect">
            <a:avLst/>
          </a:prstGeom>
          <a:noFill/>
          <a:ln/>
        </p:spPr>
        <p:txBody>
          <a:bodyPr wrap="square" lIns="0" tIns="0" rIns="0" bIns="0" rtlCol="0" anchor="ctr"/>
          <a:lstStyle/>
          <a:p>
            <a:pPr indent="0" marL="0">
              <a:buNone/>
            </a:pPr>
            <a:r>
              <a:rPr lang="en-US" sz="1000" dirty="0">
                <a:solidFill>
                  <a:schemeClr val="accent2"/>
                </a:solidFill>
              </a:rPr>
              <a:t>Waves</a:t>
            </a:r>
            <a:endParaRPr lang="en-US" sz="1000" dirty="0"/>
          </a:p>
        </p:txBody>
      </p:sp>
      <p:sp>
        <p:nvSpPr>
          <p:cNvPr id="11" name="Text 8"/>
          <p:cNvSpPr txBox="1"/>
          <p:nvPr/>
        </p:nvSpPr>
        <p:spPr>
          <a:xfrm>
            <a:off x="548640" y="4956048"/>
            <a:ext cx="777240" cy="274320"/>
          </a:xfrm>
          <a:prstGeom prst="rect">
            <a:avLst/>
          </a:prstGeom>
          <a:noFill/>
          <a:ln/>
        </p:spPr>
        <p:txBody>
          <a:bodyPr wrap="square" lIns="0" tIns="0" rIns="0" bIns="0" rtlCol="0" anchor="ctr"/>
          <a:lstStyle/>
          <a:p>
            <a:pPr indent="0" marL="0">
              <a:buNone/>
            </a:pPr>
            <a:r>
              <a:rPr lang="en-US" sz="1000" dirty="0">
                <a:solidFill>
                  <a:schemeClr val="accent2"/>
                </a:solidFill>
              </a:rPr>
              <a:t>Trailers</a:t>
            </a:r>
            <a:endParaRPr lang="en-US" sz="1000" dirty="0"/>
          </a:p>
        </p:txBody>
      </p:sp>
      <p:sp>
        <p:nvSpPr>
          <p:cNvPr id="12" name="Text 9"/>
          <p:cNvSpPr/>
          <p:nvPr/>
        </p:nvSpPr>
        <p:spPr>
          <a:xfrm>
            <a:off x="1371600" y="4617720"/>
            <a:ext cx="1354559" cy="274320"/>
          </a:xfrm>
          <a:prstGeom prst="rect">
            <a:avLst/>
          </a:prstGeom>
          <a:solidFill>
            <a:schemeClr val="tx2"/>
          </a:solidFill>
          <a:ln/>
        </p:spPr>
        <p:txBody>
          <a:bodyPr wrap="square" lIns="0" tIns="0" rIns="0" bIns="0" rtlCol="0" anchor="ctr"/>
          <a:lstStyle/>
          <a:p>
            <a:pPr algn="ctr" indent="0" marL="0">
              <a:buNone/>
            </a:pPr>
            <a:r>
              <a:rPr lang="en-US" sz="1000" b="1" dirty="0">
                <a:solidFill>
                  <a:schemeClr val="bg1"/>
                </a:solidFill>
              </a:rPr>
              <a:t>W1</a:t>
            </a:r>
            <a:endParaRPr lang="en-US" sz="1000" dirty="0"/>
          </a:p>
        </p:txBody>
      </p:sp>
      <p:sp>
        <p:nvSpPr>
          <p:cNvPr id="13" name="Text 10"/>
          <p:cNvSpPr/>
          <p:nvPr/>
        </p:nvSpPr>
        <p:spPr>
          <a:xfrm>
            <a:off x="2753591" y="4617720"/>
            <a:ext cx="1255845" cy="274320"/>
          </a:xfrm>
          <a:prstGeom prst="rect">
            <a:avLst/>
          </a:prstGeom>
          <a:solidFill>
            <a:schemeClr val="accent1"/>
          </a:solidFill>
          <a:ln/>
        </p:spPr>
        <p:txBody>
          <a:bodyPr wrap="square" lIns="0" tIns="0" rIns="0" bIns="0" rtlCol="0" anchor="ctr"/>
          <a:lstStyle/>
          <a:p>
            <a:pPr algn="ctr" indent="0" marL="0">
              <a:buNone/>
            </a:pPr>
            <a:r>
              <a:rPr lang="en-US" sz="1000" b="1" dirty="0">
                <a:solidFill>
                  <a:schemeClr val="bg1"/>
                </a:solidFill>
              </a:rPr>
              <a:t>W2</a:t>
            </a:r>
            <a:endParaRPr lang="en-US" sz="1000" dirty="0"/>
          </a:p>
        </p:txBody>
      </p:sp>
      <p:sp>
        <p:nvSpPr>
          <p:cNvPr id="14" name="Text 11"/>
          <p:cNvSpPr/>
          <p:nvPr/>
        </p:nvSpPr>
        <p:spPr>
          <a:xfrm>
            <a:off x="4036868" y="4617720"/>
            <a:ext cx="959704" cy="274320"/>
          </a:xfrm>
          <a:prstGeom prst="rect">
            <a:avLst/>
          </a:prstGeom>
          <a:solidFill>
            <a:schemeClr val="accent6"/>
          </a:solidFill>
          <a:ln/>
        </p:spPr>
        <p:txBody>
          <a:bodyPr wrap="square" lIns="0" tIns="0" rIns="0" bIns="0" rtlCol="0" anchor="ctr"/>
          <a:lstStyle/>
          <a:p>
            <a:pPr algn="ctr" indent="0" marL="0">
              <a:buNone/>
            </a:pPr>
            <a:r>
              <a:rPr lang="en-US" sz="1000" b="1" dirty="0">
                <a:solidFill>
                  <a:schemeClr val="tx1"/>
                </a:solidFill>
              </a:rPr>
              <a:t>W3</a:t>
            </a:r>
            <a:endParaRPr lang="en-US" sz="1000" dirty="0"/>
          </a:p>
        </p:txBody>
      </p:sp>
      <p:sp>
        <p:nvSpPr>
          <p:cNvPr id="15" name="Shape 12"/>
          <p:cNvSpPr/>
          <p:nvPr/>
        </p:nvSpPr>
        <p:spPr>
          <a:xfrm>
            <a:off x="3089009" y="5120640"/>
            <a:ext cx="118872" cy="118872"/>
          </a:xfrm>
          <a:prstGeom prst="triangle">
            <a:avLst/>
          </a:prstGeom>
          <a:solidFill>
            <a:schemeClr val="tx2"/>
          </a:solidFill>
          <a:ln/>
        </p:spPr>
      </p:sp>
      <p:sp>
        <p:nvSpPr>
          <p:cNvPr id="16" name="Shape 13"/>
          <p:cNvSpPr/>
          <p:nvPr/>
        </p:nvSpPr>
        <p:spPr>
          <a:xfrm>
            <a:off x="3286437" y="5120640"/>
            <a:ext cx="118872" cy="118872"/>
          </a:xfrm>
          <a:prstGeom prst="triangle">
            <a:avLst/>
          </a:prstGeom>
          <a:solidFill>
            <a:schemeClr val="tx2"/>
          </a:solidFill>
          <a:ln/>
        </p:spPr>
      </p:sp>
      <p:sp>
        <p:nvSpPr>
          <p:cNvPr id="17" name="Shape 14"/>
          <p:cNvSpPr/>
          <p:nvPr/>
        </p:nvSpPr>
        <p:spPr>
          <a:xfrm>
            <a:off x="4273573" y="5120640"/>
            <a:ext cx="118872" cy="118872"/>
          </a:xfrm>
          <a:prstGeom prst="triangle">
            <a:avLst/>
          </a:prstGeom>
          <a:solidFill>
            <a:schemeClr val="tx2"/>
          </a:solidFill>
          <a:ln/>
        </p:spPr>
      </p:sp>
      <p:sp>
        <p:nvSpPr>
          <p:cNvPr id="18" name="Shape 15"/>
          <p:cNvSpPr/>
          <p:nvPr/>
        </p:nvSpPr>
        <p:spPr>
          <a:xfrm>
            <a:off x="4471000" y="5120640"/>
            <a:ext cx="118872" cy="118872"/>
          </a:xfrm>
          <a:prstGeom prst="triangle">
            <a:avLst/>
          </a:prstGeom>
          <a:solidFill>
            <a:schemeClr val="tx2"/>
          </a:solidFill>
          <a:ln/>
        </p:spPr>
      </p:sp>
      <p:sp>
        <p:nvSpPr>
          <p:cNvPr id="19" name="Shape 16"/>
          <p:cNvSpPr/>
          <p:nvPr/>
        </p:nvSpPr>
        <p:spPr>
          <a:xfrm>
            <a:off x="4471000" y="4974336"/>
            <a:ext cx="118872" cy="118872"/>
          </a:xfrm>
          <a:prstGeom prst="triangle">
            <a:avLst/>
          </a:prstGeom>
          <a:solidFill>
            <a:schemeClr val="tx2"/>
          </a:solidFill>
          <a:ln/>
        </p:spPr>
      </p:sp>
      <p:sp>
        <p:nvSpPr>
          <p:cNvPr id="20" name="Shape 17"/>
          <p:cNvSpPr/>
          <p:nvPr/>
        </p:nvSpPr>
        <p:spPr>
          <a:xfrm>
            <a:off x="4668428" y="5120640"/>
            <a:ext cx="118872" cy="118872"/>
          </a:xfrm>
          <a:prstGeom prst="triangle">
            <a:avLst/>
          </a:prstGeom>
          <a:solidFill>
            <a:schemeClr val="tx2"/>
          </a:solidFill>
          <a:ln/>
        </p:spPr>
      </p:sp>
      <p:sp>
        <p:nvSpPr>
          <p:cNvPr id="21" name="Shape 18"/>
          <p:cNvSpPr/>
          <p:nvPr/>
        </p:nvSpPr>
        <p:spPr>
          <a:xfrm>
            <a:off x="4865855" y="5120640"/>
            <a:ext cx="118872" cy="118872"/>
          </a:xfrm>
          <a:prstGeom prst="triangle">
            <a:avLst/>
          </a:prstGeom>
          <a:solidFill>
            <a:schemeClr val="tx2"/>
          </a:solidFill>
          <a:ln/>
        </p:spPr>
      </p:sp>
      <p:sp>
        <p:nvSpPr>
          <p:cNvPr id="22" name="Shape 19"/>
          <p:cNvSpPr/>
          <p:nvPr/>
        </p:nvSpPr>
        <p:spPr>
          <a:xfrm>
            <a:off x="4865855" y="4974336"/>
            <a:ext cx="118872" cy="118872"/>
          </a:xfrm>
          <a:prstGeom prst="triangle">
            <a:avLst/>
          </a:prstGeom>
          <a:solidFill>
            <a:schemeClr val="tx2"/>
          </a:solidFill>
          <a:ln/>
        </p:spPr>
      </p:sp>
      <p:sp>
        <p:nvSpPr>
          <p:cNvPr id="23" name="Shape 20"/>
          <p:cNvSpPr/>
          <p:nvPr/>
        </p:nvSpPr>
        <p:spPr>
          <a:xfrm>
            <a:off x="5260709" y="5120640"/>
            <a:ext cx="118872" cy="118872"/>
          </a:xfrm>
          <a:prstGeom prst="triangle">
            <a:avLst/>
          </a:prstGeom>
          <a:solidFill>
            <a:schemeClr val="tx2"/>
          </a:solidFill>
          <a:ln/>
        </p:spPr>
      </p:sp>
      <p:sp>
        <p:nvSpPr>
          <p:cNvPr id="24" name="Shape 21"/>
          <p:cNvSpPr/>
          <p:nvPr/>
        </p:nvSpPr>
        <p:spPr>
          <a:xfrm>
            <a:off x="5359423" y="5120640"/>
            <a:ext cx="118872" cy="118872"/>
          </a:xfrm>
          <a:prstGeom prst="triangle">
            <a:avLst/>
          </a:prstGeom>
          <a:solidFill>
            <a:schemeClr val="tx2"/>
          </a:solidFill>
          <a:ln/>
        </p:spPr>
      </p:sp>
      <p:sp>
        <p:nvSpPr>
          <p:cNvPr id="25" name="Shape 22"/>
          <p:cNvSpPr/>
          <p:nvPr/>
        </p:nvSpPr>
        <p:spPr>
          <a:xfrm>
            <a:off x="5359423" y="4974336"/>
            <a:ext cx="118872" cy="118872"/>
          </a:xfrm>
          <a:prstGeom prst="triangle">
            <a:avLst/>
          </a:prstGeom>
          <a:solidFill>
            <a:schemeClr val="tx2"/>
          </a:solidFill>
          <a:ln/>
        </p:spPr>
      </p:sp>
      <p:sp>
        <p:nvSpPr>
          <p:cNvPr id="26" name="Shape 23"/>
          <p:cNvSpPr/>
          <p:nvPr/>
        </p:nvSpPr>
        <p:spPr>
          <a:xfrm>
            <a:off x="5458137" y="5120640"/>
            <a:ext cx="118872" cy="118872"/>
          </a:xfrm>
          <a:prstGeom prst="triangle">
            <a:avLst/>
          </a:prstGeom>
          <a:solidFill>
            <a:schemeClr val="tx2"/>
          </a:solidFill>
          <a:ln/>
        </p:spPr>
      </p:sp>
      <p:sp>
        <p:nvSpPr>
          <p:cNvPr id="27" name="Shape 24"/>
          <p:cNvSpPr/>
          <p:nvPr/>
        </p:nvSpPr>
        <p:spPr>
          <a:xfrm>
            <a:off x="5458137" y="4974336"/>
            <a:ext cx="118872" cy="118872"/>
          </a:xfrm>
          <a:prstGeom prst="triangle">
            <a:avLst/>
          </a:prstGeom>
          <a:solidFill>
            <a:schemeClr val="tx2"/>
          </a:solidFill>
          <a:ln/>
        </p:spPr>
      </p:sp>
      <p:sp>
        <p:nvSpPr>
          <p:cNvPr id="28" name="Shape 25"/>
          <p:cNvSpPr/>
          <p:nvPr/>
        </p:nvSpPr>
        <p:spPr>
          <a:xfrm>
            <a:off x="5556850" y="5120640"/>
            <a:ext cx="118872" cy="118872"/>
          </a:xfrm>
          <a:prstGeom prst="triangle">
            <a:avLst/>
          </a:prstGeom>
          <a:solidFill>
            <a:schemeClr val="tx2"/>
          </a:solidFill>
          <a:ln/>
        </p:spPr>
      </p:sp>
      <p:sp>
        <p:nvSpPr>
          <p:cNvPr id="29" name="Shape 26"/>
          <p:cNvSpPr/>
          <p:nvPr/>
        </p:nvSpPr>
        <p:spPr>
          <a:xfrm>
            <a:off x="1371600" y="5285232"/>
            <a:ext cx="4343400" cy="0"/>
          </a:xfrm>
          <a:prstGeom prst="line">
            <a:avLst/>
          </a:prstGeom>
          <a:noFill/>
          <a:ln w="9525">
            <a:solidFill>
              <a:schemeClr val="accent3"/>
            </a:solidFill>
            <a:prstDash val="solid"/>
          </a:ln>
        </p:spPr>
      </p:sp>
      <p:sp>
        <p:nvSpPr>
          <p:cNvPr id="30" name="Text 27"/>
          <p:cNvSpPr txBox="1"/>
          <p:nvPr/>
        </p:nvSpPr>
        <p:spPr>
          <a:xfrm>
            <a:off x="1097280" y="5321808"/>
            <a:ext cx="548640" cy="182880"/>
          </a:xfrm>
          <a:prstGeom prst="rect">
            <a:avLst/>
          </a:prstGeom>
          <a:noFill/>
          <a:ln/>
        </p:spPr>
        <p:txBody>
          <a:bodyPr wrap="square" lIns="0" tIns="0" rIns="0" bIns="0" rtlCol="0" anchor="t"/>
          <a:lstStyle/>
          <a:p>
            <a:pPr algn="ctr" indent="0" marL="0">
              <a:buNone/>
            </a:pPr>
            <a:r>
              <a:rPr lang="en-US" sz="900" dirty="0">
                <a:solidFill>
                  <a:schemeClr val="accent2"/>
                </a:solidFill>
              </a:rPr>
              <a:t>06:00</a:t>
            </a:r>
            <a:endParaRPr lang="en-US" sz="900" dirty="0"/>
          </a:p>
        </p:txBody>
      </p:sp>
      <p:sp>
        <p:nvSpPr>
          <p:cNvPr id="31" name="Text 28"/>
          <p:cNvSpPr txBox="1"/>
          <p:nvPr/>
        </p:nvSpPr>
        <p:spPr>
          <a:xfrm>
            <a:off x="1886989" y="5321808"/>
            <a:ext cx="548640" cy="182880"/>
          </a:xfrm>
          <a:prstGeom prst="rect">
            <a:avLst/>
          </a:prstGeom>
          <a:noFill/>
          <a:ln/>
        </p:spPr>
        <p:txBody>
          <a:bodyPr wrap="square" lIns="0" tIns="0" rIns="0" bIns="0" rtlCol="0" anchor="t"/>
          <a:lstStyle/>
          <a:p>
            <a:pPr algn="ctr" indent="0" marL="0">
              <a:buNone/>
            </a:pPr>
            <a:r>
              <a:rPr lang="en-US" sz="900" dirty="0">
                <a:solidFill>
                  <a:schemeClr val="accent2"/>
                </a:solidFill>
              </a:rPr>
              <a:t>08:00</a:t>
            </a:r>
            <a:endParaRPr lang="en-US" sz="900" dirty="0"/>
          </a:p>
        </p:txBody>
      </p:sp>
      <p:sp>
        <p:nvSpPr>
          <p:cNvPr id="32" name="Text 29"/>
          <p:cNvSpPr txBox="1"/>
          <p:nvPr/>
        </p:nvSpPr>
        <p:spPr>
          <a:xfrm>
            <a:off x="2676698" y="5321808"/>
            <a:ext cx="548640" cy="182880"/>
          </a:xfrm>
          <a:prstGeom prst="rect">
            <a:avLst/>
          </a:prstGeom>
          <a:noFill/>
          <a:ln/>
        </p:spPr>
        <p:txBody>
          <a:bodyPr wrap="square" lIns="0" tIns="0" rIns="0" bIns="0" rtlCol="0" anchor="t"/>
          <a:lstStyle/>
          <a:p>
            <a:pPr algn="ctr" indent="0" marL="0">
              <a:buNone/>
            </a:pPr>
            <a:r>
              <a:rPr lang="en-US" sz="900" dirty="0">
                <a:solidFill>
                  <a:schemeClr val="accent2"/>
                </a:solidFill>
              </a:rPr>
              <a:t>10:00</a:t>
            </a:r>
            <a:endParaRPr lang="en-US" sz="900" dirty="0"/>
          </a:p>
        </p:txBody>
      </p:sp>
      <p:sp>
        <p:nvSpPr>
          <p:cNvPr id="33" name="Text 30"/>
          <p:cNvSpPr txBox="1"/>
          <p:nvPr/>
        </p:nvSpPr>
        <p:spPr>
          <a:xfrm>
            <a:off x="3466407" y="5321808"/>
            <a:ext cx="548640" cy="182880"/>
          </a:xfrm>
          <a:prstGeom prst="rect">
            <a:avLst/>
          </a:prstGeom>
          <a:noFill/>
          <a:ln/>
        </p:spPr>
        <p:txBody>
          <a:bodyPr wrap="square" lIns="0" tIns="0" rIns="0" bIns="0" rtlCol="0" anchor="t"/>
          <a:lstStyle/>
          <a:p>
            <a:pPr algn="ctr" indent="0" marL="0">
              <a:buNone/>
            </a:pPr>
            <a:r>
              <a:rPr lang="en-US" sz="900" dirty="0">
                <a:solidFill>
                  <a:schemeClr val="accent2"/>
                </a:solidFill>
              </a:rPr>
              <a:t>12:00</a:t>
            </a:r>
            <a:endParaRPr lang="en-US" sz="900" dirty="0"/>
          </a:p>
        </p:txBody>
      </p:sp>
      <p:sp>
        <p:nvSpPr>
          <p:cNvPr id="34" name="Text 31"/>
          <p:cNvSpPr txBox="1"/>
          <p:nvPr/>
        </p:nvSpPr>
        <p:spPr>
          <a:xfrm>
            <a:off x="4256116" y="5321808"/>
            <a:ext cx="548640" cy="182880"/>
          </a:xfrm>
          <a:prstGeom prst="rect">
            <a:avLst/>
          </a:prstGeom>
          <a:noFill/>
          <a:ln/>
        </p:spPr>
        <p:txBody>
          <a:bodyPr wrap="square" lIns="0" tIns="0" rIns="0" bIns="0" rtlCol="0" anchor="t"/>
          <a:lstStyle/>
          <a:p>
            <a:pPr algn="ctr" indent="0" marL="0">
              <a:buNone/>
            </a:pPr>
            <a:r>
              <a:rPr lang="en-US" sz="900" dirty="0">
                <a:solidFill>
                  <a:schemeClr val="accent2"/>
                </a:solidFill>
              </a:rPr>
              <a:t>14:00</a:t>
            </a:r>
            <a:endParaRPr lang="en-US" sz="900" dirty="0"/>
          </a:p>
        </p:txBody>
      </p:sp>
      <p:sp>
        <p:nvSpPr>
          <p:cNvPr id="35" name="Text 32"/>
          <p:cNvSpPr txBox="1"/>
          <p:nvPr/>
        </p:nvSpPr>
        <p:spPr>
          <a:xfrm>
            <a:off x="5045825" y="5321808"/>
            <a:ext cx="548640" cy="182880"/>
          </a:xfrm>
          <a:prstGeom prst="rect">
            <a:avLst/>
          </a:prstGeom>
          <a:noFill/>
          <a:ln/>
        </p:spPr>
        <p:txBody>
          <a:bodyPr wrap="square" lIns="0" tIns="0" rIns="0" bIns="0" rtlCol="0" anchor="t"/>
          <a:lstStyle/>
          <a:p>
            <a:pPr algn="ctr" indent="0" marL="0">
              <a:buNone/>
            </a:pPr>
            <a:r>
              <a:rPr lang="en-US" sz="900" dirty="0">
                <a:solidFill>
                  <a:schemeClr val="accent2"/>
                </a:solidFill>
              </a:rPr>
              <a:t>16:00</a:t>
            </a:r>
            <a:endParaRPr lang="en-US" sz="900" dirty="0"/>
          </a:p>
        </p:txBody>
      </p:sp>
      <p:sp>
        <p:nvSpPr>
          <p:cNvPr id="36" name="Text 33"/>
          <p:cNvSpPr txBox="1"/>
          <p:nvPr/>
        </p:nvSpPr>
        <p:spPr>
          <a:xfrm>
            <a:off x="6172200" y="1737360"/>
            <a:ext cx="2598268" cy="548640"/>
          </a:xfrm>
          <a:prstGeom prst="rect">
            <a:avLst/>
          </a:prstGeom>
          <a:noFill/>
          <a:ln/>
        </p:spPr>
        <p:txBody>
          <a:bodyPr wrap="square" lIns="0" tIns="0" rIns="0" bIns="0" rtlCol="0" anchor="t"/>
          <a:lstStyle/>
          <a:p>
            <a:pPr indent="0" marL="0">
              <a:buNone/>
            </a:pPr>
            <a:r>
              <a:rPr lang="en-US" sz="3000" b="1" dirty="0">
                <a:solidFill>
                  <a:schemeClr val="accent1"/>
                </a:solidFill>
              </a:rPr>
              <a:t>15 → 4</a:t>
            </a:r>
            <a:endParaRPr lang="en-US" sz="3000" dirty="0"/>
          </a:p>
        </p:txBody>
      </p:sp>
      <p:sp>
        <p:nvSpPr>
          <p:cNvPr id="37" name="Text 34"/>
          <p:cNvSpPr txBox="1"/>
          <p:nvPr/>
        </p:nvSpPr>
        <p:spPr>
          <a:xfrm>
            <a:off x="6172200" y="2286000"/>
            <a:ext cx="2598268" cy="685800"/>
          </a:xfrm>
          <a:prstGeom prst="rect">
            <a:avLst/>
          </a:prstGeom>
          <a:noFill/>
          <a:ln/>
        </p:spPr>
        <p:txBody>
          <a:bodyPr wrap="square" lIns="0" tIns="0" rIns="0" bIns="0" rtlCol="0" anchor="t"/>
          <a:lstStyle/>
          <a:p>
            <a:pPr indent="0" marL="0">
              <a:buNone/>
            </a:pPr>
            <a:r>
              <a:rPr lang="en-US" sz="1200" dirty="0">
                <a:solidFill>
                  <a:schemeClr val="tx1"/>
                </a:solidFill>
              </a:rPr>
              <a:t>trailers at the doors at once on a busy day: parked all day today, max 4 of 5 doors with time slots</a:t>
            </a:r>
            <a:endParaRPr lang="en-US" sz="1200" dirty="0"/>
          </a:p>
        </p:txBody>
      </p:sp>
      <p:sp>
        <p:nvSpPr>
          <p:cNvPr id="38" name="Text 35"/>
          <p:cNvSpPr txBox="1"/>
          <p:nvPr/>
        </p:nvSpPr>
        <p:spPr>
          <a:xfrm>
            <a:off x="8999068" y="1737360"/>
            <a:ext cx="2598268" cy="548640"/>
          </a:xfrm>
          <a:prstGeom prst="rect">
            <a:avLst/>
          </a:prstGeom>
          <a:noFill/>
          <a:ln/>
        </p:spPr>
        <p:txBody>
          <a:bodyPr wrap="square" lIns="0" tIns="0" rIns="0" bIns="0" rtlCol="0" anchor="t"/>
          <a:lstStyle/>
          <a:p>
            <a:pPr indent="0" marL="0">
              <a:buNone/>
            </a:pPr>
            <a:r>
              <a:rPr lang="en-US" sz="3000" b="1" dirty="0">
                <a:solidFill>
                  <a:schemeClr val="accent1"/>
                </a:solidFill>
              </a:rPr>
              <a:t>102 → 70 h</a:t>
            </a:r>
            <a:endParaRPr lang="en-US" sz="3000" dirty="0"/>
          </a:p>
        </p:txBody>
      </p:sp>
      <p:sp>
        <p:nvSpPr>
          <p:cNvPr id="39" name="Text 36"/>
          <p:cNvSpPr txBox="1"/>
          <p:nvPr/>
        </p:nvSpPr>
        <p:spPr>
          <a:xfrm>
            <a:off x="8999068" y="2286000"/>
            <a:ext cx="2598268" cy="685800"/>
          </a:xfrm>
          <a:prstGeom prst="rect">
            <a:avLst/>
          </a:prstGeom>
          <a:noFill/>
          <a:ln/>
        </p:spPr>
        <p:txBody>
          <a:bodyPr wrap="square" lIns="0" tIns="0" rIns="0" bIns="0" rtlCol="0" anchor="t"/>
          <a:lstStyle/>
          <a:p>
            <a:pPr indent="0" marL="0">
              <a:buNone/>
            </a:pPr>
            <a:r>
              <a:rPr lang="en-US" sz="1200" dirty="0">
                <a:solidFill>
                  <a:schemeClr val="tx1"/>
                </a:solidFill>
              </a:rPr>
              <a:t>order to trailer for the slowest 10% of orders (measured → modelled)</a:t>
            </a:r>
            <a:endParaRPr lang="en-US" sz="1200" dirty="0"/>
          </a:p>
        </p:txBody>
      </p:sp>
      <p:sp>
        <p:nvSpPr>
          <p:cNvPr id="40" name="Shape 37"/>
          <p:cNvSpPr/>
          <p:nvPr/>
        </p:nvSpPr>
        <p:spPr>
          <a:xfrm>
            <a:off x="6172200" y="3035808"/>
            <a:ext cx="5470855" cy="0"/>
          </a:xfrm>
          <a:prstGeom prst="line">
            <a:avLst/>
          </a:prstGeom>
          <a:noFill/>
          <a:ln w="9525">
            <a:solidFill>
              <a:schemeClr val="accent4"/>
            </a:solidFill>
            <a:prstDash val="solid"/>
          </a:ln>
        </p:spPr>
      </p:sp>
      <p:sp>
        <p:nvSpPr>
          <p:cNvPr id="41" name="Text 38"/>
          <p:cNvSpPr txBox="1"/>
          <p:nvPr/>
        </p:nvSpPr>
        <p:spPr>
          <a:xfrm>
            <a:off x="6172200" y="3127248"/>
            <a:ext cx="5470855" cy="274320"/>
          </a:xfrm>
          <a:prstGeom prst="rect">
            <a:avLst/>
          </a:prstGeom>
          <a:noFill/>
          <a:ln/>
        </p:spPr>
        <p:txBody>
          <a:bodyPr wrap="square" lIns="0" tIns="0" rIns="0" bIns="0" rtlCol="0" anchor="t"/>
          <a:lstStyle/>
          <a:p>
            <a:pPr indent="0" marL="0">
              <a:buNone/>
            </a:pPr>
            <a:r>
              <a:rPr lang="en-US" sz="1300" b="1" dirty="0">
                <a:solidFill>
                  <a:schemeClr val="tx2"/>
                </a:solidFill>
              </a:rPr>
              <a:t>How it works</a:t>
            </a:r>
            <a:endParaRPr lang="en-US" sz="1300" dirty="0"/>
          </a:p>
        </p:txBody>
      </p:sp>
      <p:sp>
        <p:nvSpPr>
          <p:cNvPr id="42" name="Text 39"/>
          <p:cNvSpPr txBox="1"/>
          <p:nvPr/>
        </p:nvSpPr>
        <p:spPr>
          <a:xfrm>
            <a:off x="6172200" y="3456432"/>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1</a:t>
            </a:r>
            <a:endParaRPr lang="en-US" sz="1800" dirty="0"/>
          </a:p>
        </p:txBody>
      </p:sp>
      <p:sp>
        <p:nvSpPr>
          <p:cNvPr id="43" name="Text 40"/>
          <p:cNvSpPr txBox="1"/>
          <p:nvPr/>
        </p:nvSpPr>
        <p:spPr>
          <a:xfrm>
            <a:off x="6556248" y="3493008"/>
            <a:ext cx="5086807" cy="621792"/>
          </a:xfrm>
          <a:prstGeom prst="rect">
            <a:avLst/>
          </a:prstGeom>
          <a:noFill/>
          <a:ln/>
        </p:spPr>
        <p:txBody>
          <a:bodyPr wrap="square" lIns="0" tIns="0" rIns="0" bIns="0" rtlCol="0" anchor="t"/>
          <a:lstStyle/>
          <a:p>
            <a:pPr indent="0" marL="0">
              <a:buNone/>
            </a:pPr>
            <a:r>
              <a:rPr lang="en-US" sz="1250" b="1" dirty="0">
                <a:solidFill>
                  <a:schemeClr val="tx2"/>
                </a:solidFill>
              </a:rPr>
              <a:t>Fixed slots. </a:t>
            </a:r>
            <a:pPr indent="0" marL="0">
              <a:buNone/>
            </a:pPr>
            <a:r>
              <a:rPr lang="en-US" sz="1250" dirty="0">
                <a:solidFill>
                  <a:schemeClr val="tx1"/>
                </a:solidFill>
              </a:rPr>
              <a:t>14 trailer slots a day, each with a time and a door; every wave ends at least 45 minutes before its trailers leave.</a:t>
            </a:r>
            <a:endParaRPr lang="en-US" sz="1250" dirty="0"/>
          </a:p>
        </p:txBody>
      </p:sp>
      <p:sp>
        <p:nvSpPr>
          <p:cNvPr id="44" name="Text 41"/>
          <p:cNvSpPr txBox="1"/>
          <p:nvPr/>
        </p:nvSpPr>
        <p:spPr>
          <a:xfrm>
            <a:off x="6172200" y="4133088"/>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2</a:t>
            </a:r>
            <a:endParaRPr lang="en-US" sz="1800" dirty="0"/>
          </a:p>
        </p:txBody>
      </p:sp>
      <p:sp>
        <p:nvSpPr>
          <p:cNvPr id="45" name="Text 42"/>
          <p:cNvSpPr txBox="1"/>
          <p:nvPr/>
        </p:nvSpPr>
        <p:spPr>
          <a:xfrm>
            <a:off x="6556248" y="4169664"/>
            <a:ext cx="5086807" cy="621792"/>
          </a:xfrm>
          <a:prstGeom prst="rect">
            <a:avLst/>
          </a:prstGeom>
          <a:noFill/>
          <a:ln/>
        </p:spPr>
        <p:txBody>
          <a:bodyPr wrap="square" lIns="0" tIns="0" rIns="0" bIns="0" rtlCol="0" anchor="t"/>
          <a:lstStyle/>
          <a:p>
            <a:pPr indent="0" marL="0">
              <a:buNone/>
            </a:pPr>
            <a:r>
              <a:rPr lang="en-US" sz="1250" b="1" dirty="0">
                <a:solidFill>
                  <a:schemeClr val="tx2"/>
                </a:solidFill>
              </a:rPr>
              <a:t>Same-day lane. </a:t>
            </a:r>
            <a:pPr indent="0" marL="0">
              <a:buNone/>
            </a:pPr>
            <a:r>
              <a:rPr lang="en-US" sz="1250" dirty="0">
                <a:solidFill>
                  <a:schemeClr val="tx1"/>
                </a:solidFill>
              </a:rPr>
              <a:t>Orders received before 12:00 (32%) go in wave 3 and leave the same day.</a:t>
            </a:r>
            <a:endParaRPr lang="en-US" sz="1250" dirty="0"/>
          </a:p>
        </p:txBody>
      </p:sp>
      <p:sp>
        <p:nvSpPr>
          <p:cNvPr id="46" name="Text 43"/>
          <p:cNvSpPr txBox="1"/>
          <p:nvPr/>
        </p:nvSpPr>
        <p:spPr>
          <a:xfrm>
            <a:off x="6172200" y="4809744"/>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3</a:t>
            </a:r>
            <a:endParaRPr lang="en-US" sz="1800" dirty="0"/>
          </a:p>
        </p:txBody>
      </p:sp>
      <p:sp>
        <p:nvSpPr>
          <p:cNvPr id="47" name="Text 44"/>
          <p:cNvSpPr txBox="1"/>
          <p:nvPr/>
        </p:nvSpPr>
        <p:spPr>
          <a:xfrm>
            <a:off x="6556248" y="4846320"/>
            <a:ext cx="5086807" cy="621792"/>
          </a:xfrm>
          <a:prstGeom prst="rect">
            <a:avLst/>
          </a:prstGeom>
          <a:noFill/>
          <a:ln/>
        </p:spPr>
        <p:txBody>
          <a:bodyPr wrap="square" lIns="0" tIns="0" rIns="0" bIns="0" rtlCol="0" anchor="t"/>
          <a:lstStyle/>
          <a:p>
            <a:pPr indent="0" marL="0">
              <a:buNone/>
            </a:pPr>
            <a:r>
              <a:rPr lang="en-US" sz="1250" b="1" dirty="0">
                <a:solidFill>
                  <a:schemeClr val="tx2"/>
                </a:solidFill>
              </a:rPr>
              <a:t>Pack and stage by departure. </a:t>
            </a:r>
            <a:pPr indent="0" marL="0">
              <a:buNone/>
            </a:pPr>
            <a:r>
              <a:rPr lang="en-US" sz="1250" dirty="0">
                <a:solidFill>
                  <a:schemeClr val="tx1"/>
                </a:solidFill>
              </a:rPr>
              <a:t>4 pack stations; one staging lane per door, 46% full on the busiest afternoon.</a:t>
            </a:r>
            <a:endParaRPr lang="en-US" sz="1250" dirty="0"/>
          </a:p>
        </p:txBody>
      </p:sp>
      <p:sp>
        <p:nvSpPr>
          <p:cNvPr id="48" name="How we calculated it"/>
          <p:cNvSpPr txBox="1"/>
          <p:nvPr/>
        </p:nvSpPr>
        <p:spPr>
          <a:xfrm>
            <a:off x="548640" y="5669280"/>
            <a:ext cx="11094415" cy="612648"/>
          </a:xfrm>
          <a:prstGeom prst="rect">
            <a:avLst/>
          </a:prstGeom>
          <a:solidFill>
            <a:schemeClr val="bg2"/>
          </a:solidFill>
          <a:ln/>
        </p:spPr>
        <p:txBody>
          <a:bodyPr wrap="square" lIns="127000" tIns="38100" rIns="127000" bIns="38100" rtlCol="0" anchor="ctr"/>
          <a:lstStyle/>
          <a:p>
            <a:pPr indent="0" marL="0">
              <a:buNone/>
            </a:pPr>
            <a:r>
              <a:rPr lang="en-US" sz="900" b="1" spc="100" kern="0" dirty="0">
                <a:solidFill>
                  <a:schemeClr val="accent1"/>
                </a:solidFill>
              </a:rPr>
              <a:t>HOW WE CALCULATED IT    </a:t>
            </a:r>
            <a:pPr indent="0" marL="0">
              <a:buNone/>
            </a:pPr>
            <a:r>
              <a:rPr lang="en-US" sz="1100" dirty="0">
                <a:solidFill>
                  <a:schemeClr val="tx1"/>
                </a:solidFill>
              </a:rPr>
              <a:t>65% = each of the 8,774 real orders re-timed: wave by arrival time (after 12:00 → wave 1 next morning), wave end + 45 min packing, then the first slot of its own carrier; share ≤ 24 h. ≥ 98% on time is the target the plan is built for, not a result. 15 = trailers standing at once on a busy day (p90, WMS arrive/dispatch times).</a:t>
            </a:r>
            <a:endParaRPr lang="en-US" sz="11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spc="100" kern="0" dirty="0">
                <a:solidFill>
                  <a:schemeClr val="accent3"/>
                </a:solidFill>
              </a:rPr>
              <a:t>TODAY</a:t>
            </a:r>
            <a:pPr indent="0" marL="0">
              <a:buNone/>
            </a:pPr>
            <a:r>
              <a:rPr lang="en-US" sz="900" spc="100" kern="0" dirty="0">
                <a:solidFill>
                  <a:schemeClr val="accent3"/>
                </a:solidFill>
              </a:rPr>
              <a:t>   ·   </a:t>
            </a:r>
            <a:pPr indent="0" marL="0">
              <a:buNone/>
            </a:pPr>
            <a:r>
              <a:rPr lang="en-US" sz="900" spc="100" kern="0" dirty="0">
                <a:solidFill>
                  <a:schemeClr val="accent3"/>
                </a:solidFill>
              </a:rPr>
              <a:t>OUR SOLUTION</a:t>
            </a:r>
            <a:pPr indent="0" marL="0">
              <a:buNone/>
            </a:pPr>
            <a:r>
              <a:rPr lang="en-US" sz="900" spc="100" kern="0" dirty="0">
                <a:solidFill>
                  <a:schemeClr val="accent3"/>
                </a:solidFill>
              </a:rPr>
              <a:t>   ·   </a:t>
            </a:r>
            <a:pPr indent="0" marL="0">
              <a:buNone/>
            </a:pPr>
            <a:r>
              <a:rPr lang="en-US" sz="900" spc="100" kern="0" dirty="0">
                <a:solidFill>
                  <a:schemeClr val="accent3"/>
                </a:solidFill>
              </a:rPr>
              <a:t>PROCESSES</a:t>
            </a:r>
            <a:pPr indent="0" marL="0">
              <a:buNone/>
            </a:pPr>
            <a:r>
              <a:rPr lang="en-US" sz="900" spc="100" kern="0" dirty="0">
                <a:solidFill>
                  <a:schemeClr val="accent3"/>
                </a:solidFill>
              </a:rPr>
              <a:t>   ·   </a:t>
            </a:r>
            <a:pPr indent="0" marL="0">
              <a:buNone/>
            </a:pPr>
            <a:r>
              <a:rPr lang="en-US" sz="900" b="1" spc="100" kern="0" dirty="0">
                <a:solidFill>
                  <a:schemeClr val="accent1"/>
                </a:solidFill>
              </a:rPr>
              <a:t>VALUE FOR DHL</a:t>
            </a:r>
            <a:pPr indent="0" marL="0">
              <a:buNone/>
            </a:pPr>
            <a:r>
              <a:rPr lang="en-US" sz="900" spc="100" kern="0" dirty="0">
                <a:solidFill>
                  <a:schemeClr val="accent3"/>
                </a:solidFill>
              </a:rPr>
              <a:t>   ·   </a:t>
            </a:r>
            <a:pPr indent="0" marL="0">
              <a:buNone/>
            </a:pPr>
            <a:r>
              <a:rPr lang="en-US" sz="900" spc="100" kern="0" dirty="0">
                <a:solidFill>
                  <a:schemeClr val="accent3"/>
                </a:solidFill>
              </a:rPr>
              <a:t>ROADMAP</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For DHL: a kept service promise, €101k lower labour cost a year, and process changes that pay back in ~1.6 years</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cost model (Deliverable 3 §3): racking prices (IndexBox, n.d.; T-Racking, n.d.); labour €20 per hour (Rogier, course teacher, personal communication, October 2026); benchmark prices, not quotes; step by step: appendix "How we calculated: money"</a:t>
            </a:r>
            <a:endParaRPr lang="en-US" sz="900" dirty="0"/>
          </a:p>
        </p:txBody>
      </p:sp>
      <p:sp>
        <p:nvSpPr>
          <p:cNvPr id="5" name="Owner marker"/>
          <p:cNvSpPr/>
          <p:nvPr/>
        </p:nvSpPr>
        <p:spPr>
          <a:xfrm>
            <a:off x="9098280" y="338328"/>
            <a:ext cx="118872" cy="118872"/>
          </a:xfrm>
          <a:prstGeom prst="rect">
            <a:avLst/>
          </a:prstGeom>
          <a:solidFill>
            <a:srgbClr val="7C3AED"/>
          </a:solidFill>
          <a:ln/>
        </p:spPr>
      </p:sp>
      <p:sp>
        <p:nvSpPr>
          <p:cNvPr id="6" name="Presenter"/>
          <p:cNvSpPr txBox="1"/>
          <p:nvPr/>
        </p:nvSpPr>
        <p:spPr>
          <a:xfrm>
            <a:off x="929030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Rachel</a:t>
            </a:r>
            <a:pPr indent="0" marL="0">
              <a:buNone/>
            </a:pPr>
            <a:r>
              <a:rPr lang="en-US" sz="1000" dirty="0">
                <a:solidFill>
                  <a:schemeClr val="accent2"/>
                </a:solidFill>
              </a:rPr>
              <a:t> · presenter</a:t>
            </a:r>
            <a:endParaRPr lang="en-US" sz="1000" dirty="0"/>
          </a:p>
        </p:txBody>
      </p:sp>
      <p:sp>
        <p:nvSpPr>
          <p:cNvPr id="7" name="Text 5"/>
          <p:cNvSpPr txBox="1"/>
          <p:nvPr/>
        </p:nvSpPr>
        <p:spPr>
          <a:xfrm>
            <a:off x="548640" y="1737360"/>
            <a:ext cx="6035040" cy="274320"/>
          </a:xfrm>
          <a:prstGeom prst="rect">
            <a:avLst/>
          </a:prstGeom>
          <a:noFill/>
          <a:ln/>
        </p:spPr>
        <p:txBody>
          <a:bodyPr wrap="square" lIns="0" tIns="0" rIns="0" bIns="0" rtlCol="0" anchor="t"/>
          <a:lstStyle/>
          <a:p>
            <a:pPr indent="0" marL="0">
              <a:buNone/>
            </a:pPr>
            <a:r>
              <a:rPr lang="en-US" sz="1300" b="1" dirty="0">
                <a:solidFill>
                  <a:schemeClr val="tx2"/>
                </a:solidFill>
              </a:rPr>
              <a:t>What changes for DHL</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035040" cy="914400"/>
        </p:xfrm>
        <a:graphic>
          <a:graphicData uri="http://schemas.openxmlformats.org/drawingml/2006/table">
            <a:tbl>
              <a:tblPr/>
              <a:tblGrid>
                <a:gridCol w="868680"/>
                <a:gridCol w="2514600"/>
                <a:gridCol w="777240"/>
                <a:gridCol w="1874520"/>
              </a:tblGrid>
              <a:tr h="292608">
                <a:tc>
                  <a:txBody>
                    <a:bodyPr/>
                    <a:lstStyle/>
                    <a:p>
                      <a:pPr algn="l" indent="0" marL="0">
                        <a:buNone/>
                      </a:pPr>
                      <a:endParaRPr lang="en-US" sz="1100" dirty="0"/>
                    </a:p>
                  </a:txBody>
                  <a:tcPr marL="54864" marR="54864" marT="18288" marB="18288"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chemeClr val="accent2"/>
                          </a:solidFill>
                        </a:rPr>
                        <a:t>KPI</a:t>
                      </a:r>
                      <a:endParaRPr lang="en-US" sz="1100" dirty="0"/>
                    </a:p>
                  </a:txBody>
                  <a:tcPr marL="54864" marR="54864" marT="18288" marB="18288"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chemeClr val="accent2"/>
                          </a:solidFill>
                        </a:rPr>
                        <a:t>Today</a:t>
                      </a:r>
                      <a:endParaRPr lang="en-US" sz="1100" dirty="0"/>
                    </a:p>
                  </a:txBody>
                  <a:tcPr marL="54864" marR="54864" marT="18288" marB="18288"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chemeClr val="accent2"/>
                          </a:solidFill>
                        </a:rPr>
                        <a:t>Our design</a:t>
                      </a:r>
                      <a:endParaRPr lang="en-US" sz="1100" dirty="0"/>
                    </a:p>
                  </a:txBody>
                  <a:tcPr marL="54864" marR="54864" marT="18288" marB="18288"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402336">
                <a:tc>
                  <a:txBody>
                    <a:bodyPr/>
                    <a:lstStyle/>
                    <a:p>
                      <a:pPr indent="0" marL="0">
                        <a:buNone/>
                      </a:pPr>
                      <a:r>
                        <a:rPr lang="en-US" sz="1200" b="1" dirty="0">
                          <a:solidFill>
                            <a:schemeClr val="tx2"/>
                          </a:solidFill>
                        </a:rPr>
                        <a:t>Service</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Lines staged on time</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49.9%</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accent1"/>
                          </a:solidFill>
                        </a:rPr>
                        <a:t>≥ 98% (target)</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Orders out within 24 hours</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37%</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accent1"/>
                          </a:solidFill>
                        </a:rPr>
                        <a:t>65%</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200" b="1" dirty="0">
                          <a:solidFill>
                            <a:schemeClr val="tx2"/>
                          </a:solidFill>
                        </a:rPr>
                        <a:t>Cost</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Picker-hours a day</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~31</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accent1"/>
                          </a:solidFill>
                        </a:rPr>
                        <a:t>~12</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Cost per order line (incl. depreciation)</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accent1"/>
                          </a:solidFill>
                        </a:rPr>
                        <a:t>€3.09</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200" b="1" dirty="0">
                          <a:solidFill>
                            <a:schemeClr val="tx2"/>
                          </a:solidFill>
                        </a:rPr>
                        <a:t>Docks</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Trailers at the doors at once</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15</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accent1"/>
                          </a:solidFill>
                        </a:rPr>
                        <a:t>max 4</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200" b="1" dirty="0">
                          <a:solidFill>
                            <a:schemeClr val="tx2"/>
                          </a:solidFill>
                        </a:rPr>
                        <a:t>Safety</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Pick faces with reach-truck traffic</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accent1"/>
                          </a:solidFill>
                        </a:rPr>
                        <a:t>none (100% separated)</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200" b="1" dirty="0">
                          <a:solidFill>
                            <a:schemeClr val="tx2"/>
                          </a:solidFill>
                        </a:rPr>
                        <a:t>Growth</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+50% volume needs</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accent1"/>
                          </a:solidFill>
                        </a:rPr>
                        <a:t>+1 reach truck, +1 pallet truck, same 5 doors</a:t>
                      </a:r>
                      <a:endParaRPr lang="en-US" sz="1200" dirty="0"/>
                    </a:p>
                  </a:txBody>
                  <a:tcPr marL="54864" marR="54864"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9" name="Text 6"/>
          <p:cNvSpPr txBox="1"/>
          <p:nvPr/>
        </p:nvSpPr>
        <p:spPr>
          <a:xfrm>
            <a:off x="6949440" y="1737360"/>
            <a:ext cx="4693615" cy="274320"/>
          </a:xfrm>
          <a:prstGeom prst="rect">
            <a:avLst/>
          </a:prstGeom>
          <a:noFill/>
          <a:ln/>
        </p:spPr>
        <p:txBody>
          <a:bodyPr wrap="square" lIns="0" tIns="0" rIns="0" bIns="0" rtlCol="0" anchor="t"/>
          <a:lstStyle/>
          <a:p>
            <a:pPr indent="0" marL="0">
              <a:buNone/>
            </a:pPr>
            <a:r>
              <a:rPr lang="en-US" sz="1300" b="1" dirty="0">
                <a:solidFill>
                  <a:schemeClr val="tx2"/>
                </a:solidFill>
              </a:rPr>
              <a:t>Three ways to invest, € million</a:t>
            </a:r>
            <a:endParaRPr lang="en-US" sz="1300" dirty="0"/>
          </a:p>
        </p:txBody>
      </p:sp>
      <p:sp>
        <p:nvSpPr>
          <p:cNvPr id="10" name="Text 7"/>
          <p:cNvSpPr txBox="1"/>
          <p:nvPr/>
        </p:nvSpPr>
        <p:spPr>
          <a:xfrm>
            <a:off x="6949440" y="2002536"/>
            <a:ext cx="4693615" cy="237744"/>
          </a:xfrm>
          <a:prstGeom prst="rect">
            <a:avLst/>
          </a:prstGeom>
          <a:noFill/>
          <a:ln/>
        </p:spPr>
        <p:txBody>
          <a:bodyPr wrap="square" lIns="0" tIns="0" rIns="0" bIns="0" rtlCol="0" anchor="t"/>
          <a:lstStyle/>
          <a:p>
            <a:pPr indent="0" marL="0">
              <a:buNone/>
            </a:pPr>
            <a:r>
              <a:rPr lang="en-US" sz="1100" dirty="0">
                <a:solidFill>
                  <a:schemeClr val="accent2"/>
                </a:solidFill>
              </a:rPr>
              <a:t>payback = investment ÷ labour saved a year</a:t>
            </a:r>
            <a:endParaRPr lang="en-US" sz="1100" dirty="0"/>
          </a:p>
        </p:txBody>
      </p:sp>
      <p:graphicFrame>
        <p:nvGraphicFramePr>
          <p:cNvPr id="11" name="Chart 0" descr=""/>
          <p:cNvGraphicFramePr/>
          <p:nvPr/>
        </p:nvGraphicFramePr>
        <p:xfrm>
          <a:off x="6812280" y="2240280"/>
          <a:ext cx="4830775" cy="2194560"/>
        </p:xfrm>
        <a:graphic xmlns:a="http://schemas.openxmlformats.org/drawingml/2006/main">
          <a:graphicData uri="http://schemas.openxmlformats.org/drawingml/2006/chart">
            <c:chart xmlns:c="http://schemas.openxmlformats.org/drawingml/2006/chart" r:id="rId1"/>
          </a:graphicData>
        </a:graphic>
      </p:graphicFrame>
      <p:sp>
        <p:nvSpPr>
          <p:cNvPr id="12" name="Yearly numbers"/>
          <p:cNvSpPr/>
          <p:nvPr/>
        </p:nvSpPr>
        <p:spPr>
          <a:xfrm>
            <a:off x="6949440" y="4553712"/>
            <a:ext cx="4693615" cy="978408"/>
          </a:xfrm>
          <a:prstGeom prst="rect">
            <a:avLst/>
          </a:prstGeom>
          <a:solidFill>
            <a:schemeClr val="accent6"/>
          </a:solidFill>
          <a:ln/>
        </p:spPr>
      </p:sp>
      <p:sp>
        <p:nvSpPr>
          <p:cNvPr id="13" name="Text 9"/>
          <p:cNvSpPr txBox="1"/>
          <p:nvPr/>
        </p:nvSpPr>
        <p:spPr>
          <a:xfrm>
            <a:off x="7178040" y="4617720"/>
            <a:ext cx="2026768" cy="411480"/>
          </a:xfrm>
          <a:prstGeom prst="rect">
            <a:avLst/>
          </a:prstGeom>
          <a:noFill/>
          <a:ln/>
        </p:spPr>
        <p:txBody>
          <a:bodyPr wrap="square" lIns="0" tIns="0" rIns="0" bIns="0" rtlCol="0" anchor="t"/>
          <a:lstStyle/>
          <a:p>
            <a:pPr indent="0" marL="0">
              <a:buNone/>
            </a:pPr>
            <a:r>
              <a:rPr lang="en-US" sz="2400" b="1" dirty="0">
                <a:solidFill>
                  <a:schemeClr val="tx1"/>
                </a:solidFill>
              </a:rPr>
              <a:t>€101k</a:t>
            </a:r>
            <a:endParaRPr lang="en-US" sz="2400" dirty="0"/>
          </a:p>
        </p:txBody>
      </p:sp>
      <p:sp>
        <p:nvSpPr>
          <p:cNvPr id="14" name="Text 10"/>
          <p:cNvSpPr txBox="1"/>
          <p:nvPr/>
        </p:nvSpPr>
        <p:spPr>
          <a:xfrm>
            <a:off x="7178040" y="5029200"/>
            <a:ext cx="2026768" cy="438912"/>
          </a:xfrm>
          <a:prstGeom prst="rect">
            <a:avLst/>
          </a:prstGeom>
          <a:noFill/>
          <a:ln/>
        </p:spPr>
        <p:txBody>
          <a:bodyPr wrap="square" lIns="0" tIns="0" rIns="0" bIns="0" rtlCol="0" anchor="t"/>
          <a:lstStyle/>
          <a:p>
            <a:pPr indent="0" marL="0">
              <a:buNone/>
            </a:pPr>
            <a:r>
              <a:rPr lang="en-US" sz="1150" dirty="0">
                <a:solidFill>
                  <a:schemeClr val="tx1"/>
                </a:solidFill>
              </a:rPr>
              <a:t>labour saved a year</a:t>
            </a:r>
            <a:endParaRPr lang="en-US" sz="1150" dirty="0"/>
          </a:p>
        </p:txBody>
      </p:sp>
      <p:sp>
        <p:nvSpPr>
          <p:cNvPr id="15" name="Text 11"/>
          <p:cNvSpPr txBox="1"/>
          <p:nvPr/>
        </p:nvSpPr>
        <p:spPr>
          <a:xfrm>
            <a:off x="9524848" y="4617720"/>
            <a:ext cx="2026768" cy="411480"/>
          </a:xfrm>
          <a:prstGeom prst="rect">
            <a:avLst/>
          </a:prstGeom>
          <a:noFill/>
          <a:ln/>
        </p:spPr>
        <p:txBody>
          <a:bodyPr wrap="square" lIns="0" tIns="0" rIns="0" bIns="0" rtlCol="0" anchor="t"/>
          <a:lstStyle/>
          <a:p>
            <a:pPr indent="0" marL="0">
              <a:buNone/>
            </a:pPr>
            <a:r>
              <a:rPr lang="en-US" sz="2400" b="1" dirty="0">
                <a:solidFill>
                  <a:schemeClr val="tx1"/>
                </a:solidFill>
              </a:rPr>
              <a:t>€342k</a:t>
            </a:r>
            <a:endParaRPr lang="en-US" sz="2400" dirty="0"/>
          </a:p>
        </p:txBody>
      </p:sp>
      <p:sp>
        <p:nvSpPr>
          <p:cNvPr id="16" name="Text 12"/>
          <p:cNvSpPr txBox="1"/>
          <p:nvPr/>
        </p:nvSpPr>
        <p:spPr>
          <a:xfrm>
            <a:off x="9524848" y="5029200"/>
            <a:ext cx="2026768" cy="438912"/>
          </a:xfrm>
          <a:prstGeom prst="rect">
            <a:avLst/>
          </a:prstGeom>
          <a:noFill/>
          <a:ln/>
        </p:spPr>
        <p:txBody>
          <a:bodyPr wrap="square" lIns="0" tIns="0" rIns="0" bIns="0" rtlCol="0" anchor="t"/>
          <a:lstStyle/>
          <a:p>
            <a:pPr indent="0" marL="0">
              <a:buNone/>
            </a:pPr>
            <a:r>
              <a:rPr lang="en-US" sz="1150" dirty="0">
                <a:solidFill>
                  <a:schemeClr val="tx1"/>
                </a:solidFill>
              </a:rPr>
              <a:t>running cost a year (85% labour)</a:t>
            </a:r>
            <a:endParaRPr lang="en-US" sz="1150" dirty="0"/>
          </a:p>
        </p:txBody>
      </p:sp>
      <p:sp>
        <p:nvSpPr>
          <p:cNvPr id="17" name="How we calculated it"/>
          <p:cNvSpPr txBox="1"/>
          <p:nvPr/>
        </p:nvSpPr>
        <p:spPr>
          <a:xfrm>
            <a:off x="548640" y="5641848"/>
            <a:ext cx="11094415" cy="640080"/>
          </a:xfrm>
          <a:prstGeom prst="rect">
            <a:avLst/>
          </a:prstGeom>
          <a:solidFill>
            <a:schemeClr val="bg2"/>
          </a:solidFill>
          <a:ln/>
        </p:spPr>
        <p:txBody>
          <a:bodyPr wrap="square" lIns="127000" tIns="38100" rIns="127000" bIns="38100" rtlCol="0" anchor="ctr"/>
          <a:lstStyle/>
          <a:p>
            <a:pPr indent="0" marL="0">
              <a:buNone/>
            </a:pPr>
            <a:r>
              <a:rPr lang="en-US" sz="900" b="1" spc="100" kern="0" dirty="0">
                <a:solidFill>
                  <a:schemeClr val="accent1"/>
                </a:solidFill>
              </a:rPr>
              <a:t>HOW WE CALCULATED IT    </a:t>
            </a:r>
            <a:pPr indent="0" marL="0">
              <a:buNone/>
            </a:pPr>
            <a:r>
              <a:rPr lang="en-US" sz="1100" dirty="0">
                <a:solidFill>
                  <a:schemeClr val="tx1"/>
                </a:solidFill>
              </a:rPr>
              <a:t>Saving = 19.443 h a day ÷ 7.5 × 8 paid h × 244 days × €20 = €101,208. Payback = investment ÷ saving: €156,708 ÷ €101,208 = 1.55 years. Cost per line = (running cost €341,548 + depreciation €141,591) ÷ (640 lines × 244 days) = €3.09.</a:t>
            </a:r>
            <a:endParaRPr lang="en-US" sz="11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spc="100" kern="0" dirty="0">
                <a:solidFill>
                  <a:schemeClr val="accent3"/>
                </a:solidFill>
              </a:rPr>
              <a:t>TODAY</a:t>
            </a:r>
            <a:pPr indent="0" marL="0">
              <a:buNone/>
            </a:pPr>
            <a:r>
              <a:rPr lang="en-US" sz="900" spc="100" kern="0" dirty="0">
                <a:solidFill>
                  <a:schemeClr val="accent3"/>
                </a:solidFill>
              </a:rPr>
              <a:t>   ·   </a:t>
            </a:r>
            <a:pPr indent="0" marL="0">
              <a:buNone/>
            </a:pPr>
            <a:r>
              <a:rPr lang="en-US" sz="900" spc="100" kern="0" dirty="0">
                <a:solidFill>
                  <a:schemeClr val="accent3"/>
                </a:solidFill>
              </a:rPr>
              <a:t>OUR SOLUTION</a:t>
            </a:r>
            <a:pPr indent="0" marL="0">
              <a:buNone/>
            </a:pPr>
            <a:r>
              <a:rPr lang="en-US" sz="900" spc="100" kern="0" dirty="0">
                <a:solidFill>
                  <a:schemeClr val="accent3"/>
                </a:solidFill>
              </a:rPr>
              <a:t>   ·   </a:t>
            </a:r>
            <a:pPr indent="0" marL="0">
              <a:buNone/>
            </a:pPr>
            <a:r>
              <a:rPr lang="en-US" sz="900" spc="100" kern="0" dirty="0">
                <a:solidFill>
                  <a:schemeClr val="accent3"/>
                </a:solidFill>
              </a:rPr>
              <a:t>PROCESSES</a:t>
            </a:r>
            <a:pPr indent="0" marL="0">
              <a:buNone/>
            </a:pPr>
            <a:r>
              <a:rPr lang="en-US" sz="900" spc="100" kern="0" dirty="0">
                <a:solidFill>
                  <a:schemeClr val="accent3"/>
                </a:solidFill>
              </a:rPr>
              <a:t>   ·   </a:t>
            </a:r>
            <a:pPr indent="0" marL="0">
              <a:buNone/>
            </a:pPr>
            <a:r>
              <a:rPr lang="en-US" sz="900" spc="100" kern="0" dirty="0">
                <a:solidFill>
                  <a:schemeClr val="accent3"/>
                </a:solidFill>
              </a:rPr>
              <a:t>VALUE FOR DHL</a:t>
            </a:r>
            <a:pPr indent="0" marL="0">
              <a:buNone/>
            </a:pPr>
            <a:r>
              <a:rPr lang="en-US" sz="900" spc="100" kern="0" dirty="0">
                <a:solidFill>
                  <a:schemeClr val="accent3"/>
                </a:solidFill>
              </a:rPr>
              <a:t>   ·   </a:t>
            </a:r>
            <a:pPr indent="0" marL="0">
              <a:buNone/>
            </a:pPr>
            <a:r>
              <a:rPr lang="en-US" sz="900" b="1" spc="100" kern="0" dirty="0">
                <a:solidFill>
                  <a:schemeClr val="accent1"/>
                </a:solidFill>
              </a:rPr>
              <a:t>ROADMAP</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Start with the low-cost process changes, then build the fast-pick area — the racking decision comes last</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proposed sequence based on the cost model (Deliverable 3 §3) and the hours saved per change; open points in the appendix</a:t>
            </a:r>
            <a:endParaRPr lang="en-US" sz="900" dirty="0"/>
          </a:p>
        </p:txBody>
      </p:sp>
      <p:sp>
        <p:nvSpPr>
          <p:cNvPr id="5" name="Owner marker"/>
          <p:cNvSpPr/>
          <p:nvPr/>
        </p:nvSpPr>
        <p:spPr>
          <a:xfrm>
            <a:off x="9098280" y="338328"/>
            <a:ext cx="118872" cy="118872"/>
          </a:xfrm>
          <a:prstGeom prst="rect">
            <a:avLst/>
          </a:prstGeom>
          <a:solidFill>
            <a:srgbClr val="1D4ED8"/>
          </a:solidFill>
          <a:ln/>
        </p:spPr>
      </p:sp>
      <p:sp>
        <p:nvSpPr>
          <p:cNvPr id="6" name="Presenter"/>
          <p:cNvSpPr txBox="1"/>
          <p:nvPr/>
        </p:nvSpPr>
        <p:spPr>
          <a:xfrm>
            <a:off x="929030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Gleb</a:t>
            </a:r>
            <a:pPr indent="0" marL="0">
              <a:buNone/>
            </a:pPr>
            <a:r>
              <a:rPr lang="en-US" sz="1000" dirty="0">
                <a:solidFill>
                  <a:schemeClr val="accent2"/>
                </a:solidFill>
              </a:rPr>
              <a:t> · presenter</a:t>
            </a:r>
            <a:endParaRPr lang="en-US" sz="1000" dirty="0"/>
          </a:p>
        </p:txBody>
      </p:sp>
      <p:sp>
        <p:nvSpPr>
          <p:cNvPr id="7" name="Text 5"/>
          <p:cNvSpPr/>
          <p:nvPr/>
        </p:nvSpPr>
        <p:spPr>
          <a:xfrm>
            <a:off x="548640" y="1737360"/>
            <a:ext cx="3771290" cy="548640"/>
          </a:xfrm>
          <a:prstGeom prst="homePlate">
            <a:avLst/>
          </a:prstGeom>
          <a:solidFill>
            <a:schemeClr val="tx2"/>
          </a:solidFill>
          <a:ln/>
        </p:spPr>
        <p:txBody>
          <a:bodyPr wrap="square" lIns="228600" tIns="0" rIns="228600" bIns="0" rtlCol="0" anchor="ctr"/>
          <a:lstStyle/>
          <a:p>
            <a:pPr algn="ctr" indent="0" marL="0">
              <a:buNone/>
            </a:pPr>
            <a:r>
              <a:rPr lang="en-US" sz="1400" b="1" dirty="0">
                <a:solidFill>
                  <a:schemeClr val="bg1"/>
                </a:solidFill>
              </a:rPr>
              <a:t>Step 1  Change how work flows</a:t>
            </a:r>
            <a:endParaRPr lang="en-US" sz="1400" dirty="0"/>
          </a:p>
        </p:txBody>
      </p:sp>
      <p:sp>
        <p:nvSpPr>
          <p:cNvPr id="8" name="Text 6"/>
          <p:cNvSpPr/>
          <p:nvPr/>
        </p:nvSpPr>
        <p:spPr>
          <a:xfrm>
            <a:off x="4210202" y="1737360"/>
            <a:ext cx="3771290" cy="548640"/>
          </a:xfrm>
          <a:prstGeom prst="chevron">
            <a:avLst/>
          </a:prstGeom>
          <a:solidFill>
            <a:schemeClr val="tx2"/>
          </a:solidFill>
          <a:ln/>
        </p:spPr>
        <p:txBody>
          <a:bodyPr wrap="square" lIns="228600" tIns="0" rIns="228600" bIns="0" rtlCol="0" anchor="ctr"/>
          <a:lstStyle/>
          <a:p>
            <a:pPr algn="ctr" indent="0" marL="0">
              <a:buNone/>
            </a:pPr>
            <a:r>
              <a:rPr lang="en-US" sz="1400" b="1" dirty="0">
                <a:solidFill>
                  <a:schemeClr val="bg1"/>
                </a:solidFill>
              </a:rPr>
              <a:t>Step 2  Build the fast-pick area</a:t>
            </a:r>
            <a:endParaRPr lang="en-US" sz="1400" dirty="0"/>
          </a:p>
        </p:txBody>
      </p:sp>
      <p:sp>
        <p:nvSpPr>
          <p:cNvPr id="9" name="Text 7"/>
          <p:cNvSpPr/>
          <p:nvPr/>
        </p:nvSpPr>
        <p:spPr>
          <a:xfrm>
            <a:off x="7871765" y="1737360"/>
            <a:ext cx="3771290" cy="548640"/>
          </a:xfrm>
          <a:prstGeom prst="chevron">
            <a:avLst/>
          </a:prstGeom>
          <a:solidFill>
            <a:schemeClr val="tx2"/>
          </a:solidFill>
          <a:ln/>
        </p:spPr>
        <p:txBody>
          <a:bodyPr wrap="square" lIns="228600" tIns="0" rIns="228600" bIns="0" rtlCol="0" anchor="ctr"/>
          <a:lstStyle/>
          <a:p>
            <a:pPr algn="ctr" indent="0" marL="0">
              <a:buNone/>
            </a:pPr>
            <a:r>
              <a:rPr lang="en-US" sz="1400" b="1" dirty="0">
                <a:solidFill>
                  <a:schemeClr val="bg1"/>
                </a:solidFill>
              </a:rPr>
              <a:t>Step 3  Decide the racking</a:t>
            </a:r>
            <a:endParaRPr lang="en-US" sz="1400" dirty="0"/>
          </a:p>
        </p:txBody>
      </p:sp>
      <p:sp>
        <p:nvSpPr>
          <p:cNvPr id="10" name="Text 8"/>
          <p:cNvSpPr txBox="1"/>
          <p:nvPr/>
        </p:nvSpPr>
        <p:spPr>
          <a:xfrm>
            <a:off x="548640" y="2487168"/>
            <a:ext cx="3515258" cy="201168"/>
          </a:xfrm>
          <a:prstGeom prst="rect">
            <a:avLst/>
          </a:prstGeom>
          <a:noFill/>
          <a:ln/>
        </p:spPr>
        <p:txBody>
          <a:bodyPr wrap="square" lIns="0" tIns="0" rIns="0" bIns="0" rtlCol="0" anchor="t"/>
          <a:lstStyle/>
          <a:p>
            <a:pPr indent="0" marL="0">
              <a:buNone/>
            </a:pPr>
            <a:r>
              <a:rPr lang="en-US" sz="900" b="1" spc="100" kern="0" dirty="0">
                <a:solidFill>
                  <a:schemeClr val="accent1"/>
                </a:solidFill>
              </a:rPr>
              <a:t>WHAT</a:t>
            </a:r>
            <a:endParaRPr lang="en-US" sz="900" dirty="0"/>
          </a:p>
        </p:txBody>
      </p:sp>
      <p:sp>
        <p:nvSpPr>
          <p:cNvPr id="11" name="Text 9"/>
          <p:cNvSpPr txBox="1"/>
          <p:nvPr/>
        </p:nvSpPr>
        <p:spPr>
          <a:xfrm>
            <a:off x="548640" y="2706624"/>
            <a:ext cx="3515258" cy="713232"/>
          </a:xfrm>
          <a:prstGeom prst="rect">
            <a:avLst/>
          </a:prstGeom>
          <a:noFill/>
          <a:ln/>
        </p:spPr>
        <p:txBody>
          <a:bodyPr wrap="square" lIns="0" tIns="0" rIns="0" bIns="0" rtlCol="0" anchor="t"/>
          <a:lstStyle/>
          <a:p>
            <a:pPr indent="0" marL="0">
              <a:buNone/>
            </a:pPr>
            <a:r>
              <a:rPr lang="en-US" sz="1250" dirty="0">
                <a:solidFill>
                  <a:schemeClr val="tx1"/>
                </a:solidFill>
              </a:rPr>
              <a:t>Three waves a day, fixed trailer slots, slotting by demand, and dead stock cleared (21% of loads are over a year old).</a:t>
            </a:r>
            <a:endParaRPr lang="en-US" sz="1250" dirty="0"/>
          </a:p>
        </p:txBody>
      </p:sp>
      <p:sp>
        <p:nvSpPr>
          <p:cNvPr id="12" name="Shape 10"/>
          <p:cNvSpPr/>
          <p:nvPr/>
        </p:nvSpPr>
        <p:spPr>
          <a:xfrm>
            <a:off x="548640" y="3392424"/>
            <a:ext cx="3515258" cy="0"/>
          </a:xfrm>
          <a:prstGeom prst="line">
            <a:avLst/>
          </a:prstGeom>
          <a:noFill/>
          <a:ln w="9525">
            <a:solidFill>
              <a:schemeClr val="accent4"/>
            </a:solidFill>
            <a:prstDash val="solid"/>
          </a:ln>
        </p:spPr>
      </p:sp>
      <p:sp>
        <p:nvSpPr>
          <p:cNvPr id="13" name="Text 11"/>
          <p:cNvSpPr txBox="1"/>
          <p:nvPr/>
        </p:nvSpPr>
        <p:spPr>
          <a:xfrm>
            <a:off x="548640" y="3465576"/>
            <a:ext cx="3515258" cy="201168"/>
          </a:xfrm>
          <a:prstGeom prst="rect">
            <a:avLst/>
          </a:prstGeom>
          <a:noFill/>
          <a:ln/>
        </p:spPr>
        <p:txBody>
          <a:bodyPr wrap="square" lIns="0" tIns="0" rIns="0" bIns="0" rtlCol="0" anchor="t"/>
          <a:lstStyle/>
          <a:p>
            <a:pPr indent="0" marL="0">
              <a:buNone/>
            </a:pPr>
            <a:r>
              <a:rPr lang="en-US" sz="900" b="1" spc="100" kern="0" dirty="0">
                <a:solidFill>
                  <a:schemeClr val="accent1"/>
                </a:solidFill>
              </a:rPr>
              <a:t>DELIVERS</a:t>
            </a:r>
            <a:endParaRPr lang="en-US" sz="900" dirty="0"/>
          </a:p>
        </p:txBody>
      </p:sp>
      <p:sp>
        <p:nvSpPr>
          <p:cNvPr id="14" name="Text 12"/>
          <p:cNvSpPr txBox="1"/>
          <p:nvPr/>
        </p:nvSpPr>
        <p:spPr>
          <a:xfrm>
            <a:off x="548640" y="3685032"/>
            <a:ext cx="3515258" cy="713232"/>
          </a:xfrm>
          <a:prstGeom prst="rect">
            <a:avLst/>
          </a:prstGeom>
          <a:noFill/>
          <a:ln/>
        </p:spPr>
        <p:txBody>
          <a:bodyPr wrap="square" lIns="0" tIns="0" rIns="0" bIns="0" rtlCol="0" anchor="t"/>
          <a:lstStyle/>
          <a:p>
            <a:pPr indent="0" marL="0">
              <a:buNone/>
            </a:pPr>
            <a:r>
              <a:rPr lang="en-US" sz="1250" dirty="0">
                <a:solidFill>
                  <a:schemeClr val="tx1"/>
                </a:solidFill>
              </a:rPr>
              <a:t>No 08:00 peak staffing: −7.4 picker-hours a day (~€38k a year), and the wave plan behind 65% within 24 h.</a:t>
            </a:r>
            <a:endParaRPr lang="en-US" sz="1250" dirty="0"/>
          </a:p>
        </p:txBody>
      </p:sp>
      <p:sp>
        <p:nvSpPr>
          <p:cNvPr id="15" name="Shape 13"/>
          <p:cNvSpPr/>
          <p:nvPr/>
        </p:nvSpPr>
        <p:spPr>
          <a:xfrm>
            <a:off x="548640" y="4370832"/>
            <a:ext cx="3515258" cy="0"/>
          </a:xfrm>
          <a:prstGeom prst="line">
            <a:avLst/>
          </a:prstGeom>
          <a:noFill/>
          <a:ln w="9525">
            <a:solidFill>
              <a:schemeClr val="accent4"/>
            </a:solidFill>
            <a:prstDash val="solid"/>
          </a:ln>
        </p:spPr>
      </p:sp>
      <p:sp>
        <p:nvSpPr>
          <p:cNvPr id="16" name="Text 14"/>
          <p:cNvSpPr txBox="1"/>
          <p:nvPr/>
        </p:nvSpPr>
        <p:spPr>
          <a:xfrm>
            <a:off x="548640" y="4443984"/>
            <a:ext cx="3515258" cy="201168"/>
          </a:xfrm>
          <a:prstGeom prst="rect">
            <a:avLst/>
          </a:prstGeom>
          <a:noFill/>
          <a:ln/>
        </p:spPr>
        <p:txBody>
          <a:bodyPr wrap="square" lIns="0" tIns="0" rIns="0" bIns="0" rtlCol="0" anchor="t"/>
          <a:lstStyle/>
          <a:p>
            <a:pPr indent="0" marL="0">
              <a:buNone/>
            </a:pPr>
            <a:r>
              <a:rPr lang="en-US" sz="900" b="1" spc="100" kern="0" dirty="0">
                <a:solidFill>
                  <a:schemeClr val="accent1"/>
                </a:solidFill>
              </a:rPr>
              <a:t>NEEDS</a:t>
            </a:r>
            <a:endParaRPr lang="en-US" sz="900" dirty="0"/>
          </a:p>
        </p:txBody>
      </p:sp>
      <p:sp>
        <p:nvSpPr>
          <p:cNvPr id="17" name="Text 15"/>
          <p:cNvSpPr txBox="1"/>
          <p:nvPr/>
        </p:nvSpPr>
        <p:spPr>
          <a:xfrm>
            <a:off x="548640" y="4663440"/>
            <a:ext cx="3515258" cy="713232"/>
          </a:xfrm>
          <a:prstGeom prst="rect">
            <a:avLst/>
          </a:prstGeom>
          <a:noFill/>
          <a:ln/>
        </p:spPr>
        <p:txBody>
          <a:bodyPr wrap="square" lIns="0" tIns="0" rIns="0" bIns="0" rtlCol="0" anchor="t"/>
          <a:lstStyle/>
          <a:p>
            <a:pPr indent="0" marL="0">
              <a:buNone/>
            </a:pPr>
            <a:r>
              <a:rPr lang="en-US" sz="1250" dirty="0">
                <a:solidFill>
                  <a:schemeClr val="tx1"/>
                </a:solidFill>
              </a:rPr>
              <a:t>WMS wave set-up; carriers agree to fixed slots.</a:t>
            </a:r>
            <a:endParaRPr lang="en-US" sz="1250" dirty="0"/>
          </a:p>
        </p:txBody>
      </p:sp>
      <p:sp>
        <p:nvSpPr>
          <p:cNvPr id="18" name="Text 16"/>
          <p:cNvSpPr txBox="1"/>
          <p:nvPr/>
        </p:nvSpPr>
        <p:spPr>
          <a:xfrm>
            <a:off x="4338218" y="2487168"/>
            <a:ext cx="3515258" cy="201168"/>
          </a:xfrm>
          <a:prstGeom prst="rect">
            <a:avLst/>
          </a:prstGeom>
          <a:noFill/>
          <a:ln/>
        </p:spPr>
        <p:txBody>
          <a:bodyPr wrap="square" lIns="0" tIns="0" rIns="0" bIns="0" rtlCol="0" anchor="t"/>
          <a:lstStyle/>
          <a:p>
            <a:pPr indent="0" marL="0">
              <a:buNone/>
            </a:pPr>
            <a:r>
              <a:rPr lang="en-US" sz="900" b="1" spc="100" kern="0" dirty="0">
                <a:solidFill>
                  <a:schemeClr val="accent1"/>
                </a:solidFill>
              </a:rPr>
              <a:t>WHAT</a:t>
            </a:r>
            <a:endParaRPr lang="en-US" sz="900" dirty="0"/>
          </a:p>
        </p:txBody>
      </p:sp>
      <p:sp>
        <p:nvSpPr>
          <p:cNvPr id="19" name="Text 17"/>
          <p:cNvSpPr txBox="1"/>
          <p:nvPr/>
        </p:nvSpPr>
        <p:spPr>
          <a:xfrm>
            <a:off x="4338218" y="2706624"/>
            <a:ext cx="3515258" cy="713232"/>
          </a:xfrm>
          <a:prstGeom prst="rect">
            <a:avLst/>
          </a:prstGeom>
          <a:noFill/>
          <a:ln/>
        </p:spPr>
        <p:txBody>
          <a:bodyPr wrap="square" lIns="0" tIns="0" rIns="0" bIns="0" rtlCol="0" anchor="t"/>
          <a:lstStyle/>
          <a:p>
            <a:pPr indent="0" marL="0">
              <a:buNone/>
            </a:pPr>
            <a:r>
              <a:rPr lang="en-US" sz="1250" dirty="0">
                <a:solidFill>
                  <a:schemeClr val="tx1"/>
                </a:solidFill>
              </a:rPr>
              <a:t>Carton flow for the 1,409 best-sellers, the put-to-light wall, trolleys and scanners; small parts to bin shelving.</a:t>
            </a:r>
            <a:endParaRPr lang="en-US" sz="1250" dirty="0"/>
          </a:p>
        </p:txBody>
      </p:sp>
      <p:sp>
        <p:nvSpPr>
          <p:cNvPr id="20" name="Shape 18"/>
          <p:cNvSpPr/>
          <p:nvPr/>
        </p:nvSpPr>
        <p:spPr>
          <a:xfrm>
            <a:off x="4338218" y="3392424"/>
            <a:ext cx="3515258" cy="0"/>
          </a:xfrm>
          <a:prstGeom prst="line">
            <a:avLst/>
          </a:prstGeom>
          <a:noFill/>
          <a:ln w="9525">
            <a:solidFill>
              <a:schemeClr val="accent4"/>
            </a:solidFill>
            <a:prstDash val="solid"/>
          </a:ln>
        </p:spPr>
      </p:sp>
      <p:sp>
        <p:nvSpPr>
          <p:cNvPr id="21" name="Text 19"/>
          <p:cNvSpPr txBox="1"/>
          <p:nvPr/>
        </p:nvSpPr>
        <p:spPr>
          <a:xfrm>
            <a:off x="4338218" y="3465576"/>
            <a:ext cx="3515258" cy="201168"/>
          </a:xfrm>
          <a:prstGeom prst="rect">
            <a:avLst/>
          </a:prstGeom>
          <a:noFill/>
          <a:ln/>
        </p:spPr>
        <p:txBody>
          <a:bodyPr wrap="square" lIns="0" tIns="0" rIns="0" bIns="0" rtlCol="0" anchor="t"/>
          <a:lstStyle/>
          <a:p>
            <a:pPr indent="0" marL="0">
              <a:buNone/>
            </a:pPr>
            <a:r>
              <a:rPr lang="en-US" sz="900" b="1" spc="100" kern="0" dirty="0">
                <a:solidFill>
                  <a:schemeClr val="accent1"/>
                </a:solidFill>
              </a:rPr>
              <a:t>DELIVERS</a:t>
            </a:r>
            <a:endParaRPr lang="en-US" sz="900" dirty="0"/>
          </a:p>
        </p:txBody>
      </p:sp>
      <p:sp>
        <p:nvSpPr>
          <p:cNvPr id="22" name="Text 20"/>
          <p:cNvSpPr txBox="1"/>
          <p:nvPr/>
        </p:nvSpPr>
        <p:spPr>
          <a:xfrm>
            <a:off x="4338218" y="3685032"/>
            <a:ext cx="3515258" cy="713232"/>
          </a:xfrm>
          <a:prstGeom prst="rect">
            <a:avLst/>
          </a:prstGeom>
          <a:noFill/>
          <a:ln/>
        </p:spPr>
        <p:txBody>
          <a:bodyPr wrap="square" lIns="0" tIns="0" rIns="0" bIns="0" rtlCol="0" anchor="t"/>
          <a:lstStyle/>
          <a:p>
            <a:pPr indent="0" marL="0">
              <a:buNone/>
            </a:pPr>
            <a:r>
              <a:rPr lang="en-US" sz="1250" dirty="0">
                <a:solidFill>
                  <a:schemeClr val="tx1"/>
                </a:solidFill>
              </a:rPr>
              <a:t>Batch picking: −12.1 picker-hours a day (~€63k a year); 1,005 rack places freed.</a:t>
            </a:r>
            <a:endParaRPr lang="en-US" sz="1250" dirty="0"/>
          </a:p>
        </p:txBody>
      </p:sp>
      <p:sp>
        <p:nvSpPr>
          <p:cNvPr id="23" name="Shape 21"/>
          <p:cNvSpPr/>
          <p:nvPr/>
        </p:nvSpPr>
        <p:spPr>
          <a:xfrm>
            <a:off x="4338218" y="4370832"/>
            <a:ext cx="3515258" cy="0"/>
          </a:xfrm>
          <a:prstGeom prst="line">
            <a:avLst/>
          </a:prstGeom>
          <a:noFill/>
          <a:ln w="9525">
            <a:solidFill>
              <a:schemeClr val="accent4"/>
            </a:solidFill>
            <a:prstDash val="solid"/>
          </a:ln>
        </p:spPr>
      </p:sp>
      <p:sp>
        <p:nvSpPr>
          <p:cNvPr id="24" name="Text 22"/>
          <p:cNvSpPr txBox="1"/>
          <p:nvPr/>
        </p:nvSpPr>
        <p:spPr>
          <a:xfrm>
            <a:off x="4338218" y="4443984"/>
            <a:ext cx="3515258" cy="201168"/>
          </a:xfrm>
          <a:prstGeom prst="rect">
            <a:avLst/>
          </a:prstGeom>
          <a:noFill/>
          <a:ln/>
        </p:spPr>
        <p:txBody>
          <a:bodyPr wrap="square" lIns="0" tIns="0" rIns="0" bIns="0" rtlCol="0" anchor="t"/>
          <a:lstStyle/>
          <a:p>
            <a:pPr indent="0" marL="0">
              <a:buNone/>
            </a:pPr>
            <a:r>
              <a:rPr lang="en-US" sz="900" b="1" spc="100" kern="0" dirty="0">
                <a:solidFill>
                  <a:schemeClr val="accent1"/>
                </a:solidFill>
              </a:rPr>
              <a:t>NEEDS</a:t>
            </a:r>
            <a:endParaRPr lang="en-US" sz="900" dirty="0"/>
          </a:p>
        </p:txBody>
      </p:sp>
      <p:sp>
        <p:nvSpPr>
          <p:cNvPr id="25" name="Text 23"/>
          <p:cNvSpPr txBox="1"/>
          <p:nvPr/>
        </p:nvSpPr>
        <p:spPr>
          <a:xfrm>
            <a:off x="4338218" y="4663440"/>
            <a:ext cx="3515258" cy="713232"/>
          </a:xfrm>
          <a:prstGeom prst="rect">
            <a:avLst/>
          </a:prstGeom>
          <a:noFill/>
          <a:ln/>
        </p:spPr>
        <p:txBody>
          <a:bodyPr wrap="square" lIns="0" tIns="0" rIns="0" bIns="0" rtlCol="0" anchor="t"/>
          <a:lstStyle/>
          <a:p>
            <a:pPr indent="0" marL="0">
              <a:buNone/>
            </a:pPr>
            <a:r>
              <a:rPr lang="en-US" sz="1250" dirty="0">
                <a:solidFill>
                  <a:schemeClr val="tx1"/>
                </a:solidFill>
              </a:rPr>
              <a:t>Steps 1 + 2: €0.16M, payback ~1.6 years; small-parts shelving €69k.</a:t>
            </a:r>
            <a:endParaRPr lang="en-US" sz="1250" dirty="0"/>
          </a:p>
        </p:txBody>
      </p:sp>
      <p:sp>
        <p:nvSpPr>
          <p:cNvPr id="26" name="Text 24"/>
          <p:cNvSpPr txBox="1"/>
          <p:nvPr/>
        </p:nvSpPr>
        <p:spPr>
          <a:xfrm>
            <a:off x="8127797" y="2487168"/>
            <a:ext cx="3515258" cy="201168"/>
          </a:xfrm>
          <a:prstGeom prst="rect">
            <a:avLst/>
          </a:prstGeom>
          <a:noFill/>
          <a:ln/>
        </p:spPr>
        <p:txBody>
          <a:bodyPr wrap="square" lIns="0" tIns="0" rIns="0" bIns="0" rtlCol="0" anchor="t"/>
          <a:lstStyle/>
          <a:p>
            <a:pPr indent="0" marL="0">
              <a:buNone/>
            </a:pPr>
            <a:r>
              <a:rPr lang="en-US" sz="900" b="1" spc="100" kern="0" dirty="0">
                <a:solidFill>
                  <a:schemeClr val="accent1"/>
                </a:solidFill>
              </a:rPr>
              <a:t>WHAT</a:t>
            </a:r>
            <a:endParaRPr lang="en-US" sz="900" dirty="0"/>
          </a:p>
        </p:txBody>
      </p:sp>
      <p:sp>
        <p:nvSpPr>
          <p:cNvPr id="27" name="Text 25"/>
          <p:cNvSpPr txBox="1"/>
          <p:nvPr/>
        </p:nvSpPr>
        <p:spPr>
          <a:xfrm>
            <a:off x="8127797" y="2706624"/>
            <a:ext cx="3515258" cy="713232"/>
          </a:xfrm>
          <a:prstGeom prst="rect">
            <a:avLst/>
          </a:prstGeom>
          <a:noFill/>
          <a:ln/>
        </p:spPr>
        <p:txBody>
          <a:bodyPr wrap="square" lIns="0" tIns="0" rIns="0" bIns="0" rtlCol="0" anchor="t"/>
          <a:lstStyle/>
          <a:p>
            <a:pPr indent="0" marL="0">
              <a:buNone/>
            </a:pPr>
            <a:r>
              <a:rPr lang="en-US" sz="1250" dirty="0">
                <a:solidFill>
                  <a:schemeClr val="tx1"/>
                </a:solidFill>
              </a:rPr>
              <a:t>Re-use today's racking or install new single-deep racks; keep the 12th module in reserve for growth.</a:t>
            </a:r>
            <a:endParaRPr lang="en-US" sz="1250" dirty="0"/>
          </a:p>
        </p:txBody>
      </p:sp>
      <p:sp>
        <p:nvSpPr>
          <p:cNvPr id="28" name="Shape 26"/>
          <p:cNvSpPr/>
          <p:nvPr/>
        </p:nvSpPr>
        <p:spPr>
          <a:xfrm>
            <a:off x="8127797" y="3392424"/>
            <a:ext cx="3515258" cy="0"/>
          </a:xfrm>
          <a:prstGeom prst="line">
            <a:avLst/>
          </a:prstGeom>
          <a:noFill/>
          <a:ln w="9525">
            <a:solidFill>
              <a:schemeClr val="accent4"/>
            </a:solidFill>
            <a:prstDash val="solid"/>
          </a:ln>
        </p:spPr>
      </p:sp>
      <p:sp>
        <p:nvSpPr>
          <p:cNvPr id="29" name="Text 27"/>
          <p:cNvSpPr txBox="1"/>
          <p:nvPr/>
        </p:nvSpPr>
        <p:spPr>
          <a:xfrm>
            <a:off x="8127797" y="3465576"/>
            <a:ext cx="3515258" cy="201168"/>
          </a:xfrm>
          <a:prstGeom prst="rect">
            <a:avLst/>
          </a:prstGeom>
          <a:noFill/>
          <a:ln/>
        </p:spPr>
        <p:txBody>
          <a:bodyPr wrap="square" lIns="0" tIns="0" rIns="0" bIns="0" rtlCol="0" anchor="t"/>
          <a:lstStyle/>
          <a:p>
            <a:pPr indent="0" marL="0">
              <a:buNone/>
            </a:pPr>
            <a:r>
              <a:rPr lang="en-US" sz="900" b="1" spc="100" kern="0" dirty="0">
                <a:solidFill>
                  <a:schemeClr val="accent1"/>
                </a:solidFill>
              </a:rPr>
              <a:t>DELIVERS</a:t>
            </a:r>
            <a:endParaRPr lang="en-US" sz="900" dirty="0"/>
          </a:p>
        </p:txBody>
      </p:sp>
      <p:sp>
        <p:nvSpPr>
          <p:cNvPr id="30" name="Text 28"/>
          <p:cNvSpPr txBox="1"/>
          <p:nvPr/>
        </p:nvSpPr>
        <p:spPr>
          <a:xfrm>
            <a:off x="8127797" y="3685032"/>
            <a:ext cx="3515258" cy="713232"/>
          </a:xfrm>
          <a:prstGeom prst="rect">
            <a:avLst/>
          </a:prstGeom>
          <a:noFill/>
          <a:ln/>
        </p:spPr>
        <p:txBody>
          <a:bodyPr wrap="square" lIns="0" tIns="0" rIns="0" bIns="0" rtlCol="0" anchor="t"/>
          <a:lstStyle/>
          <a:p>
            <a:pPr indent="0" marL="0">
              <a:buNone/>
            </a:pPr>
            <a:r>
              <a:rPr lang="en-US" sz="1250" dirty="0">
                <a:solidFill>
                  <a:schemeClr val="tx1"/>
                </a:solidFill>
              </a:rPr>
              <a:t>8,960 places, every pallet reachable without moving another.</a:t>
            </a:r>
            <a:endParaRPr lang="en-US" sz="1250" dirty="0"/>
          </a:p>
        </p:txBody>
      </p:sp>
      <p:sp>
        <p:nvSpPr>
          <p:cNvPr id="31" name="Shape 29"/>
          <p:cNvSpPr/>
          <p:nvPr/>
        </p:nvSpPr>
        <p:spPr>
          <a:xfrm>
            <a:off x="8127797" y="4370832"/>
            <a:ext cx="3515258" cy="0"/>
          </a:xfrm>
          <a:prstGeom prst="line">
            <a:avLst/>
          </a:prstGeom>
          <a:noFill/>
          <a:ln w="9525">
            <a:solidFill>
              <a:schemeClr val="accent4"/>
            </a:solidFill>
            <a:prstDash val="solid"/>
          </a:ln>
        </p:spPr>
      </p:sp>
      <p:sp>
        <p:nvSpPr>
          <p:cNvPr id="32" name="Text 30"/>
          <p:cNvSpPr txBox="1"/>
          <p:nvPr/>
        </p:nvSpPr>
        <p:spPr>
          <a:xfrm>
            <a:off x="8127797" y="4443984"/>
            <a:ext cx="3515258" cy="201168"/>
          </a:xfrm>
          <a:prstGeom prst="rect">
            <a:avLst/>
          </a:prstGeom>
          <a:noFill/>
          <a:ln/>
        </p:spPr>
        <p:txBody>
          <a:bodyPr wrap="square" lIns="0" tIns="0" rIns="0" bIns="0" rtlCol="0" anchor="t"/>
          <a:lstStyle/>
          <a:p>
            <a:pPr indent="0" marL="0">
              <a:buNone/>
            </a:pPr>
            <a:r>
              <a:rPr lang="en-US" sz="900" b="1" spc="100" kern="0" dirty="0">
                <a:solidFill>
                  <a:schemeClr val="accent1"/>
                </a:solidFill>
              </a:rPr>
              <a:t>NEEDS</a:t>
            </a:r>
            <a:endParaRPr lang="en-US" sz="900" dirty="0"/>
          </a:p>
        </p:txBody>
      </p:sp>
      <p:sp>
        <p:nvSpPr>
          <p:cNvPr id="33" name="Text 31"/>
          <p:cNvSpPr txBox="1"/>
          <p:nvPr/>
        </p:nvSpPr>
        <p:spPr>
          <a:xfrm>
            <a:off x="8127797" y="4663440"/>
            <a:ext cx="3515258" cy="713232"/>
          </a:xfrm>
          <a:prstGeom prst="rect">
            <a:avLst/>
          </a:prstGeom>
          <a:noFill/>
          <a:ln/>
        </p:spPr>
        <p:txBody>
          <a:bodyPr wrap="square" lIns="0" tIns="0" rIns="0" bIns="0" rtlCol="0" anchor="t"/>
          <a:lstStyle/>
          <a:p>
            <a:pPr indent="0" marL="0">
              <a:buNone/>
            </a:pPr>
            <a:r>
              <a:rPr lang="en-US" sz="1250" dirty="0">
                <a:solidFill>
                  <a:schemeClr val="tx1"/>
                </a:solidFill>
              </a:rPr>
              <a:t>Re-use: €0.52M in total (payback ~5 years). New: €1.63M (~16 years).</a:t>
            </a:r>
            <a:endParaRPr lang="en-US" sz="1250" dirty="0"/>
          </a:p>
        </p:txBody>
      </p:sp>
      <p:sp>
        <p:nvSpPr>
          <p:cNvPr id="34" name="Text 32"/>
          <p:cNvSpPr txBox="1"/>
          <p:nvPr/>
        </p:nvSpPr>
        <p:spPr>
          <a:xfrm>
            <a:off x="548640" y="5577840"/>
            <a:ext cx="11094415" cy="594360"/>
          </a:xfrm>
          <a:prstGeom prst="rect">
            <a:avLst/>
          </a:prstGeom>
          <a:solidFill>
            <a:schemeClr val="accent6"/>
          </a:solidFill>
          <a:ln/>
        </p:spPr>
        <p:txBody>
          <a:bodyPr wrap="square" lIns="177800" tIns="50800" rIns="177800" bIns="50800" rtlCol="0" anchor="ctr"/>
          <a:lstStyle/>
          <a:p>
            <a:pPr indent="0" marL="0">
              <a:buNone/>
            </a:pPr>
            <a:r>
              <a:rPr lang="en-US" sz="1400" b="1" dirty="0">
                <a:solidFill>
                  <a:schemeClr val="tx1"/>
                </a:solidFill>
              </a:rPr>
              <a:t>Decisions we need from DHL:  </a:t>
            </a:r>
            <a:pPr indent="0" marL="0">
              <a:buNone/>
            </a:pPr>
            <a:r>
              <a:rPr lang="en-US" sz="1400" dirty="0">
                <a:solidFill>
                  <a:schemeClr val="tx1"/>
                </a:solidFill>
              </a:rPr>
              <a:t>the 7,000 m² scope  ·  carriers accepting fixed slots  ·  re-use or replace the racking</a:t>
            </a:r>
            <a:endParaRPr lang="en-US" sz="14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822960"/>
          </a:xfrm>
          <a:prstGeom prst="rect">
            <a:avLst/>
          </a:prstGeom>
          <a:noFill/>
          <a:ln/>
        </p:spPr>
        <p:txBody>
          <a:bodyPr wrap="square" lIns="0" tIns="0" rIns="0" bIns="0" rtlCol="0" anchor="ctr"/>
          <a:lstStyle/>
          <a:p>
            <a:pPr algn="l" indent="0" marL="0">
              <a:buNone/>
            </a:pPr>
            <a:r>
              <a:rPr lang="en-US" sz="4000" b="1" dirty="0">
                <a:solidFill>
                  <a:schemeClr val="tx1"/>
                </a:solidFill>
              </a:rPr>
              <a:t>Thank you — questions?</a:t>
            </a:r>
            <a:endParaRPr lang="en-US" sz="4000" dirty="0"/>
          </a:p>
        </p:txBody>
      </p:sp>
      <p:sp>
        <p:nvSpPr>
          <p:cNvPr id="3" name="Text 0"/>
          <p:cNvSpPr/>
          <p:nvPr>
            <p:ph idx="101" type="body" hasCustomPrompt="1"/>
          </p:nvPr>
        </p:nvSpPr>
        <p:spPr>
          <a:xfrm>
            <a:off x="731520" y="3063240"/>
            <a:ext cx="10515600" cy="2560320"/>
          </a:xfrm>
          <a:prstGeom prst="rect">
            <a:avLst/>
          </a:prstGeom>
          <a:noFill/>
          <a:ln/>
        </p:spPr>
        <p:txBody>
          <a:bodyPr wrap="square" lIns="0" tIns="0" rIns="0" bIns="0" rtlCol="0" anchor="t"/>
          <a:lstStyle/>
          <a:p>
            <a:pPr indent="0" marL="0">
              <a:buNone/>
            </a:pPr>
            <a:r>
              <a:rPr lang="en-US" sz="1600" dirty="0">
                <a:solidFill>
                  <a:schemeClr val="tx2"/>
                </a:solidFill>
              </a:rPr>
              <a:t>Vidhi — Receiving</a:t>
            </a:r>
            <a:endParaRPr lang="en-US" sz="1600" dirty="0"/>
          </a:p>
          <a:p>
            <a:pPr indent="0" marL="0">
              <a:buNone/>
            </a:pPr>
            <a:r>
              <a:rPr lang="en-US" sz="1600" dirty="0">
                <a:solidFill>
                  <a:schemeClr val="tx2"/>
                </a:solidFill>
              </a:rPr>
              <a:t>Gleb — Storage</a:t>
            </a:r>
            <a:endParaRPr lang="en-US" sz="1600" dirty="0"/>
          </a:p>
          <a:p>
            <a:pPr indent="0" marL="0">
              <a:buNone/>
            </a:pPr>
            <a:r>
              <a:rPr lang="en-US" sz="1600" dirty="0">
                <a:solidFill>
                  <a:schemeClr val="tx2"/>
                </a:solidFill>
              </a:rPr>
              <a:t>Arnau — Picking</a:t>
            </a:r>
            <a:endParaRPr lang="en-US" sz="1600" dirty="0"/>
          </a:p>
          <a:p>
            <a:pPr indent="0" marL="0">
              <a:buNone/>
            </a:pPr>
            <a:r>
              <a:rPr lang="en-US" sz="1600" dirty="0">
                <a:solidFill>
                  <a:schemeClr val="tx2"/>
                </a:solidFill>
              </a:rPr>
              <a:t>Rachel Selvarathnam — Shipping</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HOW WE CALCULATED: STORAGE</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Storage: 8,512 occupied − 1,005 freed = 7,507 needed of 8,960 places (84%); at +16% a quarter the racks are full in ~4 months</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stock snapshots 1 April, 1 May, 1 June 2025 (Assa Abloy &amp; DHL Supply Chain, 2025); layout drawing (Deliverable 2 §2); performance_cost.py</a:t>
            </a:r>
            <a:endParaRPr lang="en-US" sz="900" dirty="0"/>
          </a:p>
        </p:txBody>
      </p:sp>
      <p:sp>
        <p:nvSpPr>
          <p:cNvPr id="5" name="Owner marker"/>
          <p:cNvSpPr/>
          <p:nvPr/>
        </p:nvSpPr>
        <p:spPr>
          <a:xfrm>
            <a:off x="8001000" y="338328"/>
            <a:ext cx="118872" cy="118872"/>
          </a:xfrm>
          <a:prstGeom prst="rect">
            <a:avLst/>
          </a:prstGeom>
          <a:solidFill>
            <a:srgbClr val="1D4ED8"/>
          </a:solidFill>
          <a:ln/>
        </p:spPr>
      </p:sp>
      <p:sp>
        <p:nvSpPr>
          <p:cNvPr id="6" name="Presenter"/>
          <p:cNvSpPr txBox="1"/>
          <p:nvPr/>
        </p:nvSpPr>
        <p:spPr>
          <a:xfrm>
            <a:off x="819302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Gleb</a:t>
            </a:r>
            <a:pPr indent="0" marL="0">
              <a:buNone/>
            </a:pPr>
            <a:r>
              <a:rPr lang="en-US" sz="1000" dirty="0">
                <a:solidFill>
                  <a:schemeClr val="accent2"/>
                </a:solidFill>
              </a:rPr>
              <a:t> · answers</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20040"/>
                <a:gridCol w="1965960"/>
                <a:gridCol w="6035040"/>
                <a:gridCol w="1783080"/>
                <a:gridCol w="990295"/>
              </a:tblGrid>
              <a:tr h="0">
                <a:tc>
                  <a:txBody>
                    <a:bodyPr/>
                    <a:lstStyle/>
                    <a:p>
                      <a:pPr algn="l" indent="0" marL="0">
                        <a:buNone/>
                      </a:pPr>
                      <a:r>
                        <a:rPr lang="en-US" sz="1000" b="1" dirty="0">
                          <a:solidFill>
                            <a:schemeClr val="accent2"/>
                          </a:solidFill>
                        </a:rPr>
                        <a: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Step</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How we calculated it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1000" b="1" dirty="0">
                          <a:solidFill>
                            <a:schemeClr val="accent2"/>
                          </a:solidFill>
                        </a:rPr>
                        <a:t>Result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Type</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0">
                <a:tc>
                  <a:txBody>
                    <a:bodyPr/>
                    <a:lstStyle/>
                    <a:p>
                      <a:pPr indent="0" marL="0">
                        <a:buNone/>
                      </a:pPr>
                      <a:r>
                        <a:rPr lang="en-US" sz="1150" b="1" dirty="0">
                          <a:solidFill>
                            <a:schemeClr val="accent1"/>
                          </a:solidFill>
                        </a:rPr>
                        <a:t>1</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Occupied places at the peak</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highest of the three stock snapshots: 1 Apr 7,715 · 1 May 8,149 · 1 Jun 8,512</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8,512</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tx2"/>
                          </a:solidFill>
                        </a:rPr>
                        <a:t>data</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2</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Places freed by small parts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rack places holding only small, slow items (whole stock ≤ 50 L; each ≤ 20 L, ≤ 15 kg, ≤ 60 cm; class C) — their 2,657 items move to bin shelving</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1,005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tx2"/>
                          </a:solidFill>
                        </a:rPr>
                        <a:t>data + rule</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3</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Places needed in the design</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8,512 − 1,005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7,507</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4</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Places in the design</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counted on the to-scale drawing: 7,776 standard + 864 odd-size + 320 long-goods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8,960</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chemeClr val="tx2"/>
                          </a:solidFill>
                        </a:rPr>
                        <a:t>design</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Fill at the peak</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7,507 ÷ 8,960 (target ≤ 90%)</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84%</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6</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Stock growth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(8,512 ÷ 7,715)^1.5 − 1 — growth over 2 months (April → June) turned into a quarter</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+15.9% a quarter</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7</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Months until full</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ln(8,960 ÷ 7,507) ÷ ln(1.159) × 3 months — how many quarters of growth fit</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3.6 months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8</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With the reserved 12th module</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ln((8,960 + 864) ÷ 7,507) ÷ ln(1.159) × 3 months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5.5 months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9</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Dead stock</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loads in the 1 June snapshot booked in more than 365 days earlier ÷ all 11,015 loads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21%</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tx2"/>
                          </a:solidFill>
                        </a:rPr>
                        <a:t>data</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bl>
          </a:graphicData>
        </a:graphic>
      </p:graphicFrame>
      <p:sp>
        <p:nvSpPr>
          <p:cNvPr id="8" name="Text 5"/>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dirty="0">
                <a:solidFill>
                  <a:schemeClr val="accent2"/>
                </a:solidFill>
              </a:rPr>
              <a:t>Type: data = measured in Assa Abloy's WMS data · model = our calculation · assumption / benchmark = written down with its source · target = what the design is built to reach. Figures are rounded; the model works with unrounded values.</a:t>
            </a:r>
            <a:endParaRPr lang="en-US" sz="10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HOW WE CALCULATED: PICKING</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Picking: the same order lines timed per tour — one order per tour today (31.1 h with peak staffing), batched tours in the design (11.7 h)</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WMS order lines April–June 2025 (Assa Abloy &amp; DHL Supply Chain, 2025); time standards are assumptions A025 (to measure in a time study); picking_plan.py, performance_cost.py</a:t>
            </a:r>
            <a:endParaRPr lang="en-US" sz="900" dirty="0"/>
          </a:p>
        </p:txBody>
      </p:sp>
      <p:sp>
        <p:nvSpPr>
          <p:cNvPr id="5" name="Owner marker"/>
          <p:cNvSpPr/>
          <p:nvPr/>
        </p:nvSpPr>
        <p:spPr>
          <a:xfrm>
            <a:off x="8001000" y="338328"/>
            <a:ext cx="118872" cy="118872"/>
          </a:xfrm>
          <a:prstGeom prst="rect">
            <a:avLst/>
          </a:prstGeom>
          <a:solidFill>
            <a:srgbClr val="15803D"/>
          </a:solidFill>
          <a:ln/>
        </p:spPr>
      </p:sp>
      <p:sp>
        <p:nvSpPr>
          <p:cNvPr id="6" name="Presenter"/>
          <p:cNvSpPr txBox="1"/>
          <p:nvPr/>
        </p:nvSpPr>
        <p:spPr>
          <a:xfrm>
            <a:off x="819302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Arnau</a:t>
            </a:r>
            <a:pPr indent="0" marL="0">
              <a:buNone/>
            </a:pPr>
            <a:r>
              <a:rPr lang="en-US" sz="1000" dirty="0">
                <a:solidFill>
                  <a:schemeClr val="accent2"/>
                </a:solidFill>
              </a:rPr>
              <a:t> · answers</a:t>
            </a:r>
            <a:endParaRPr lang="en-US" sz="1000" dirty="0"/>
          </a:p>
        </p:txBody>
      </p:sp>
      <p:sp>
        <p:nvSpPr>
          <p:cNvPr id="7" name="Text 5"/>
          <p:cNvSpPr txBox="1"/>
          <p:nvPr/>
        </p:nvSpPr>
        <p:spPr>
          <a:xfrm>
            <a:off x="548640" y="1737360"/>
            <a:ext cx="11094415" cy="502920"/>
          </a:xfrm>
          <a:prstGeom prst="rect">
            <a:avLst/>
          </a:prstGeom>
          <a:solidFill>
            <a:schemeClr val="accent6"/>
          </a:solidFill>
          <a:ln/>
        </p:spPr>
        <p:txBody>
          <a:bodyPr wrap="square" lIns="127000" tIns="38100" rIns="127000" bIns="38100" rtlCol="0" anchor="ctr"/>
          <a:lstStyle/>
          <a:p>
            <a:pPr indent="0" marL="0">
              <a:buNone/>
            </a:pPr>
            <a:r>
              <a:rPr lang="en-US" sz="1150" b="1" dirty="0">
                <a:solidFill>
                  <a:schemeClr val="tx1"/>
                </a:solidFill>
              </a:rPr>
              <a:t>Time per tour = (set-up + walking distance ÷ speed + lines × time per line) × 1.10 for delays     </a:t>
            </a:r>
            <a:pPr indent="0" marL="0">
              <a:buNone/>
            </a:pPr>
            <a:r>
              <a:rPr lang="en-US" sz="1150" dirty="0">
                <a:solidFill>
                  <a:schemeClr val="accent2"/>
                </a:solidFill>
              </a:rPr>
              <a:t>set-up 90 s (trolley) / 180 s (pallet) · speed 0.8 m/s walking, 1.01 m/s pallet truck · 25 s per line (small orders) / 40 s (large orders)</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320040"/>
                <a:gridCol w="1965960"/>
                <a:gridCol w="6035040"/>
                <a:gridCol w="1783080"/>
                <a:gridCol w="990295"/>
              </a:tblGrid>
              <a:tr h="0">
                <a:tc>
                  <a:txBody>
                    <a:bodyPr/>
                    <a:lstStyle/>
                    <a:p>
                      <a:pPr algn="l" indent="0" marL="0">
                        <a:buNone/>
                      </a:pPr>
                      <a:r>
                        <a:rPr lang="en-US" sz="1000" b="1" dirty="0">
                          <a:solidFill>
                            <a:schemeClr val="accent2"/>
                          </a:solidFill>
                        </a:rPr>
                        <a: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Step</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How we calculated it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1000" b="1" dirty="0">
                          <a:solidFill>
                            <a:schemeClr val="accent2"/>
                          </a:solidFill>
                        </a:rPr>
                        <a:t>Result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Type</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0">
                <a:tc>
                  <a:txBody>
                    <a:bodyPr/>
                    <a:lstStyle/>
                    <a:p>
                      <a:pPr indent="0" marL="0">
                        <a:buNone/>
                      </a:pPr>
                      <a:r>
                        <a:rPr lang="en-US" sz="1150" b="1" dirty="0">
                          <a:solidFill>
                            <a:schemeClr val="accent1"/>
                          </a:solidFill>
                        </a:rPr>
                        <a:t>1</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Today: one tour per order</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120 small orders (2.4 lines) and 23 large orders (14.9 lines) a day; picks spread over all 10 reserve aisles, because slotting does not follow demand</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23.77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2</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Today: staffed for the peak</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23.77 × 1.31 (picks in the 08:00 hour ÷ the average picking hour, measured)</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31.1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3</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Design: fast-pick trolley tours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30.7 lines, 123 m: (90 + 123 ÷ 0.8 + 30.7 × 25) × 1.10 = 18.5 min → 99 lines/h; 188 lines ÷ 99</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1.9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4</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Design: reserve trolley tours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16 lines, 471 m → 19.8 min → 49 lines/h; 50 lines ÷ 49</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1.0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Design: large orders on a pallet</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23 orders × 18 min (13.1 lines, 279 m by pallet truck)</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6.9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6</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Design: small-parts shelving</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93 lines ÷ 50 lines/h (benchmark for shelving)</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1.9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7</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Design total</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1.9 + 1.0 + 6.9 + 1.9</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11.7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8</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Hours saved a day</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31.1 − 11.7: 12.1 h from batching + fast-pick area, 7.4 h from no peak staffing</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19.4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bl>
          </a:graphicData>
        </a:graphic>
      </p:graphicFrame>
      <p:sp>
        <p:nvSpPr>
          <p:cNvPr id="9" name="Text 6"/>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dirty="0">
                <a:solidFill>
                  <a:schemeClr val="accent2"/>
                </a:solidFill>
              </a:rPr>
              <a:t>Type: data = measured in Assa Abloy's WMS data · model = our calculation · assumption / benchmark = written down with its source · target = what the design is built to reach. Figures are rounded; the model works with unrounded values.</a:t>
            </a:r>
            <a:endParaRPr lang="en-US" sz="10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HOW WE CALCULATED: SERVICE</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Service: each of the 8,774 real orders is re-timed with the wave plan — 65% would leave within 24 hours (today 37%)</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WMS order and trailer times April–June 2025 (Assa Abloy &amp; DHL Supply Chain, 2025); departure plan (Deliverable 2 §4.5); performance_cost.py, dock_mhe_plan.py</a:t>
            </a:r>
            <a:endParaRPr lang="en-US" sz="900" dirty="0"/>
          </a:p>
        </p:txBody>
      </p:sp>
      <p:sp>
        <p:nvSpPr>
          <p:cNvPr id="5" name="Owner marker"/>
          <p:cNvSpPr/>
          <p:nvPr/>
        </p:nvSpPr>
        <p:spPr>
          <a:xfrm>
            <a:off x="8001000" y="338328"/>
            <a:ext cx="118872" cy="118872"/>
          </a:xfrm>
          <a:prstGeom prst="rect">
            <a:avLst/>
          </a:prstGeom>
          <a:solidFill>
            <a:srgbClr val="7C3AED"/>
          </a:solidFill>
          <a:ln/>
        </p:spPr>
      </p:sp>
      <p:sp>
        <p:nvSpPr>
          <p:cNvPr id="6" name="Presenter"/>
          <p:cNvSpPr txBox="1"/>
          <p:nvPr/>
        </p:nvSpPr>
        <p:spPr>
          <a:xfrm>
            <a:off x="819302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Rachel</a:t>
            </a:r>
            <a:pPr indent="0" marL="0">
              <a:buNone/>
            </a:pPr>
            <a:r>
              <a:rPr lang="en-US" sz="1000" dirty="0">
                <a:solidFill>
                  <a:schemeClr val="accent2"/>
                </a:solidFill>
              </a:rPr>
              <a:t> · answers</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20040"/>
                <a:gridCol w="1965960"/>
                <a:gridCol w="6035040"/>
                <a:gridCol w="1783080"/>
                <a:gridCol w="990295"/>
              </a:tblGrid>
              <a:tr h="0">
                <a:tc>
                  <a:txBody>
                    <a:bodyPr/>
                    <a:lstStyle/>
                    <a:p>
                      <a:pPr algn="l" indent="0" marL="0">
                        <a:buNone/>
                      </a:pPr>
                      <a:r>
                        <a:rPr lang="en-US" sz="1000" b="1" dirty="0">
                          <a:solidFill>
                            <a:schemeClr val="accent2"/>
                          </a:solidFill>
                        </a:rPr>
                        <a: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Step</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How we calculated it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1000" b="1" dirty="0">
                          <a:solidFill>
                            <a:schemeClr val="accent2"/>
                          </a:solidFill>
                        </a:rPr>
                        <a:t>Result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Type</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0">
                <a:tc>
                  <a:txBody>
                    <a:bodyPr/>
                    <a:lstStyle/>
                    <a:p>
                      <a:pPr indent="0" marL="0">
                        <a:buNone/>
                      </a:pPr>
                      <a:r>
                        <a:rPr lang="en-US" sz="1150" b="1" dirty="0">
                          <a:solidFill>
                            <a:schemeClr val="accent1"/>
                          </a:solidFill>
                        </a:rPr>
                        <a:t>1</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Lead time today</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per order: trailer dispatched − order received (WMS time stamps), 8,774 orders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median 25 h · p90 102 h · 37% ≤ 24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tx2"/>
                          </a:solidFill>
                        </a:rPr>
                        <a:t>data</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2</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Wave of each order</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received before 06:00 → wave 1 (ends 09:30); before 09:30 → wave 2 (ends 12:45); before 12:00 → wave 3 (ends 15:15); after 12:00 or at the weekend → wave 1 of the next working day</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chemeClr val="tx2"/>
                          </a:solidFill>
                        </a:rPr>
                        <a:t>design</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3</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Ready to ship</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wave end + 45 min for packing and staging</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chemeClr val="accent2"/>
                          </a:solidFill>
                        </a:rPr>
                        <a:t>assumption</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4</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Departure</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first slot of the order's own carrier after it is ready (14 slots a day, 10:30–16:45)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chemeClr val="tx2"/>
                          </a:solidFill>
                        </a:rPr>
                        <a:t>design</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Lead time in the design</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departure − order received, for the same 8,774 orders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median 22 h · p90 70 h · 65% ≤ 24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6</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On time today</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share of order lines not flagged 'LATE' in the WMS (definition to confirm with DHL, A005)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49.9%</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tx2"/>
                          </a:solidFill>
                        </a:rPr>
                        <a:t>data</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7</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On time in the design</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not calculated: every wave ends at least 45 min before its trailers leave, so the plan is built for this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 98%</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tx1"/>
                          </a:solidFill>
                        </a:rPr>
                        <a:t>target</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accent6"/>
                    </a:solidFill>
                  </a:tcPr>
                </a:tc>
              </a:tr>
              <a:tr h="0">
                <a:tc>
                  <a:txBody>
                    <a:bodyPr/>
                    <a:lstStyle/>
                    <a:p>
                      <a:pPr indent="0" marL="0">
                        <a:buNone/>
                      </a:pPr>
                      <a:r>
                        <a:rPr lang="en-US" sz="1150" b="1" dirty="0">
                          <a:solidFill>
                            <a:schemeClr val="accent1"/>
                          </a:solidFill>
                        </a:rPr>
                        <a:t>8</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Trailers at the doors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today: on each day the most trailers standing at the same time (arrive → dispatch), p90 of the days; design: 25-min slots in the plan</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15 → max 4</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tx2"/>
                          </a:solidFill>
                        </a:rPr>
                        <a:t>data / design</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9</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Orders arriving 15:00–17:00</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orders with an arrival time in the 15:00 or 16:00 hour ÷ all orders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55%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tx2"/>
                          </a:solidFill>
                        </a:rPr>
                        <a:t>data</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bl>
          </a:graphicData>
        </a:graphic>
      </p:graphicFrame>
      <p:sp>
        <p:nvSpPr>
          <p:cNvPr id="8" name="Text 5"/>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dirty="0">
                <a:solidFill>
                  <a:schemeClr val="accent2"/>
                </a:solidFill>
              </a:rPr>
              <a:t>Type: data = measured in Assa Abloy's WMS data · model = our calculation · assumption / benchmark = written down with its source · target = what the design is built to reach. Figures are rounded; the model works with unrounded values.</a:t>
            </a:r>
            <a:endParaRPr lang="en-US" sz="10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HOW WE CALCULATED: MONEY</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Money: 19.4 picker-hours saved a day = €101k a year; the €0.16M process changes pay that back in 1.55 years</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cost register (Deliverable 3 §3, data/assumptions.json A030–A046); prices (IndexBox, n.d.; T-Racking, n.d.) and other benchmarks; labour (Rogier, course teacher, personal communication, October 2026); performance_cost.py</a:t>
            </a:r>
            <a:endParaRPr lang="en-US" sz="900" dirty="0"/>
          </a:p>
        </p:txBody>
      </p:sp>
      <p:sp>
        <p:nvSpPr>
          <p:cNvPr id="5" name="Owner marker"/>
          <p:cNvSpPr/>
          <p:nvPr/>
        </p:nvSpPr>
        <p:spPr>
          <a:xfrm>
            <a:off x="8001000" y="338328"/>
            <a:ext cx="118872" cy="118872"/>
          </a:xfrm>
          <a:prstGeom prst="rect">
            <a:avLst/>
          </a:prstGeom>
          <a:solidFill>
            <a:srgbClr val="7C3AED"/>
          </a:solidFill>
          <a:ln/>
        </p:spPr>
      </p:sp>
      <p:sp>
        <p:nvSpPr>
          <p:cNvPr id="6" name="Presenter"/>
          <p:cNvSpPr txBox="1"/>
          <p:nvPr/>
        </p:nvSpPr>
        <p:spPr>
          <a:xfrm>
            <a:off x="819302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Rachel</a:t>
            </a:r>
            <a:pPr indent="0" marL="0">
              <a:buNone/>
            </a:pPr>
            <a:r>
              <a:rPr lang="en-US" sz="1000" dirty="0">
                <a:solidFill>
                  <a:schemeClr val="accent2"/>
                </a:solidFill>
              </a:rPr>
              <a:t> · answers</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20040"/>
                <a:gridCol w="1965960"/>
                <a:gridCol w="6035040"/>
                <a:gridCol w="1783080"/>
                <a:gridCol w="990295"/>
              </a:tblGrid>
              <a:tr h="0">
                <a:tc>
                  <a:txBody>
                    <a:bodyPr/>
                    <a:lstStyle/>
                    <a:p>
                      <a:pPr algn="l" indent="0" marL="0">
                        <a:buNone/>
                      </a:pPr>
                      <a:r>
                        <a:rPr lang="en-US" sz="1000" b="1" dirty="0">
                          <a:solidFill>
                            <a:schemeClr val="accent2"/>
                          </a:solidFill>
                        </a:rPr>
                        <a: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Step</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How we calculated it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1000" b="1" dirty="0">
                          <a:solidFill>
                            <a:schemeClr val="accent2"/>
                          </a:solidFill>
                        </a:rPr>
                        <a:t>Result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Type</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0">
                <a:tc>
                  <a:txBody>
                    <a:bodyPr/>
                    <a:lstStyle/>
                    <a:p>
                      <a:pPr indent="0" marL="0">
                        <a:buNone/>
                      </a:pPr>
                      <a:r>
                        <a:rPr lang="en-US" sz="1150" b="1" dirty="0">
                          <a:solidFill>
                            <a:schemeClr val="accent1"/>
                          </a:solidFill>
                        </a:rPr>
                        <a:t>1</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Hours saved a day</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12.073 h (batching + fast-pick area) + 7.370 h (no peak staffing)</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19.443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2</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Paid hours a year</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19.443 h ÷ 7.5 productive h × 8 paid h × 244 working days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5,060.4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chemeClr val="accent2"/>
                          </a:solidFill>
                        </a:rPr>
                        <a:t>assumption</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3</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Labour saved a year</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5,060.4 h × €20 per hour</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€101,208</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chemeClr val="accent2"/>
                          </a:solidFill>
                        </a:rPr>
                        <a:t>assumption</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4</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Process investment</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31 carton-flow bays × €1,800 + 36 shelf bays × €200 + 6 trolleys × €433 + 54 totes × €16 + 120 put-to-light slots × €150 + installation €12,000 + WMS set-up €25,000 + 14 scanners × €1,500 = €142,462; + 10% contingency</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€156,708</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chemeClr val="accent2"/>
                          </a:solidFill>
                        </a:rPr>
                        <a:t>benchmark</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Payback, process changes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€156,708 ÷ €101,208 a year</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1.55 years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6</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Full design, re-using racks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(all non-rack items €249,311 + 8,960 places × €25 to re-assemble) × 1.10</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€520,642 · 5.1 yrs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chemeClr val="accent2"/>
                          </a:solidFill>
                        </a:rPr>
                        <a:t>benchmark</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7</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Full design, new racks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8,640 places × €130 + 320 long × €160 + protection €58,240 + non-rack items €249,311, × 1.10</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€1,630,146 · 16.1 yrs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chemeClr val="accent2"/>
                          </a:solidFill>
                        </a:rPr>
                        <a:t>benchmark</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8</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+50% volume</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peak-day equipment hours × 1.5 ÷ (7.5 h × 80% use) → reach trucks 2 → 3, pallet trucks 3 → 4; doors = busiest-hour door need × 1.5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5 of 5 doors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bl>
          </a:graphicData>
        </a:graphic>
      </p:graphicFrame>
      <p:sp>
        <p:nvSpPr>
          <p:cNvPr id="8" name="Text 5"/>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dirty="0">
                <a:solidFill>
                  <a:schemeClr val="accent2"/>
                </a:solidFill>
              </a:rPr>
              <a:t>Type: data = measured in Assa Abloy's WMS data · model = our calculation · assumption / benchmark = written down with its source · target = what the design is built to reach. Figures are rounded; the model works with unrounded values.</a:t>
            </a:r>
            <a:endParaRPr lang="en-US" sz="10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HOW WE CALCULATED: RUNNING COST</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Running cost: €342k a year plus €142k depreciation, over 156,160 order lines = €3.09 per line</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capacity plan (Deliverable 2 §6) and cost register (Deliverable 3 §3); lease and price benchmarks (IndexBox, n.d.; T-Racking, n.d.); labour (Rogier, course teacher, personal communication, October 2026); performance_cost.py</a:t>
            </a:r>
            <a:endParaRPr lang="en-US" sz="900" dirty="0"/>
          </a:p>
        </p:txBody>
      </p:sp>
      <p:sp>
        <p:nvSpPr>
          <p:cNvPr id="5" name="Owner marker"/>
          <p:cNvSpPr/>
          <p:nvPr/>
        </p:nvSpPr>
        <p:spPr>
          <a:xfrm>
            <a:off x="8001000" y="338328"/>
            <a:ext cx="118872" cy="118872"/>
          </a:xfrm>
          <a:prstGeom prst="rect">
            <a:avLst/>
          </a:prstGeom>
          <a:solidFill>
            <a:srgbClr val="7C3AED"/>
          </a:solidFill>
          <a:ln/>
        </p:spPr>
      </p:sp>
      <p:sp>
        <p:nvSpPr>
          <p:cNvPr id="6" name="Presenter"/>
          <p:cNvSpPr txBox="1"/>
          <p:nvPr/>
        </p:nvSpPr>
        <p:spPr>
          <a:xfrm>
            <a:off x="819302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Rachel</a:t>
            </a:r>
            <a:pPr indent="0" marL="0">
              <a:buNone/>
            </a:pPr>
            <a:r>
              <a:rPr lang="en-US" sz="1000" dirty="0">
                <a:solidFill>
                  <a:schemeClr val="accent2"/>
                </a:solidFill>
              </a:rPr>
              <a:t> · answers</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20040"/>
                <a:gridCol w="1965960"/>
                <a:gridCol w="6035040"/>
                <a:gridCol w="1783080"/>
                <a:gridCol w="990295"/>
              </a:tblGrid>
              <a:tr h="0">
                <a:tc>
                  <a:txBody>
                    <a:bodyPr/>
                    <a:lstStyle/>
                    <a:p>
                      <a:pPr algn="l" indent="0" marL="0">
                        <a:buNone/>
                      </a:pPr>
                      <a:r>
                        <a:rPr lang="en-US" sz="1000" b="1" dirty="0">
                          <a:solidFill>
                            <a:schemeClr val="accent2"/>
                          </a:solidFill>
                        </a:rPr>
                        <a: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Step</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How we calculated it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1000" b="1" dirty="0">
                          <a:solidFill>
                            <a:schemeClr val="accent2"/>
                          </a:solidFill>
                        </a:rPr>
                        <a:t>Result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Type</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0">
                <a:tc>
                  <a:txBody>
                    <a:bodyPr/>
                    <a:lstStyle/>
                    <a:p>
                      <a:pPr indent="0" marL="0">
                        <a:buNone/>
                      </a:pPr>
                      <a:r>
                        <a:rPr lang="en-US" sz="1150" b="1" dirty="0">
                          <a:solidFill>
                            <a:schemeClr val="accent1"/>
                          </a:solidFill>
                        </a:rPr>
                        <a:t>1</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Direct labour</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35.2 work-hours a day, receiving to loading (capacity plan) ÷ 7.5 × 8 × 244 days = 9,161.4 paid h × €20</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€183,228</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2</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Container crew</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2 people × 3 h × 1 container a day ÷ 7.5 × 8 × 244 days = 1,561.6 paid h × €20</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€31,232</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chemeClr val="accent2"/>
                          </a:solidFill>
                        </a:rPr>
                        <a:t>assumption</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3</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Team leader + admin</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1.5 FTE × 8 h × 244 days = 2,928 h × €26 (mix of €27 and €24)</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€76,128</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chemeClr val="accent2"/>
                          </a:solidFill>
                        </a:rPr>
                        <a:t>assumption</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4</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Truck lease</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(2 reach × €900 + 3 pallet × €150 + 2 rider × €350) × 12 months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€35,400</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chemeClr val="accent2"/>
                          </a:solidFill>
                        </a:rPr>
                        <a:t>benchmark</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Energy and upkeep</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truck electricity €1,660 + rack inspection €2,500 + IT support €11,400</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€15,560</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chemeClr val="accent2"/>
                          </a:solidFill>
                        </a:rPr>
                        <a:t>assumption</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6</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Running cost (OPEX)</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sum of the rows above</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€341,548</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7</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Depreciation</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each investment ÷ its life: racks 15 years, equipment 7, IT 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€141,591</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8</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Cost per order line</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(€341,548 + €141,591) ÷ (640 lines × 244 days = 156,160)</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€3.09</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9</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Cost per order</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€483,139 ÷ (144 orders × 244 days = 35,136)</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€13.75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bl>
          </a:graphicData>
        </a:graphic>
      </p:graphicFrame>
      <p:sp>
        <p:nvSpPr>
          <p:cNvPr id="8" name="Text 5"/>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dirty="0">
                <a:solidFill>
                  <a:schemeClr val="accent2"/>
                </a:solidFill>
              </a:rPr>
              <a:t>Type: data = measured in Assa Abloy's WMS data · model = our calculation · assumption / benchmark = written down with its source · target = what the design is built to reach. Figures are rounded; the model works with unrounded values.</a:t>
            </a:r>
            <a:endParaRPr lang="en-US" sz="10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HOW WE CALCULATED: RECEIVING</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Receiving: loads per day from the stock snapshots; container and trailer times from a 20-minute dock call plus handling time</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stock snapshots and inbound receipts (Assa Abloy &amp; DHL Supply Chain, 2025); Jungheinrich truck data (Jungheinrich, 2019); capacity_plan.py, dock_mhe_plan.py, design_evaluation.py</a:t>
            </a:r>
            <a:endParaRPr lang="en-US" sz="900" dirty="0"/>
          </a:p>
        </p:txBody>
      </p:sp>
      <p:sp>
        <p:nvSpPr>
          <p:cNvPr id="5" name="Owner marker"/>
          <p:cNvSpPr/>
          <p:nvPr/>
        </p:nvSpPr>
        <p:spPr>
          <a:xfrm>
            <a:off x="8001000" y="338328"/>
            <a:ext cx="118872" cy="118872"/>
          </a:xfrm>
          <a:prstGeom prst="rect">
            <a:avLst/>
          </a:prstGeom>
          <a:solidFill>
            <a:srgbClr val="C2410C"/>
          </a:solidFill>
          <a:ln/>
        </p:spPr>
      </p:sp>
      <p:sp>
        <p:nvSpPr>
          <p:cNvPr id="6" name="Presenter"/>
          <p:cNvSpPr txBox="1"/>
          <p:nvPr/>
        </p:nvSpPr>
        <p:spPr>
          <a:xfrm>
            <a:off x="8193024" y="274320"/>
            <a:ext cx="2286000" cy="256032"/>
          </a:xfrm>
          <a:prstGeom prst="rect">
            <a:avLst/>
          </a:prstGeom>
          <a:noFill/>
          <a:ln/>
        </p:spPr>
        <p:txBody>
          <a:bodyPr wrap="square" lIns="0" tIns="0" rIns="0" bIns="0" rtlCol="0" anchor="ctr"/>
          <a:lstStyle/>
          <a:p>
            <a:pPr indent="0" marL="0">
              <a:buNone/>
            </a:pPr>
            <a:r>
              <a:rPr lang="en-US" sz="1000" b="1" dirty="0">
                <a:solidFill>
                  <a:schemeClr val="tx1"/>
                </a:solidFill>
              </a:rPr>
              <a:t>Vidhi</a:t>
            </a:r>
            <a:pPr indent="0" marL="0">
              <a:buNone/>
            </a:pPr>
            <a:r>
              <a:rPr lang="en-US" sz="1000" dirty="0">
                <a:solidFill>
                  <a:schemeClr val="accent2"/>
                </a:solidFill>
              </a:rPr>
              <a:t> · answers</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20040"/>
                <a:gridCol w="1965960"/>
                <a:gridCol w="6035040"/>
                <a:gridCol w="1783080"/>
                <a:gridCol w="990295"/>
              </a:tblGrid>
              <a:tr h="0">
                <a:tc>
                  <a:txBody>
                    <a:bodyPr/>
                    <a:lstStyle/>
                    <a:p>
                      <a:pPr algn="l" indent="0" marL="0">
                        <a:buNone/>
                      </a:pPr>
                      <a:r>
                        <a:rPr lang="en-US" sz="1000" b="1" dirty="0">
                          <a:solidFill>
                            <a:schemeClr val="accent2"/>
                          </a:solidFill>
                        </a:rPr>
                        <a: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Step</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How we calculated it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1000" b="1" dirty="0">
                          <a:solidFill>
                            <a:schemeClr val="accent2"/>
                          </a:solidFill>
                        </a:rPr>
                        <a:t>Result</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000" b="1" dirty="0">
                          <a:solidFill>
                            <a:schemeClr val="accent2"/>
                          </a:solidFill>
                        </a:rPr>
                        <a:t>Type</a:t>
                      </a:r>
                      <a:endParaRPr lang="en-US" sz="1000" dirty="0"/>
                    </a:p>
                  </a:txBody>
                  <a:tcPr marL="64008" marR="64008" marT="32004" marB="32004"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0">
                <a:tc>
                  <a:txBody>
                    <a:bodyPr/>
                    <a:lstStyle/>
                    <a:p>
                      <a:pPr indent="0" marL="0">
                        <a:buNone/>
                      </a:pPr>
                      <a:r>
                        <a:rPr lang="en-US" sz="1150" b="1" dirty="0">
                          <a:solidFill>
                            <a:schemeClr val="accent1"/>
                          </a:solidFill>
                        </a:rPr>
                        <a:t>1</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Inbound loads a day</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loads booked in during the 14 days before each snapshot ÷ receiving days: 70.9 · 108.2 · 117.6 → average (a lower bound: loads already shipped are not visible)</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98.9 (busiest day 167)</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tx2"/>
                          </a:solidFill>
                        </a:rPr>
                        <a:t>data</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2</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Loose in containers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share of those loads with an Asian country of origin: 21.6% · 54.0% · 47.7% → average</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41%</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tx2"/>
                          </a:solidFill>
                        </a:rPr>
                        <a:t>data</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3</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Container door time</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20 min docking and paperwork + 3 h unpacking by 2 people (A019)</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3.3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dirty="0">
                          <a:solidFill>
                            <a:schemeClr val="accent2"/>
                          </a:solidFill>
                        </a:rPr>
                        <a:t>assumption</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4</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Pallet trailer at the door</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20 min + 58.3 pallets × 0.99 min unloading with the ERE 225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1.3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5</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Dock-to-stock, pallet trailer</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20 min + 58.3 pallets × 1.19 min (putaway 2.38 min ÷ 2 reach trucks — slower than unloading)</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1.5 h (benchmark &lt; 3.5 h)</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6</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Container zone fit</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m² per container = (24 conveyor lane + 3 per item + 1.9 per pallet, max 35 + 16 wrap/label) × 1.3 walkways, for the 568 containers in the data</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91% fit 190 m² · 97% fit 321 m²</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7</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Inbound doors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average day: a pallet trailer (1.3 h) and a container (3.3 h) can arrive at the same time → 2 doors; ~8 smaller trucks a day would need 3</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3 doors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150" b="1" dirty="0">
                          <a:solidFill>
                            <a:schemeClr val="accent1"/>
                          </a:solidFill>
                        </a:rPr>
                        <a:t>8</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chemeClr val="tx2"/>
                          </a:solidFill>
                        </a:rPr>
                        <a:t>Outbound doors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chemeClr val="tx1"/>
                          </a:solidFill>
                        </a:rPr>
                        <a:t>busiest hour (p90): 9 trailers × their average time at the door ÷ (60 min × 85% door use) = 3.1 doors → 4 needed + 1 spare</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150" b="1" dirty="0">
                          <a:solidFill>
                            <a:schemeClr val="tx1"/>
                          </a:solidFill>
                        </a:rPr>
                        <a:t>5 doors</a:t>
                      </a:r>
                      <a:endParaRPr lang="en-US" sz="115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000" b="1" dirty="0">
                          <a:solidFill>
                            <a:schemeClr val="accent1"/>
                          </a:solidFill>
                        </a:rPr>
                        <a:t>model</a:t>
                      </a:r>
                      <a:endParaRPr lang="en-US" sz="1000" dirty="0"/>
                    </a:p>
                  </a:txBody>
                  <a:tcPr marL="64008" marR="64008" marT="32004" marB="32004"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bl>
          </a:graphicData>
        </a:graphic>
      </p:graphicFrame>
      <p:sp>
        <p:nvSpPr>
          <p:cNvPr id="8" name="Text 5"/>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dirty="0">
                <a:solidFill>
                  <a:schemeClr val="accent2"/>
                </a:solidFill>
              </a:rPr>
              <a:t>Type: data = measured in Assa Abloy's WMS data · model = our calculation · assumption / benchmark = written down with its source · target = what the design is built to reach. Figures are rounded; the model works with unrounded values.</a:t>
            </a:r>
            <a:endParaRPr lang="en-US" sz="10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OPERATION PROFILE</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Assa Abloy is a high-variety, medium-volume operation: many small, different orders with sharp peaks</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WMS data April–June 2025 (Assa Abloy &amp; DHL Supply Chain, 2025); four V's and process types (Slack et al., 2022); Deliverable 1 §11</a:t>
            </a:r>
            <a:endParaRPr lang="en-US" sz="900" dirty="0"/>
          </a:p>
        </p:txBody>
      </p:sp>
      <p:sp>
        <p:nvSpPr>
          <p:cNvPr id="5" name="VOLUME tile"/>
          <p:cNvSpPr/>
          <p:nvPr/>
        </p:nvSpPr>
        <p:spPr>
          <a:xfrm>
            <a:off x="548640" y="1783080"/>
            <a:ext cx="2602154" cy="3703320"/>
          </a:xfrm>
          <a:prstGeom prst="rect">
            <a:avLst/>
          </a:prstGeom>
          <a:solidFill>
            <a:schemeClr val="bg2"/>
          </a:solidFill>
          <a:ln/>
        </p:spPr>
      </p:sp>
      <p:sp>
        <p:nvSpPr>
          <p:cNvPr id="6" name="Text 4"/>
          <p:cNvSpPr txBox="1"/>
          <p:nvPr/>
        </p:nvSpPr>
        <p:spPr>
          <a:xfrm>
            <a:off x="749808" y="1965960"/>
            <a:ext cx="2199818"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VOLUME</a:t>
            </a:r>
            <a:endParaRPr lang="en-US" sz="1100" dirty="0"/>
          </a:p>
        </p:txBody>
      </p:sp>
      <p:sp>
        <p:nvSpPr>
          <p:cNvPr id="7" name="Text 5"/>
          <p:cNvSpPr txBox="1"/>
          <p:nvPr/>
        </p:nvSpPr>
        <p:spPr>
          <a:xfrm>
            <a:off x="749808" y="1965960"/>
            <a:ext cx="2199818" cy="237744"/>
          </a:xfrm>
          <a:prstGeom prst="rect">
            <a:avLst/>
          </a:prstGeom>
          <a:noFill/>
          <a:ln/>
        </p:spPr>
        <p:txBody>
          <a:bodyPr wrap="square" lIns="0" tIns="0" rIns="0" bIns="0" rtlCol="0" anchor="t"/>
          <a:lstStyle/>
          <a:p>
            <a:pPr algn="r" indent="0" marL="0">
              <a:buNone/>
            </a:pPr>
            <a:r>
              <a:rPr lang="en-US" sz="900" b="1" spc="100" kern="0" dirty="0">
                <a:solidFill>
                  <a:schemeClr val="accent2"/>
                </a:solidFill>
              </a:rPr>
              <a:t>MEDIUM</a:t>
            </a:r>
            <a:endParaRPr lang="en-US" sz="900" dirty="0"/>
          </a:p>
        </p:txBody>
      </p:sp>
      <p:sp>
        <p:nvSpPr>
          <p:cNvPr id="8" name="Text 6"/>
          <p:cNvSpPr txBox="1"/>
          <p:nvPr/>
        </p:nvSpPr>
        <p:spPr>
          <a:xfrm>
            <a:off x="749808" y="2286000"/>
            <a:ext cx="2199818" cy="658368"/>
          </a:xfrm>
          <a:prstGeom prst="rect">
            <a:avLst/>
          </a:prstGeom>
          <a:noFill/>
          <a:ln/>
        </p:spPr>
        <p:txBody>
          <a:bodyPr wrap="square" lIns="0" tIns="0" rIns="0" bIns="0" rtlCol="0" anchor="t"/>
          <a:lstStyle/>
          <a:p>
            <a:pPr indent="0" marL="0">
              <a:buNone/>
            </a:pPr>
            <a:r>
              <a:rPr lang="en-US" sz="3800" b="1" dirty="0">
                <a:solidFill>
                  <a:schemeClr val="tx2"/>
                </a:solidFill>
              </a:rPr>
              <a:t>640</a:t>
            </a:r>
            <a:endParaRPr lang="en-US" sz="3800" dirty="0"/>
          </a:p>
        </p:txBody>
      </p:sp>
      <p:sp>
        <p:nvSpPr>
          <p:cNvPr id="9" name="Text 7"/>
          <p:cNvSpPr txBox="1"/>
          <p:nvPr/>
        </p:nvSpPr>
        <p:spPr>
          <a:xfrm>
            <a:off x="749808" y="2971800"/>
            <a:ext cx="2199818" cy="457200"/>
          </a:xfrm>
          <a:prstGeom prst="rect">
            <a:avLst/>
          </a:prstGeom>
          <a:noFill/>
          <a:ln/>
        </p:spPr>
        <p:txBody>
          <a:bodyPr wrap="square" lIns="0" tIns="0" rIns="0" bIns="0" rtlCol="0" anchor="t"/>
          <a:lstStyle/>
          <a:p>
            <a:pPr indent="0" marL="0">
              <a:buNone/>
            </a:pPr>
            <a:r>
              <a:rPr lang="en-US" sz="1200" dirty="0">
                <a:solidFill>
                  <a:schemeClr val="tx1"/>
                </a:solidFill>
              </a:rPr>
              <a:t>order lines a day (~144 orders)</a:t>
            </a:r>
            <a:endParaRPr lang="en-US" sz="1200" dirty="0"/>
          </a:p>
        </p:txBody>
      </p:sp>
      <p:sp>
        <p:nvSpPr>
          <p:cNvPr id="10" name="Shape 8"/>
          <p:cNvSpPr/>
          <p:nvPr/>
        </p:nvSpPr>
        <p:spPr>
          <a:xfrm>
            <a:off x="749808" y="3520440"/>
            <a:ext cx="2199818" cy="0"/>
          </a:xfrm>
          <a:prstGeom prst="line">
            <a:avLst/>
          </a:prstGeom>
          <a:noFill/>
          <a:ln w="9525">
            <a:solidFill>
              <a:schemeClr val="accent3"/>
            </a:solidFill>
            <a:prstDash val="solid"/>
          </a:ln>
        </p:spPr>
      </p:sp>
      <p:sp>
        <p:nvSpPr>
          <p:cNvPr id="11" name="Text 9"/>
          <p:cNvSpPr txBox="1"/>
          <p:nvPr/>
        </p:nvSpPr>
        <p:spPr>
          <a:xfrm>
            <a:off x="749808" y="3630168"/>
            <a:ext cx="2199818" cy="777240"/>
          </a:xfrm>
          <a:prstGeom prst="rect">
            <a:avLst/>
          </a:prstGeom>
          <a:noFill/>
          <a:ln/>
        </p:spPr>
        <p:txBody>
          <a:bodyPr wrap="square" lIns="0" tIns="0" rIns="0" bIns="0" rtlCol="0" anchor="t"/>
          <a:lstStyle/>
          <a:p>
            <a:pPr indent="0" marL="0">
              <a:buNone/>
            </a:pPr>
            <a:r>
              <a:rPr lang="en-US" sz="1200" dirty="0">
                <a:solidFill>
                  <a:schemeClr val="accent2"/>
                </a:solidFill>
              </a:rPr>
              <a:t>99 inbound loads and ~15 outbound trailers a day</a:t>
            </a:r>
            <a:endParaRPr lang="en-US" sz="1200" dirty="0"/>
          </a:p>
        </p:txBody>
      </p:sp>
      <p:sp>
        <p:nvSpPr>
          <p:cNvPr id="12" name="Text 10"/>
          <p:cNvSpPr txBox="1"/>
          <p:nvPr/>
        </p:nvSpPr>
        <p:spPr>
          <a:xfrm>
            <a:off x="749808" y="4480560"/>
            <a:ext cx="2199818" cy="868680"/>
          </a:xfrm>
          <a:prstGeom prst="rect">
            <a:avLst/>
          </a:prstGeom>
          <a:noFill/>
          <a:ln/>
        </p:spPr>
        <p:txBody>
          <a:bodyPr wrap="square" lIns="0" tIns="0" rIns="0" bIns="0" rtlCol="0" anchor="t"/>
          <a:lstStyle/>
          <a:p>
            <a:pPr indent="0" marL="0">
              <a:buNone/>
            </a:pPr>
            <a:r>
              <a:rPr lang="en-US" sz="1200" b="1" dirty="0">
                <a:solidFill>
                  <a:schemeClr val="tx2"/>
                </a:solidFill>
              </a:rPr>
              <a:t>For the design: </a:t>
            </a:r>
            <a:pPr indent="0" marL="0">
              <a:buNone/>
            </a:pPr>
            <a:r>
              <a:rPr lang="en-US" sz="1200" dirty="0">
                <a:solidFill>
                  <a:schemeClr val="tx1"/>
                </a:solidFill>
              </a:rPr>
              <a:t>standard methods, scanning and batching pay off</a:t>
            </a:r>
            <a:endParaRPr lang="en-US" sz="1200" dirty="0"/>
          </a:p>
        </p:txBody>
      </p:sp>
      <p:sp>
        <p:nvSpPr>
          <p:cNvPr id="13" name="VARIETY tile"/>
          <p:cNvSpPr/>
          <p:nvPr/>
        </p:nvSpPr>
        <p:spPr>
          <a:xfrm>
            <a:off x="3379394" y="1783080"/>
            <a:ext cx="2602154" cy="3703320"/>
          </a:xfrm>
          <a:prstGeom prst="rect">
            <a:avLst/>
          </a:prstGeom>
          <a:solidFill>
            <a:schemeClr val="bg2"/>
          </a:solidFill>
          <a:ln/>
        </p:spPr>
      </p:sp>
      <p:sp>
        <p:nvSpPr>
          <p:cNvPr id="14" name="Text 12"/>
          <p:cNvSpPr txBox="1"/>
          <p:nvPr/>
        </p:nvSpPr>
        <p:spPr>
          <a:xfrm>
            <a:off x="3580562" y="1965960"/>
            <a:ext cx="2199818"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VARIETY</a:t>
            </a:r>
            <a:endParaRPr lang="en-US" sz="1100" dirty="0"/>
          </a:p>
        </p:txBody>
      </p:sp>
      <p:sp>
        <p:nvSpPr>
          <p:cNvPr id="15" name="Text 13"/>
          <p:cNvSpPr txBox="1"/>
          <p:nvPr/>
        </p:nvSpPr>
        <p:spPr>
          <a:xfrm>
            <a:off x="3580562" y="1965960"/>
            <a:ext cx="2199818" cy="237744"/>
          </a:xfrm>
          <a:prstGeom prst="rect">
            <a:avLst/>
          </a:prstGeom>
          <a:noFill/>
          <a:ln/>
        </p:spPr>
        <p:txBody>
          <a:bodyPr wrap="square" lIns="0" tIns="0" rIns="0" bIns="0" rtlCol="0" anchor="t"/>
          <a:lstStyle/>
          <a:p>
            <a:pPr algn="r" indent="0" marL="0">
              <a:buNone/>
            </a:pPr>
            <a:r>
              <a:rPr lang="en-US" sz="900" b="1" spc="100" kern="0" dirty="0">
                <a:solidFill>
                  <a:schemeClr val="accent2"/>
                </a:solidFill>
              </a:rPr>
              <a:t>HIGH</a:t>
            </a:r>
            <a:endParaRPr lang="en-US" sz="900" dirty="0"/>
          </a:p>
        </p:txBody>
      </p:sp>
      <p:sp>
        <p:nvSpPr>
          <p:cNvPr id="16" name="Text 14"/>
          <p:cNvSpPr txBox="1"/>
          <p:nvPr/>
        </p:nvSpPr>
        <p:spPr>
          <a:xfrm>
            <a:off x="3580562" y="2286000"/>
            <a:ext cx="2199818" cy="658368"/>
          </a:xfrm>
          <a:prstGeom prst="rect">
            <a:avLst/>
          </a:prstGeom>
          <a:noFill/>
          <a:ln/>
        </p:spPr>
        <p:txBody>
          <a:bodyPr wrap="square" lIns="0" tIns="0" rIns="0" bIns="0" rtlCol="0" anchor="t"/>
          <a:lstStyle/>
          <a:p>
            <a:pPr indent="0" marL="0">
              <a:buNone/>
            </a:pPr>
            <a:r>
              <a:rPr lang="en-US" sz="3800" b="1" dirty="0">
                <a:solidFill>
                  <a:schemeClr val="tx2"/>
                </a:solidFill>
              </a:rPr>
              <a:t>4,354</a:t>
            </a:r>
            <a:endParaRPr lang="en-US" sz="3800" dirty="0"/>
          </a:p>
        </p:txBody>
      </p:sp>
      <p:sp>
        <p:nvSpPr>
          <p:cNvPr id="17" name="Text 15"/>
          <p:cNvSpPr txBox="1"/>
          <p:nvPr/>
        </p:nvSpPr>
        <p:spPr>
          <a:xfrm>
            <a:off x="3580562" y="2971800"/>
            <a:ext cx="2199818" cy="457200"/>
          </a:xfrm>
          <a:prstGeom prst="rect">
            <a:avLst/>
          </a:prstGeom>
          <a:noFill/>
          <a:ln/>
        </p:spPr>
        <p:txBody>
          <a:bodyPr wrap="square" lIns="0" tIns="0" rIns="0" bIns="0" rtlCol="0" anchor="t"/>
          <a:lstStyle/>
          <a:p>
            <a:pPr indent="0" marL="0">
              <a:buNone/>
            </a:pPr>
            <a:r>
              <a:rPr lang="en-US" sz="1200" dirty="0">
                <a:solidFill>
                  <a:schemeClr val="tx1"/>
                </a:solidFill>
              </a:rPr>
              <a:t>different items shipped in three months</a:t>
            </a:r>
            <a:endParaRPr lang="en-US" sz="1200" dirty="0"/>
          </a:p>
        </p:txBody>
      </p:sp>
      <p:sp>
        <p:nvSpPr>
          <p:cNvPr id="18" name="Shape 16"/>
          <p:cNvSpPr/>
          <p:nvPr/>
        </p:nvSpPr>
        <p:spPr>
          <a:xfrm>
            <a:off x="3580562" y="3520440"/>
            <a:ext cx="2199818" cy="0"/>
          </a:xfrm>
          <a:prstGeom prst="line">
            <a:avLst/>
          </a:prstGeom>
          <a:noFill/>
          <a:ln w="9525">
            <a:solidFill>
              <a:schemeClr val="accent3"/>
            </a:solidFill>
            <a:prstDash val="solid"/>
          </a:ln>
        </p:spPr>
      </p:sp>
      <p:sp>
        <p:nvSpPr>
          <p:cNvPr id="19" name="Text 17"/>
          <p:cNvSpPr txBox="1"/>
          <p:nvPr/>
        </p:nvSpPr>
        <p:spPr>
          <a:xfrm>
            <a:off x="3580562" y="3630168"/>
            <a:ext cx="2199818" cy="777240"/>
          </a:xfrm>
          <a:prstGeom prst="rect">
            <a:avLst/>
          </a:prstGeom>
          <a:noFill/>
          <a:ln/>
        </p:spPr>
        <p:txBody>
          <a:bodyPr wrap="square" lIns="0" tIns="0" rIns="0" bIns="0" rtlCol="0" anchor="t"/>
          <a:lstStyle/>
          <a:p>
            <a:pPr indent="0" marL="0">
              <a:buNone/>
            </a:pPr>
            <a:r>
              <a:rPr lang="en-US" sz="1200" dirty="0">
                <a:solidFill>
                  <a:schemeClr val="accent2"/>
                </a:solidFill>
              </a:rPr>
              <a:t>5,291 items in stock; each, case and pallet picks; 138 hazardous items</a:t>
            </a:r>
            <a:endParaRPr lang="en-US" sz="1200" dirty="0"/>
          </a:p>
        </p:txBody>
      </p:sp>
      <p:sp>
        <p:nvSpPr>
          <p:cNvPr id="20" name="Text 18"/>
          <p:cNvSpPr txBox="1"/>
          <p:nvPr/>
        </p:nvSpPr>
        <p:spPr>
          <a:xfrm>
            <a:off x="3580562" y="4480560"/>
            <a:ext cx="2199818" cy="868680"/>
          </a:xfrm>
          <a:prstGeom prst="rect">
            <a:avLst/>
          </a:prstGeom>
          <a:noFill/>
          <a:ln/>
        </p:spPr>
        <p:txBody>
          <a:bodyPr wrap="square" lIns="0" tIns="0" rIns="0" bIns="0" rtlCol="0" anchor="t"/>
          <a:lstStyle/>
          <a:p>
            <a:pPr indent="0" marL="0">
              <a:buNone/>
            </a:pPr>
            <a:r>
              <a:rPr lang="en-US" sz="1200" b="1" dirty="0">
                <a:solidFill>
                  <a:schemeClr val="tx2"/>
                </a:solidFill>
              </a:rPr>
              <a:t>For the design: </a:t>
            </a:r>
            <a:pPr indent="0" marL="0">
              <a:buNone/>
            </a:pPr>
            <a:r>
              <a:rPr lang="en-US" sz="1200" dirty="0">
                <a:solidFill>
                  <a:schemeClr val="tx1"/>
                </a:solidFill>
              </a:rPr>
              <a:t>several storage types; pick by order size</a:t>
            </a:r>
            <a:endParaRPr lang="en-US" sz="1200" dirty="0"/>
          </a:p>
        </p:txBody>
      </p:sp>
      <p:sp>
        <p:nvSpPr>
          <p:cNvPr id="21" name="VARIATION tile"/>
          <p:cNvSpPr/>
          <p:nvPr/>
        </p:nvSpPr>
        <p:spPr>
          <a:xfrm>
            <a:off x="6210148" y="1783080"/>
            <a:ext cx="2602154" cy="3703320"/>
          </a:xfrm>
          <a:prstGeom prst="rect">
            <a:avLst/>
          </a:prstGeom>
          <a:solidFill>
            <a:schemeClr val="bg2"/>
          </a:solidFill>
          <a:ln/>
        </p:spPr>
      </p:sp>
      <p:sp>
        <p:nvSpPr>
          <p:cNvPr id="22" name="Text 20"/>
          <p:cNvSpPr txBox="1"/>
          <p:nvPr/>
        </p:nvSpPr>
        <p:spPr>
          <a:xfrm>
            <a:off x="6411316" y="1965960"/>
            <a:ext cx="2199818"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VARIATION</a:t>
            </a:r>
            <a:endParaRPr lang="en-US" sz="1100" dirty="0"/>
          </a:p>
        </p:txBody>
      </p:sp>
      <p:sp>
        <p:nvSpPr>
          <p:cNvPr id="23" name="Text 21"/>
          <p:cNvSpPr txBox="1"/>
          <p:nvPr/>
        </p:nvSpPr>
        <p:spPr>
          <a:xfrm>
            <a:off x="6411316" y="1965960"/>
            <a:ext cx="2199818" cy="237744"/>
          </a:xfrm>
          <a:prstGeom prst="rect">
            <a:avLst/>
          </a:prstGeom>
          <a:noFill/>
          <a:ln/>
        </p:spPr>
        <p:txBody>
          <a:bodyPr wrap="square" lIns="0" tIns="0" rIns="0" bIns="0" rtlCol="0" anchor="t"/>
          <a:lstStyle/>
          <a:p>
            <a:pPr algn="r" indent="0" marL="0">
              <a:buNone/>
            </a:pPr>
            <a:r>
              <a:rPr lang="en-US" sz="900" b="1" spc="100" kern="0" dirty="0">
                <a:solidFill>
                  <a:schemeClr val="accent2"/>
                </a:solidFill>
              </a:rPr>
              <a:t>HIGH</a:t>
            </a:r>
            <a:endParaRPr lang="en-US" sz="900" dirty="0"/>
          </a:p>
        </p:txBody>
      </p:sp>
      <p:sp>
        <p:nvSpPr>
          <p:cNvPr id="24" name="Text 22"/>
          <p:cNvSpPr txBox="1"/>
          <p:nvPr/>
        </p:nvSpPr>
        <p:spPr>
          <a:xfrm>
            <a:off x="6411316" y="2286000"/>
            <a:ext cx="2199818" cy="658368"/>
          </a:xfrm>
          <a:prstGeom prst="rect">
            <a:avLst/>
          </a:prstGeom>
          <a:noFill/>
          <a:ln/>
        </p:spPr>
        <p:txBody>
          <a:bodyPr wrap="square" lIns="0" tIns="0" rIns="0" bIns="0" rtlCol="0" anchor="t"/>
          <a:lstStyle/>
          <a:p>
            <a:pPr indent="0" marL="0">
              <a:buNone/>
            </a:pPr>
            <a:r>
              <a:rPr lang="en-US" sz="3800" b="1" dirty="0">
                <a:solidFill>
                  <a:schemeClr val="tx2"/>
                </a:solidFill>
              </a:rPr>
              <a:t>1.8×</a:t>
            </a:r>
            <a:endParaRPr lang="en-US" sz="3800" dirty="0"/>
          </a:p>
        </p:txBody>
      </p:sp>
      <p:sp>
        <p:nvSpPr>
          <p:cNvPr id="25" name="Text 23"/>
          <p:cNvSpPr txBox="1"/>
          <p:nvPr/>
        </p:nvSpPr>
        <p:spPr>
          <a:xfrm>
            <a:off x="6411316" y="2971800"/>
            <a:ext cx="2199818" cy="457200"/>
          </a:xfrm>
          <a:prstGeom prst="rect">
            <a:avLst/>
          </a:prstGeom>
          <a:noFill/>
          <a:ln/>
        </p:spPr>
        <p:txBody>
          <a:bodyPr wrap="square" lIns="0" tIns="0" rIns="0" bIns="0" rtlCol="0" anchor="t"/>
          <a:lstStyle/>
          <a:p>
            <a:pPr indent="0" marL="0">
              <a:buNone/>
            </a:pPr>
            <a:r>
              <a:rPr lang="en-US" sz="1200" dirty="0">
                <a:solidFill>
                  <a:schemeClr val="tx1"/>
                </a:solidFill>
              </a:rPr>
              <a:t>busiest day vs an average day (order lines)</a:t>
            </a:r>
            <a:endParaRPr lang="en-US" sz="1200" dirty="0"/>
          </a:p>
        </p:txBody>
      </p:sp>
      <p:sp>
        <p:nvSpPr>
          <p:cNvPr id="26" name="Shape 24"/>
          <p:cNvSpPr/>
          <p:nvPr/>
        </p:nvSpPr>
        <p:spPr>
          <a:xfrm>
            <a:off x="6411316" y="3520440"/>
            <a:ext cx="2199818" cy="0"/>
          </a:xfrm>
          <a:prstGeom prst="line">
            <a:avLst/>
          </a:prstGeom>
          <a:noFill/>
          <a:ln w="9525">
            <a:solidFill>
              <a:schemeClr val="accent3"/>
            </a:solidFill>
            <a:prstDash val="solid"/>
          </a:ln>
        </p:spPr>
      </p:sp>
      <p:sp>
        <p:nvSpPr>
          <p:cNvPr id="27" name="Text 25"/>
          <p:cNvSpPr txBox="1"/>
          <p:nvPr/>
        </p:nvSpPr>
        <p:spPr>
          <a:xfrm>
            <a:off x="6411316" y="3630168"/>
            <a:ext cx="2199818" cy="777240"/>
          </a:xfrm>
          <a:prstGeom prst="rect">
            <a:avLst/>
          </a:prstGeom>
          <a:noFill/>
          <a:ln/>
        </p:spPr>
        <p:txBody>
          <a:bodyPr wrap="square" lIns="0" tIns="0" rIns="0" bIns="0" rtlCol="0" anchor="t"/>
          <a:lstStyle/>
          <a:p>
            <a:pPr indent="0" marL="0">
              <a:buNone/>
            </a:pPr>
            <a:r>
              <a:rPr lang="en-US" sz="1200" dirty="0">
                <a:solidFill>
                  <a:schemeClr val="accent2"/>
                </a:solidFill>
              </a:rPr>
              <a:t>08:00 pick peak 1.31× the average hour; stock +16% per quarter</a:t>
            </a:r>
            <a:endParaRPr lang="en-US" sz="1200" dirty="0"/>
          </a:p>
        </p:txBody>
      </p:sp>
      <p:sp>
        <p:nvSpPr>
          <p:cNvPr id="28" name="Text 26"/>
          <p:cNvSpPr txBox="1"/>
          <p:nvPr/>
        </p:nvSpPr>
        <p:spPr>
          <a:xfrm>
            <a:off x="6411316" y="4480560"/>
            <a:ext cx="2199818" cy="868680"/>
          </a:xfrm>
          <a:prstGeom prst="rect">
            <a:avLst/>
          </a:prstGeom>
          <a:noFill/>
          <a:ln/>
        </p:spPr>
        <p:txBody>
          <a:bodyPr wrap="square" lIns="0" tIns="0" rIns="0" bIns="0" rtlCol="0" anchor="t"/>
          <a:lstStyle/>
          <a:p>
            <a:pPr indent="0" marL="0">
              <a:buNone/>
            </a:pPr>
            <a:r>
              <a:rPr lang="en-US" sz="1200" b="1" dirty="0">
                <a:solidFill>
                  <a:schemeClr val="tx2"/>
                </a:solidFill>
              </a:rPr>
              <a:t>For the design: </a:t>
            </a:r>
            <a:pPr indent="0" marL="0">
              <a:buNone/>
            </a:pPr>
            <a:r>
              <a:rPr lang="en-US" sz="1200" dirty="0">
                <a:solidFill>
                  <a:schemeClr val="tx1"/>
                </a:solidFill>
              </a:rPr>
              <a:t>level the self-made peak with waves; keep storage headroom</a:t>
            </a:r>
            <a:endParaRPr lang="en-US" sz="1200" dirty="0"/>
          </a:p>
        </p:txBody>
      </p:sp>
      <p:sp>
        <p:nvSpPr>
          <p:cNvPr id="29" name="VISIBILITY tile"/>
          <p:cNvSpPr/>
          <p:nvPr/>
        </p:nvSpPr>
        <p:spPr>
          <a:xfrm>
            <a:off x="9040901" y="1783080"/>
            <a:ext cx="2602154" cy="3703320"/>
          </a:xfrm>
          <a:prstGeom prst="rect">
            <a:avLst/>
          </a:prstGeom>
          <a:solidFill>
            <a:schemeClr val="bg2"/>
          </a:solidFill>
          <a:ln/>
        </p:spPr>
      </p:sp>
      <p:sp>
        <p:nvSpPr>
          <p:cNvPr id="30" name="Text 28"/>
          <p:cNvSpPr txBox="1"/>
          <p:nvPr/>
        </p:nvSpPr>
        <p:spPr>
          <a:xfrm>
            <a:off x="9242069" y="1965960"/>
            <a:ext cx="2199818"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VISIBILITY</a:t>
            </a:r>
            <a:endParaRPr lang="en-US" sz="1100" dirty="0"/>
          </a:p>
        </p:txBody>
      </p:sp>
      <p:sp>
        <p:nvSpPr>
          <p:cNvPr id="31" name="Text 29"/>
          <p:cNvSpPr txBox="1"/>
          <p:nvPr/>
        </p:nvSpPr>
        <p:spPr>
          <a:xfrm>
            <a:off x="9242069" y="1965960"/>
            <a:ext cx="2199818" cy="237744"/>
          </a:xfrm>
          <a:prstGeom prst="rect">
            <a:avLst/>
          </a:prstGeom>
          <a:noFill/>
          <a:ln/>
        </p:spPr>
        <p:txBody>
          <a:bodyPr wrap="square" lIns="0" tIns="0" rIns="0" bIns="0" rtlCol="0" anchor="t"/>
          <a:lstStyle/>
          <a:p>
            <a:pPr algn="r" indent="0" marL="0">
              <a:buNone/>
            </a:pPr>
            <a:r>
              <a:rPr lang="en-US" sz="900" b="1" spc="100" kern="0" dirty="0">
                <a:solidFill>
                  <a:schemeClr val="accent2"/>
                </a:solidFill>
              </a:rPr>
              <a:t>LOW</a:t>
            </a:r>
            <a:endParaRPr lang="en-US" sz="900" dirty="0"/>
          </a:p>
        </p:txBody>
      </p:sp>
      <p:sp>
        <p:nvSpPr>
          <p:cNvPr id="32" name="Text 30"/>
          <p:cNvSpPr txBox="1"/>
          <p:nvPr/>
        </p:nvSpPr>
        <p:spPr>
          <a:xfrm>
            <a:off x="9242069" y="2286000"/>
            <a:ext cx="2199818" cy="658368"/>
          </a:xfrm>
          <a:prstGeom prst="rect">
            <a:avLst/>
          </a:prstGeom>
          <a:noFill/>
          <a:ln/>
        </p:spPr>
        <p:txBody>
          <a:bodyPr wrap="square" lIns="0" tIns="0" rIns="0" bIns="0" rtlCol="0" anchor="t"/>
          <a:lstStyle/>
          <a:p>
            <a:pPr indent="0" marL="0">
              <a:buNone/>
            </a:pPr>
            <a:r>
              <a:rPr lang="en-US" sz="3800" b="1" dirty="0">
                <a:solidFill>
                  <a:schemeClr val="tx2"/>
                </a:solidFill>
              </a:rPr>
              <a:t>Low</a:t>
            </a:r>
            <a:endParaRPr lang="en-US" sz="3800" dirty="0"/>
          </a:p>
        </p:txBody>
      </p:sp>
      <p:sp>
        <p:nvSpPr>
          <p:cNvPr id="33" name="Text 31"/>
          <p:cNvSpPr txBox="1"/>
          <p:nvPr/>
        </p:nvSpPr>
        <p:spPr>
          <a:xfrm>
            <a:off x="9242069" y="2971800"/>
            <a:ext cx="2199818" cy="457200"/>
          </a:xfrm>
          <a:prstGeom prst="rect">
            <a:avLst/>
          </a:prstGeom>
          <a:noFill/>
          <a:ln/>
        </p:spPr>
        <p:txBody>
          <a:bodyPr wrap="square" lIns="0" tIns="0" rIns="0" bIns="0" rtlCol="0" anchor="t"/>
          <a:lstStyle/>
          <a:p>
            <a:pPr indent="0" marL="0">
              <a:buNone/>
            </a:pPr>
            <a:r>
              <a:rPr lang="en-US" sz="1200" dirty="0">
                <a:solidFill>
                  <a:schemeClr val="tx1"/>
                </a:solidFill>
              </a:rPr>
              <a:t>customers see only the result</a:t>
            </a:r>
            <a:endParaRPr lang="en-US" sz="1200" dirty="0"/>
          </a:p>
        </p:txBody>
      </p:sp>
      <p:sp>
        <p:nvSpPr>
          <p:cNvPr id="34" name="Shape 32"/>
          <p:cNvSpPr/>
          <p:nvPr/>
        </p:nvSpPr>
        <p:spPr>
          <a:xfrm>
            <a:off x="9242069" y="3520440"/>
            <a:ext cx="2199818" cy="0"/>
          </a:xfrm>
          <a:prstGeom prst="line">
            <a:avLst/>
          </a:prstGeom>
          <a:noFill/>
          <a:ln w="9525">
            <a:solidFill>
              <a:schemeClr val="accent3"/>
            </a:solidFill>
            <a:prstDash val="solid"/>
          </a:ln>
        </p:spPr>
      </p:sp>
      <p:sp>
        <p:nvSpPr>
          <p:cNvPr id="35" name="Text 33"/>
          <p:cNvSpPr txBox="1"/>
          <p:nvPr/>
        </p:nvSpPr>
        <p:spPr>
          <a:xfrm>
            <a:off x="9242069" y="3630168"/>
            <a:ext cx="2199818" cy="777240"/>
          </a:xfrm>
          <a:prstGeom prst="rect">
            <a:avLst/>
          </a:prstGeom>
          <a:noFill/>
          <a:ln/>
        </p:spPr>
        <p:txBody>
          <a:bodyPr wrap="square" lIns="0" tIns="0" rIns="0" bIns="0" rtlCol="0" anchor="t"/>
          <a:lstStyle/>
          <a:p>
            <a:pPr indent="0" marL="0">
              <a:buNone/>
            </a:pPr>
            <a:r>
              <a:rPr lang="en-US" sz="1200" dirty="0">
                <a:solidFill>
                  <a:schemeClr val="accent2"/>
                </a:solidFill>
              </a:rPr>
              <a:t>business customers and web shops (5% of lines) want complete, on-time orders</a:t>
            </a:r>
            <a:endParaRPr lang="en-US" sz="1200" dirty="0"/>
          </a:p>
        </p:txBody>
      </p:sp>
      <p:sp>
        <p:nvSpPr>
          <p:cNvPr id="36" name="Text 34"/>
          <p:cNvSpPr txBox="1"/>
          <p:nvPr/>
        </p:nvSpPr>
        <p:spPr>
          <a:xfrm>
            <a:off x="9242069" y="4480560"/>
            <a:ext cx="2199818" cy="868680"/>
          </a:xfrm>
          <a:prstGeom prst="rect">
            <a:avLst/>
          </a:prstGeom>
          <a:noFill/>
          <a:ln/>
        </p:spPr>
        <p:txBody>
          <a:bodyPr wrap="square" lIns="0" tIns="0" rIns="0" bIns="0" rtlCol="0" anchor="t"/>
          <a:lstStyle/>
          <a:p>
            <a:pPr indent="0" marL="0">
              <a:buNone/>
            </a:pPr>
            <a:r>
              <a:rPr lang="en-US" sz="1200" b="1" dirty="0">
                <a:solidFill>
                  <a:schemeClr val="tx2"/>
                </a:solidFill>
              </a:rPr>
              <a:t>For the design: </a:t>
            </a:r>
            <a:pPr indent="0" marL="0">
              <a:buNone/>
            </a:pPr>
            <a:r>
              <a:rPr lang="en-US" sz="1200" dirty="0">
                <a:solidFill>
                  <a:schemeClr val="tx1"/>
                </a:solidFill>
              </a:rPr>
              <a:t>efficiency is designed in the back office, but the dispatch promise must be kept</a:t>
            </a:r>
            <a:endParaRPr lang="en-US" sz="1200" dirty="0"/>
          </a:p>
        </p:txBody>
      </p:sp>
      <p:sp>
        <p:nvSpPr>
          <p:cNvPr id="37" name="Text 35"/>
          <p:cNvSpPr txBox="1"/>
          <p:nvPr/>
        </p:nvSpPr>
        <p:spPr>
          <a:xfrm>
            <a:off x="548640" y="5623560"/>
            <a:ext cx="11094415" cy="548640"/>
          </a:xfrm>
          <a:prstGeom prst="rect">
            <a:avLst/>
          </a:prstGeom>
          <a:solidFill>
            <a:schemeClr val="accent6"/>
          </a:solidFill>
          <a:ln/>
        </p:spPr>
        <p:txBody>
          <a:bodyPr wrap="square" lIns="152400" tIns="50800" rIns="152400" bIns="50800" rtlCol="0" anchor="ctr"/>
          <a:lstStyle/>
          <a:p>
            <a:pPr indent="0" marL="0">
              <a:buNone/>
            </a:pPr>
            <a:r>
              <a:rPr lang="en-US" sz="1300" b="1" dirty="0">
                <a:solidFill>
                  <a:schemeClr val="tx1"/>
                </a:solidFill>
              </a:rPr>
              <a:t>So what: </a:t>
            </a:r>
            <a:pPr indent="0" marL="0">
              <a:buNone/>
            </a:pPr>
            <a:r>
              <a:rPr lang="en-US" sz="1300" dirty="0">
                <a:solidFill>
                  <a:schemeClr val="tx1"/>
                </a:solidFill>
              </a:rPr>
              <a:t>high variety at medium volume sits between a batch and a mass process — people supported by scanners, carton flow and a put-to-light wall fit better than full automation.</a:t>
            </a:r>
            <a:endParaRPr lang="en-US" sz="13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OPTION CHOICE</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We chose Option B, 'hybrid density': it scores highest (3.75 of 5) and stays ahead when cost counts most</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team decision matrix (Deliverable 1 §14–15); storage and picking systems (HAN University of Applied Sciences, 2026a); batch picking (de Koster et al., 2007)</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949440" cy="914400"/>
        </p:xfrm>
        <a:graphic>
          <a:graphicData uri="http://schemas.openxmlformats.org/drawingml/2006/table">
            <a:tbl>
              <a:tblPr/>
              <a:tblGrid>
                <a:gridCol w="2788920"/>
                <a:gridCol w="868680"/>
                <a:gridCol w="1097280"/>
                <a:gridCol w="1097280"/>
                <a:gridCol w="1097280"/>
              </a:tblGrid>
              <a:tr h="566928">
                <a:tc>
                  <a:txBody>
                    <a:bodyPr/>
                    <a:lstStyle/>
                    <a:p>
                      <a:pPr indent="0" marL="0">
                        <a:buNone/>
                      </a:pPr>
                      <a:r>
                        <a:rPr lang="en-US" sz="1300" b="1" dirty="0">
                          <a:solidFill>
                            <a:schemeClr val="tx1"/>
                          </a:solidFill>
                        </a:rPr>
                        <a:t>Criterion</a:t>
                      </a:r>
                      <a:endParaRPr lang="en-US" sz="1300" dirty="0"/>
                    </a:p>
                  </a:txBody>
                  <a:tcPr marL="73152" marR="73152" marT="27432" marB="27432"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ctr" indent="0" marL="0">
                        <a:buNone/>
                      </a:pPr>
                      <a:r>
                        <a:rPr lang="en-US" sz="1300" b="1" dirty="0">
                          <a:solidFill>
                            <a:schemeClr val="tx1"/>
                          </a:solidFill>
                        </a:rPr>
                        <a:t>Weight</a:t>
                      </a:r>
                      <a:endParaRPr lang="en-US" sz="1300" dirty="0"/>
                    </a:p>
                  </a:txBody>
                  <a:tcPr marL="73152" marR="73152" marT="27432" marB="27432"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ctr" indent="0" marL="0">
                        <a:buNone/>
                      </a:pPr>
                      <a:r>
                        <a:rPr lang="en-US" sz="1300" b="1" dirty="0">
                          <a:solidFill>
                            <a:schemeClr val="tx1"/>
                          </a:solidFill>
                        </a:rPr>
                        <a:t>A</a:t>
                      </a:r>
                      <a:endParaRPr lang="en-US" sz="1300" dirty="0"/>
                    </a:p>
                    <a:p>
                      <a:pPr algn="ctr" indent="0" marL="0">
                        <a:buNone/>
                      </a:pPr>
                      <a:r>
                        <a:rPr lang="en-US" sz="1000" dirty="0">
                          <a:solidFill>
                            <a:schemeClr val="accent2"/>
                          </a:solidFill>
                        </a:rPr>
                        <a:t>Conventional+</a:t>
                      </a:r>
                      <a:endParaRPr lang="en-US" sz="1300" dirty="0"/>
                    </a:p>
                  </a:txBody>
                  <a:tcPr marL="73152" marR="73152" marT="27432" marB="27432"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B</a:t>
                      </a:r>
                      <a:endParaRPr lang="en-US" sz="1300" dirty="0"/>
                    </a:p>
                    <a:p>
                      <a:pPr algn="ctr" indent="0" marL="0">
                        <a:buNone/>
                      </a:pPr>
                      <a:r>
                        <a:rPr lang="en-US" sz="1000" dirty="0">
                          <a:solidFill>
                            <a:schemeClr val="accent2"/>
                          </a:solidFill>
                        </a:rPr>
                        <a:t>Hybrid density</a:t>
                      </a:r>
                      <a:endParaRPr lang="en-US" sz="1300" dirty="0"/>
                    </a:p>
                  </a:txBody>
                  <a:tcPr marL="73152" marR="73152" marT="27432" marB="27432"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chemeClr val="accent5"/>
                    </a:solidFill>
                  </a:tcPr>
                </a:tc>
                <a:tc>
                  <a:txBody>
                    <a:bodyPr/>
                    <a:lstStyle/>
                    <a:p>
                      <a:pPr algn="ctr" indent="0" marL="0">
                        <a:buNone/>
                      </a:pPr>
                      <a:r>
                        <a:rPr lang="en-US" sz="1300" b="1" dirty="0">
                          <a:solidFill>
                            <a:schemeClr val="tx1"/>
                          </a:solidFill>
                        </a:rPr>
                        <a:t>C</a:t>
                      </a:r>
                      <a:endParaRPr lang="en-US" sz="1300" dirty="0"/>
                    </a:p>
                    <a:p>
                      <a:pPr algn="ctr" indent="0" marL="0">
                        <a:buNone/>
                      </a:pPr>
                      <a:r>
                        <a:rPr lang="en-US" sz="1000" dirty="0">
                          <a:solidFill>
                            <a:schemeClr val="accent2"/>
                          </a:solidFill>
                        </a:rPr>
                        <a:t>Semi-automated</a:t>
                      </a:r>
                      <a:endParaRPr lang="en-US" sz="1300" dirty="0"/>
                    </a:p>
                  </a:txBody>
                  <a:tcPr marL="73152" marR="73152" marT="27432" marB="27432"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Space fit (7,000 m²)</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accent2"/>
                          </a:solidFill>
                        </a:rPr>
                        <a:t>20%</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tx1"/>
                          </a:solidFill>
                        </a:rPr>
                        <a:t>2</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tx1"/>
                          </a:solidFill>
                        </a:rPr>
                        <a:t>4</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accent5"/>
                    </a:solidFill>
                  </a:tcPr>
                </a:tc>
                <a:tc>
                  <a:txBody>
                    <a:bodyPr/>
                    <a:lstStyle/>
                    <a:p>
                      <a:pPr algn="ctr" indent="0" marL="0">
                        <a:buNone/>
                      </a:pPr>
                      <a:r>
                        <a:rPr lang="en-US" sz="1300" dirty="0">
                          <a:solidFill>
                            <a:schemeClr val="tx1"/>
                          </a:solidFill>
                        </a:rPr>
                        <a:t>5</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300" dirty="0">
                          <a:solidFill>
                            <a:schemeClr val="tx1"/>
                          </a:solidFill>
                        </a:rPr>
                        <a:t>Labour efficiency</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accent2"/>
                          </a:solidFill>
                        </a:rPr>
                        <a:t>20%</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tx1"/>
                          </a:solidFill>
                        </a:rPr>
                        <a:t>2</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tx1"/>
                          </a:solidFill>
                        </a:rPr>
                        <a:t>4</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accent5"/>
                    </a:solidFill>
                  </a:tcPr>
                </a:tc>
                <a:tc>
                  <a:txBody>
                    <a:bodyPr/>
                    <a:lstStyle/>
                    <a:p>
                      <a:pPr algn="ctr" indent="0" marL="0">
                        <a:buNone/>
                      </a:pPr>
                      <a:r>
                        <a:rPr lang="en-US" sz="1300" dirty="0">
                          <a:solidFill>
                            <a:schemeClr val="tx1"/>
                          </a:solidFill>
                        </a:rPr>
                        <a:t>5</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300" dirty="0">
                          <a:solidFill>
                            <a:schemeClr val="tx1"/>
                          </a:solidFill>
                        </a:rPr>
                        <a:t>CAPEX (lower is better)</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accent2"/>
                          </a:solidFill>
                        </a:rPr>
                        <a:t>15%</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tx1"/>
                          </a:solidFill>
                        </a:rPr>
                        <a:t>5</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tx1"/>
                          </a:solidFill>
                        </a:rPr>
                        <a:t>3</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accent5"/>
                    </a:solidFill>
                  </a:tcPr>
                </a:tc>
                <a:tc>
                  <a:txBody>
                    <a:bodyPr/>
                    <a:lstStyle/>
                    <a:p>
                      <a:pPr algn="ctr" indent="0" marL="0">
                        <a:buNone/>
                      </a:pPr>
                      <a:r>
                        <a:rPr lang="en-US" sz="1300" dirty="0">
                          <a:solidFill>
                            <a:schemeClr val="tx1"/>
                          </a:solidFill>
                        </a:rPr>
                        <a:t>1</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300" dirty="0">
                          <a:solidFill>
                            <a:schemeClr val="tx1"/>
                          </a:solidFill>
                        </a:rPr>
                        <a:t>Travel / throughput</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accent2"/>
                          </a:solidFill>
                        </a:rPr>
                        <a:t>15%</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tx1"/>
                          </a:solidFill>
                        </a:rPr>
                        <a:t>2</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tx1"/>
                          </a:solidFill>
                        </a:rPr>
                        <a:t>4</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accent5"/>
                    </a:solidFill>
                  </a:tcPr>
                </a:tc>
                <a:tc>
                  <a:txBody>
                    <a:bodyPr/>
                    <a:lstStyle/>
                    <a:p>
                      <a:pPr algn="ctr" indent="0" marL="0">
                        <a:buNone/>
                      </a:pPr>
                      <a:r>
                        <a:rPr lang="en-US" sz="1300" dirty="0">
                          <a:solidFill>
                            <a:schemeClr val="tx1"/>
                          </a:solidFill>
                        </a:rPr>
                        <a:t>5</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300" dirty="0">
                          <a:solidFill>
                            <a:schemeClr val="tx1"/>
                          </a:solidFill>
                        </a:rPr>
                        <a:t>Flexibility</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accent2"/>
                          </a:solidFill>
                        </a:rPr>
                        <a:t>10%</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tx1"/>
                          </a:solidFill>
                        </a:rPr>
                        <a:t>5</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tx1"/>
                          </a:solidFill>
                        </a:rPr>
                        <a:t>4</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accent5"/>
                    </a:solidFill>
                  </a:tcPr>
                </a:tc>
                <a:tc>
                  <a:txBody>
                    <a:bodyPr/>
                    <a:lstStyle/>
                    <a:p>
                      <a:pPr algn="ctr" indent="0" marL="0">
                        <a:buNone/>
                      </a:pPr>
                      <a:r>
                        <a:rPr lang="en-US" sz="1300" dirty="0">
                          <a:solidFill>
                            <a:schemeClr val="tx1"/>
                          </a:solidFill>
                        </a:rPr>
                        <a:t>2</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300" dirty="0">
                          <a:solidFill>
                            <a:schemeClr val="tx1"/>
                          </a:solidFill>
                        </a:rPr>
                        <a:t>Simplicity / low risk</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accent2"/>
                          </a:solidFill>
                        </a:rPr>
                        <a:t>10%</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tx1"/>
                          </a:solidFill>
                        </a:rPr>
                        <a:t>5</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tx1"/>
                          </a:solidFill>
                        </a:rPr>
                        <a:t>3</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accent5"/>
                    </a:solidFill>
                  </a:tcPr>
                </a:tc>
                <a:tc>
                  <a:txBody>
                    <a:bodyPr/>
                    <a:lstStyle/>
                    <a:p>
                      <a:pPr algn="ctr" indent="0" marL="0">
                        <a:buNone/>
                      </a:pPr>
                      <a:r>
                        <a:rPr lang="en-US" sz="1300" dirty="0">
                          <a:solidFill>
                            <a:schemeClr val="tx1"/>
                          </a:solidFill>
                        </a:rPr>
                        <a:t>2</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300" dirty="0">
                          <a:solidFill>
                            <a:schemeClr val="tx1"/>
                          </a:solidFill>
                        </a:rPr>
                        <a:t>Peak resilience</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accent2"/>
                          </a:solidFill>
                        </a:rPr>
                        <a:t>10%</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tx1"/>
                          </a:solidFill>
                        </a:rPr>
                        <a:t>2</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tx1"/>
                          </a:solidFill>
                        </a:rPr>
                        <a:t>4</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accent5"/>
                    </a:solidFill>
                  </a:tcPr>
                </a:tc>
                <a:tc>
                  <a:txBody>
                    <a:bodyPr/>
                    <a:lstStyle/>
                    <a:p>
                      <a:pPr algn="ctr" indent="0" marL="0">
                        <a:buNone/>
                      </a:pPr>
                      <a:r>
                        <a:rPr lang="en-US" sz="1300" dirty="0">
                          <a:solidFill>
                            <a:schemeClr val="tx1"/>
                          </a:solidFill>
                        </a:rPr>
                        <a:t>4</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420624">
                <a:tc>
                  <a:txBody>
                    <a:bodyPr/>
                    <a:lstStyle/>
                    <a:p>
                      <a:pPr indent="0" marL="0">
                        <a:buNone/>
                      </a:pPr>
                      <a:r>
                        <a:rPr lang="en-US" sz="1300" b="1" dirty="0">
                          <a:solidFill>
                            <a:schemeClr val="tx1"/>
                          </a:solidFill>
                        </a:rPr>
                        <a:t>Weighted score (max 5)</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chemeClr val="accent2"/>
                          </a:solidFill>
                        </a:rPr>
                        <a:t>100%</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b="1" dirty="0">
                          <a:solidFill>
                            <a:schemeClr val="tx1"/>
                          </a:solidFill>
                        </a:rPr>
                        <a:t>3.05</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300" b="1" dirty="0">
                          <a:solidFill>
                            <a:schemeClr val="accent1"/>
                          </a:solidFill>
                        </a:rPr>
                        <a:t>3.75</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accent5"/>
                    </a:solidFill>
                  </a:tcPr>
                </a:tc>
                <a:tc>
                  <a:txBody>
                    <a:bodyPr/>
                    <a:lstStyle/>
                    <a:p>
                      <a:pPr algn="ctr" indent="0" marL="0">
                        <a:buNone/>
                      </a:pPr>
                      <a:r>
                        <a:rPr lang="en-US" sz="1300" b="1" dirty="0">
                          <a:solidFill>
                            <a:schemeClr val="tx1"/>
                          </a:solidFill>
                        </a:rPr>
                        <a:t>3.70</a:t>
                      </a:r>
                      <a:endParaRPr lang="en-US" sz="1300" dirty="0"/>
                    </a:p>
                  </a:txBody>
                  <a:tcPr marL="73152" marR="73152"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bl>
          </a:graphicData>
        </a:graphic>
      </p:graphicFrame>
      <p:sp>
        <p:nvSpPr>
          <p:cNvPr id="6" name="Text 3"/>
          <p:cNvSpPr txBox="1"/>
          <p:nvPr/>
        </p:nvSpPr>
        <p:spPr>
          <a:xfrm>
            <a:off x="548640" y="5669280"/>
            <a:ext cx="6949440" cy="457200"/>
          </a:xfrm>
          <a:prstGeom prst="rect">
            <a:avLst/>
          </a:prstGeom>
          <a:noFill/>
          <a:ln/>
        </p:spPr>
        <p:txBody>
          <a:bodyPr wrap="square" lIns="0" tIns="0" rIns="0" bIns="0" rtlCol="0" anchor="t"/>
          <a:lstStyle/>
          <a:p>
            <a:pPr indent="0" marL="0">
              <a:buNone/>
            </a:pPr>
            <a:r>
              <a:rPr lang="en-US" sz="1100" dirty="0">
                <a:solidFill>
                  <a:schemeClr val="accent2"/>
                </a:solidFill>
              </a:rPr>
              <a:t>Scores 1 (poor) to 5 (best), agreed in the team. Weighted score = sum of weight × score; for B: 0.20×4 + 0.20×4 + 0.15×3 + 0.15×4 + 0.10×4 + 0.10×3 + 0.10×4 = 3.75.</a:t>
            </a:r>
            <a:endParaRPr lang="en-US" sz="1100" dirty="0"/>
          </a:p>
        </p:txBody>
      </p:sp>
      <p:sp>
        <p:nvSpPr>
          <p:cNvPr id="7" name="Text 4"/>
          <p:cNvSpPr txBox="1"/>
          <p:nvPr/>
        </p:nvSpPr>
        <p:spPr>
          <a:xfrm>
            <a:off x="7863840" y="1737360"/>
            <a:ext cx="3779215" cy="274320"/>
          </a:xfrm>
          <a:prstGeom prst="rect">
            <a:avLst/>
          </a:prstGeom>
          <a:noFill/>
          <a:ln/>
        </p:spPr>
        <p:txBody>
          <a:bodyPr wrap="square" lIns="0" tIns="0" rIns="0" bIns="0" rtlCol="0" anchor="t"/>
          <a:lstStyle/>
          <a:p>
            <a:pPr indent="0" marL="0">
              <a:buNone/>
            </a:pPr>
            <a:r>
              <a:rPr lang="en-US" sz="1300" b="1" dirty="0">
                <a:solidFill>
                  <a:schemeClr val="tx2"/>
                </a:solidFill>
              </a:rPr>
              <a:t>Why B</a:t>
            </a:r>
            <a:endParaRPr lang="en-US" sz="1300" dirty="0"/>
          </a:p>
        </p:txBody>
      </p:sp>
      <p:sp>
        <p:nvSpPr>
          <p:cNvPr id="8" name="Text 5"/>
          <p:cNvSpPr txBox="1"/>
          <p:nvPr/>
        </p:nvSpPr>
        <p:spPr>
          <a:xfrm>
            <a:off x="7863840" y="2084832"/>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1</a:t>
            </a:r>
            <a:endParaRPr lang="en-US" sz="1800" dirty="0"/>
          </a:p>
        </p:txBody>
      </p:sp>
      <p:sp>
        <p:nvSpPr>
          <p:cNvPr id="9" name="Text 6"/>
          <p:cNvSpPr txBox="1"/>
          <p:nvPr/>
        </p:nvSpPr>
        <p:spPr>
          <a:xfrm>
            <a:off x="8247888" y="2121408"/>
            <a:ext cx="3395167" cy="548640"/>
          </a:xfrm>
          <a:prstGeom prst="rect">
            <a:avLst/>
          </a:prstGeom>
          <a:noFill/>
          <a:ln/>
        </p:spPr>
        <p:txBody>
          <a:bodyPr wrap="square" lIns="0" tIns="0" rIns="0" bIns="0" rtlCol="0" anchor="t"/>
          <a:lstStyle/>
          <a:p>
            <a:pPr indent="0" marL="0">
              <a:buNone/>
            </a:pPr>
            <a:r>
              <a:rPr lang="en-US" sz="1300" b="1" dirty="0">
                <a:solidFill>
                  <a:schemeClr val="tx2"/>
                </a:solidFill>
              </a:rPr>
              <a:t>Fits the site </a:t>
            </a:r>
            <a:pPr indent="0" marL="0">
              <a:buNone/>
            </a:pPr>
            <a:r>
              <a:rPr lang="en-US" sz="1300" dirty="0">
                <a:solidFill>
                  <a:schemeClr val="tx1"/>
                </a:solidFill>
              </a:rPr>
              <a:t>with all working areas: 6,731 m² of 7,000 m².</a:t>
            </a:r>
            <a:endParaRPr lang="en-US" sz="1300" dirty="0"/>
          </a:p>
        </p:txBody>
      </p:sp>
      <p:sp>
        <p:nvSpPr>
          <p:cNvPr id="10" name="Text 7"/>
          <p:cNvSpPr txBox="1"/>
          <p:nvPr/>
        </p:nvSpPr>
        <p:spPr>
          <a:xfrm>
            <a:off x="7863840" y="2688336"/>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2</a:t>
            </a:r>
            <a:endParaRPr lang="en-US" sz="1800" dirty="0"/>
          </a:p>
        </p:txBody>
      </p:sp>
      <p:sp>
        <p:nvSpPr>
          <p:cNvPr id="11" name="Text 8"/>
          <p:cNvSpPr txBox="1"/>
          <p:nvPr/>
        </p:nvSpPr>
        <p:spPr>
          <a:xfrm>
            <a:off x="8247888" y="2724912"/>
            <a:ext cx="3395167" cy="548640"/>
          </a:xfrm>
          <a:prstGeom prst="rect">
            <a:avLst/>
          </a:prstGeom>
          <a:noFill/>
          <a:ln/>
        </p:spPr>
        <p:txBody>
          <a:bodyPr wrap="square" lIns="0" tIns="0" rIns="0" bIns="0" rtlCol="0" anchor="t"/>
          <a:lstStyle/>
          <a:p>
            <a:pPr indent="0" marL="0">
              <a:buNone/>
            </a:pPr>
            <a:r>
              <a:rPr lang="en-US" sz="1300" b="1" dirty="0">
                <a:solidFill>
                  <a:schemeClr val="tx2"/>
                </a:solidFill>
              </a:rPr>
              <a:t>Cuts labour </a:t>
            </a:r>
            <a:pPr indent="0" marL="0">
              <a:buNone/>
            </a:pPr>
            <a:r>
              <a:rPr lang="en-US" sz="1300" dirty="0">
                <a:solidFill>
                  <a:schemeClr val="tx1"/>
                </a:solidFill>
              </a:rPr>
              <a:t>through slotting and batch picking, without betting on automation.</a:t>
            </a:r>
            <a:endParaRPr lang="en-US" sz="1300" dirty="0"/>
          </a:p>
        </p:txBody>
      </p:sp>
      <p:sp>
        <p:nvSpPr>
          <p:cNvPr id="12" name="Text 9"/>
          <p:cNvSpPr txBox="1"/>
          <p:nvPr/>
        </p:nvSpPr>
        <p:spPr>
          <a:xfrm>
            <a:off x="7863840" y="3291840"/>
            <a:ext cx="320040" cy="365760"/>
          </a:xfrm>
          <a:prstGeom prst="rect">
            <a:avLst/>
          </a:prstGeom>
          <a:noFill/>
          <a:ln/>
        </p:spPr>
        <p:txBody>
          <a:bodyPr wrap="square" lIns="0" tIns="0" rIns="0" bIns="0" rtlCol="0" anchor="t"/>
          <a:lstStyle/>
          <a:p>
            <a:pPr indent="0" marL="0">
              <a:buNone/>
            </a:pPr>
            <a:r>
              <a:rPr lang="en-US" sz="1800" b="1" dirty="0">
                <a:solidFill>
                  <a:schemeClr val="accent1"/>
                </a:solidFill>
              </a:rPr>
              <a:t>3</a:t>
            </a:r>
            <a:endParaRPr lang="en-US" sz="1800" dirty="0"/>
          </a:p>
        </p:txBody>
      </p:sp>
      <p:sp>
        <p:nvSpPr>
          <p:cNvPr id="13" name="Text 10"/>
          <p:cNvSpPr txBox="1"/>
          <p:nvPr/>
        </p:nvSpPr>
        <p:spPr>
          <a:xfrm>
            <a:off x="8247888" y="3328416"/>
            <a:ext cx="3395167" cy="548640"/>
          </a:xfrm>
          <a:prstGeom prst="rect">
            <a:avLst/>
          </a:prstGeom>
          <a:noFill/>
          <a:ln/>
        </p:spPr>
        <p:txBody>
          <a:bodyPr wrap="square" lIns="0" tIns="0" rIns="0" bIns="0" rtlCol="0" anchor="t"/>
          <a:lstStyle/>
          <a:p>
            <a:pPr indent="0" marL="0">
              <a:buNone/>
            </a:pPr>
            <a:r>
              <a:rPr lang="en-US" sz="1300" b="1" dirty="0">
                <a:solidFill>
                  <a:schemeClr val="tx2"/>
                </a:solidFill>
              </a:rPr>
              <a:t>Proven kit </a:t>
            </a:r>
            <a:pPr indent="0" marL="0">
              <a:buNone/>
            </a:pPr>
            <a:r>
              <a:rPr lang="en-US" sz="1300" dirty="0">
                <a:solidFill>
                  <a:schemeClr val="tx1"/>
                </a:solidFill>
              </a:rPr>
              <a:t>at moderate cost: reach trucks, carton flow, a put-to-light wall.</a:t>
            </a:r>
            <a:endParaRPr lang="en-US" sz="1300" dirty="0"/>
          </a:p>
        </p:txBody>
      </p:sp>
      <p:sp>
        <p:nvSpPr>
          <p:cNvPr id="14" name="Text 11"/>
          <p:cNvSpPr txBox="1"/>
          <p:nvPr/>
        </p:nvSpPr>
        <p:spPr>
          <a:xfrm>
            <a:off x="7863840" y="4069080"/>
            <a:ext cx="3779215" cy="274320"/>
          </a:xfrm>
          <a:prstGeom prst="rect">
            <a:avLst/>
          </a:prstGeom>
          <a:noFill/>
          <a:ln/>
        </p:spPr>
        <p:txBody>
          <a:bodyPr wrap="square" lIns="0" tIns="0" rIns="0" bIns="0" rtlCol="0" anchor="t"/>
          <a:lstStyle/>
          <a:p>
            <a:pPr indent="0" marL="0">
              <a:buNone/>
            </a:pPr>
            <a:r>
              <a:rPr lang="en-US" sz="1200" b="1" dirty="0">
                <a:solidFill>
                  <a:schemeClr val="tx2"/>
                </a:solidFill>
              </a:rPr>
              <a:t>Robustness: scores with other weights</a:t>
            </a:r>
            <a:endParaRPr lang="en-US" sz="1200" dirty="0"/>
          </a:p>
        </p:txBody>
      </p:sp>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7863840" y="4389120"/>
          <a:ext cx="3779215" cy="914400"/>
        </p:xfrm>
        <a:graphic>
          <a:graphicData uri="http://schemas.openxmlformats.org/drawingml/2006/table">
            <a:tbl>
              <a:tblPr/>
              <a:tblGrid>
                <a:gridCol w="1584655"/>
                <a:gridCol w="731520"/>
                <a:gridCol w="731520"/>
                <a:gridCol w="731520"/>
              </a:tblGrid>
              <a:tr h="329184">
                <a:tc>
                  <a:txBody>
                    <a:bodyPr/>
                    <a:lstStyle/>
                    <a:p>
                      <a:pPr indent="0" marL="0">
                        <a:buNone/>
                      </a:pPr>
                      <a:r>
                        <a:rPr lang="en-US" sz="1200" b="1" dirty="0">
                          <a:solidFill>
                            <a:schemeClr val="accent2"/>
                          </a:solidFill>
                        </a:rPr>
                        <a:t>Weights</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chemeClr val="accent2"/>
                          </a:solidFill>
                        </a:rPr>
                        <a:t>A</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2"/>
                          </a:solidFill>
                        </a:rPr>
                        <a:t>B</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accent5"/>
                    </a:solidFill>
                  </a:tcPr>
                </a:tc>
                <a:tc>
                  <a:txBody>
                    <a:bodyPr/>
                    <a:lstStyle/>
                    <a:p>
                      <a:pPr algn="ctr" indent="0" marL="0">
                        <a:buNone/>
                      </a:pPr>
                      <a:r>
                        <a:rPr lang="en-US" sz="1200" b="1" dirty="0">
                          <a:solidFill>
                            <a:schemeClr val="accent2"/>
                          </a:solidFill>
                        </a:rPr>
                        <a:t>C</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Base case</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3.05</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3.75</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accent5"/>
                    </a:solidFill>
                  </a:tcPr>
                </a:tc>
                <a:tc>
                  <a:txBody>
                    <a:bodyPr/>
                    <a:lstStyle/>
                    <a:p>
                      <a:pPr algn="ctr" indent="0" marL="0">
                        <a:buNone/>
                      </a:pPr>
                      <a:r>
                        <a:rPr lang="en-US" sz="1200" dirty="0">
                          <a:solidFill>
                            <a:schemeClr val="tx1"/>
                          </a:solidFill>
                        </a:rPr>
                        <a:t>3.70</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Cost-driven</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3.35</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3.65</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accent5"/>
                    </a:solidFill>
                  </a:tcPr>
                </a:tc>
                <a:tc>
                  <a:txBody>
                    <a:bodyPr/>
                    <a:lstStyle/>
                    <a:p>
                      <a:pPr algn="ctr" indent="0" marL="0">
                        <a:buNone/>
                      </a:pPr>
                      <a:r>
                        <a:rPr lang="en-US" sz="1200" dirty="0">
                          <a:solidFill>
                            <a:schemeClr val="tx1"/>
                          </a:solidFill>
                        </a:rPr>
                        <a:t>3.35</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rPr>
                        <a:t>Space-driven</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3.55</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4.75</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accent5"/>
                    </a:solidFill>
                  </a:tcPr>
                </a:tc>
                <a:tc>
                  <a:txBody>
                    <a:bodyPr/>
                    <a:lstStyle/>
                    <a:p>
                      <a:pPr algn="ctr" indent="0" marL="0">
                        <a:buNone/>
                      </a:pPr>
                      <a:r>
                        <a:rPr lang="en-US" sz="1200" dirty="0">
                          <a:solidFill>
                            <a:schemeClr val="tx1"/>
                          </a:solidFill>
                        </a:rPr>
                        <a:t>4.85</a:t>
                      </a:r>
                      <a:endParaRPr lang="en-US" sz="1200" dirty="0"/>
                    </a:p>
                  </a:txBody>
                  <a:tcPr marL="73152" marR="73152" marT="18288" marB="18288"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chemeClr val="bg1"/>
                    </a:solidFill>
                  </a:tcPr>
                </a:tc>
              </a:tr>
            </a:tbl>
          </a:graphicData>
        </a:graphic>
      </p:graphicFrame>
      <p:sp>
        <p:nvSpPr>
          <p:cNvPr id="16" name="Text 12"/>
          <p:cNvSpPr txBox="1"/>
          <p:nvPr/>
        </p:nvSpPr>
        <p:spPr>
          <a:xfrm>
            <a:off x="7863840" y="5788152"/>
            <a:ext cx="3779215" cy="411480"/>
          </a:xfrm>
          <a:prstGeom prst="rect">
            <a:avLst/>
          </a:prstGeom>
          <a:noFill/>
          <a:ln/>
        </p:spPr>
        <p:txBody>
          <a:bodyPr wrap="square" lIns="0" tIns="0" rIns="0" bIns="0" rtlCol="0" anchor="t"/>
          <a:lstStyle/>
          <a:p>
            <a:pPr indent="0" marL="0">
              <a:buNone/>
            </a:pPr>
            <a:r>
              <a:rPr lang="en-US" sz="1100" dirty="0">
                <a:solidFill>
                  <a:schemeClr val="accent2"/>
                </a:solidFill>
              </a:rPr>
              <a:t>Only when space is all that counts does C edge ahead (4.85 vs 4.75).</a:t>
            </a:r>
            <a:endParaRPr lang="en-US" sz="11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KPI SCORECARD</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Nine KPIs, each with an owner, track the five performance objectives — all but storage headroom meet their target</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KPI overview (Deliverable 3 §2); today = WMS data April–June 2025 (Assa Abloy &amp; DHL Supply Chain, 2025); benchmarks (Extensiv, n.d.); design values modelled</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508760"/>
                <a:gridCol w="3520440"/>
                <a:gridCol w="1874520"/>
                <a:gridCol w="1371600"/>
                <a:gridCol w="1143000"/>
                <a:gridCol w="804672"/>
                <a:gridCol w="868680"/>
              </a:tblGrid>
              <a:tr h="329184">
                <a:tc>
                  <a:txBody>
                    <a:bodyPr/>
                    <a:lstStyle/>
                    <a:p>
                      <a:pPr algn="l" indent="0" marL="0">
                        <a:buNone/>
                      </a:pPr>
                      <a:r>
                        <a:rPr lang="en-US" sz="1100" b="1" dirty="0">
                          <a:solidFill>
                            <a:schemeClr val="accent2"/>
                          </a:solidFill>
                        </a:rPr>
                        <a:t>Objective</a:t>
                      </a:r>
                      <a:endParaRPr lang="en-US" sz="1100" dirty="0"/>
                    </a:p>
                  </a:txBody>
                  <a:tcPr marL="73152" marR="73152" marT="18288" marB="18288"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chemeClr val="accent2"/>
                          </a:solidFill>
                        </a:rPr>
                        <a:t>KPI</a:t>
                      </a:r>
                      <a:endParaRPr lang="en-US" sz="1100" dirty="0"/>
                    </a:p>
                  </a:txBody>
                  <a:tcPr marL="73152" marR="73152" marT="18288" marB="18288"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chemeClr val="accent2"/>
                          </a:solidFill>
                        </a:rPr>
                        <a:t>Today</a:t>
                      </a:r>
                      <a:endParaRPr lang="en-US" sz="1100" dirty="0"/>
                    </a:p>
                  </a:txBody>
                  <a:tcPr marL="73152" marR="73152" marT="18288" marB="18288"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chemeClr val="accent2"/>
                          </a:solidFill>
                        </a:rPr>
                        <a:t>Our design</a:t>
                      </a:r>
                      <a:endParaRPr lang="en-US" sz="1100" dirty="0"/>
                    </a:p>
                  </a:txBody>
                  <a:tcPr marL="73152" marR="73152" marT="18288" marB="18288"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chemeClr val="accent2"/>
                          </a:solidFill>
                        </a:rPr>
                        <a:t>Target</a:t>
                      </a:r>
                      <a:endParaRPr lang="en-US" sz="1100" dirty="0"/>
                    </a:p>
                  </a:txBody>
                  <a:tcPr marL="73152" marR="73152" marT="18288" marB="18288"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chemeClr val="accent2"/>
                          </a:solidFill>
                        </a:rPr>
                        <a:t>Owner</a:t>
                      </a:r>
                      <a:endParaRPr lang="en-US" sz="1100" dirty="0"/>
                    </a:p>
                  </a:txBody>
                  <a:tcPr marL="73152" marR="73152" marT="18288" marB="18288"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chemeClr val="accent2"/>
                          </a:solidFill>
                        </a:rPr>
                        <a:t>Status</a:t>
                      </a:r>
                      <a:endParaRPr lang="en-US" sz="1100" dirty="0"/>
                    </a:p>
                  </a:txBody>
                  <a:tcPr marL="73152" marR="73152" marT="18288" marB="18288"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402336">
                <a:tc>
                  <a:txBody>
                    <a:bodyPr/>
                    <a:lstStyle/>
                    <a:p>
                      <a:pPr indent="0" marL="0">
                        <a:buNone/>
                      </a:pPr>
                      <a:r>
                        <a:rPr lang="en-US" sz="1200" b="1" dirty="0">
                          <a:solidFill>
                            <a:schemeClr val="tx2"/>
                          </a:solidFill>
                        </a:rPr>
                        <a:t>Dependability</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On-time shipment (lines staged before departure)</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49.9%</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tx1"/>
                          </a:solidFill>
                        </a:rPr>
                        <a:t>≥ 98% (target)</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 98%</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Rachel</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2"/>
                          </a:solidFill>
                        </a:rPr>
                        <a:t>● </a:t>
                      </a:r>
                      <a:pPr indent="0" marL="0">
                        <a:buNone/>
                      </a:pPr>
                      <a:r>
                        <a:rPr lang="en-US" sz="1200" dirty="0">
                          <a:solidFill>
                            <a:schemeClr val="tx1"/>
                          </a:solidFill>
                        </a:rPr>
                        <a:t>meets</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402336">
                <a:tc>
                  <a:txBody>
                    <a:bodyPr/>
                    <a:lstStyle/>
                    <a:p>
                      <a:pPr indent="0" marL="0">
                        <a:buNone/>
                      </a:pP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Trailers at the doors at once (busy day)</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15, parked</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tx1"/>
                          </a:solidFill>
                        </a:rPr>
                        <a:t>max 4</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 5</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Rachel</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2"/>
                          </a:solidFill>
                        </a:rPr>
                        <a:t>● </a:t>
                      </a:r>
                      <a:pPr indent="0" marL="0">
                        <a:buNone/>
                      </a:pPr>
                      <a:r>
                        <a:rPr lang="en-US" sz="1200" dirty="0">
                          <a:solidFill>
                            <a:schemeClr val="tx1"/>
                          </a:solidFill>
                        </a:rPr>
                        <a:t>meets</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402336">
                <a:tc>
                  <a:txBody>
                    <a:bodyPr/>
                    <a:lstStyle/>
                    <a:p>
                      <a:pPr indent="0" marL="0">
                        <a:buNone/>
                      </a:pPr>
                      <a:r>
                        <a:rPr lang="en-US" sz="1200" b="1" dirty="0">
                          <a:solidFill>
                            <a:schemeClr val="tx2"/>
                          </a:solidFill>
                        </a:rPr>
                        <a:t>Speed</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Orders out within 24 hours</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37%</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tx1"/>
                          </a:solidFill>
                        </a:rPr>
                        <a:t>65%</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 60%</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Rachel</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2"/>
                          </a:solidFill>
                        </a:rPr>
                        <a:t>● </a:t>
                      </a:r>
                      <a:pPr indent="0" marL="0">
                        <a:buNone/>
                      </a:pPr>
                      <a:r>
                        <a:rPr lang="en-US" sz="1200" dirty="0">
                          <a:solidFill>
                            <a:schemeClr val="tx1"/>
                          </a:solidFill>
                        </a:rPr>
                        <a:t>meets</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02336">
                <a:tc>
                  <a:txBody>
                    <a:bodyPr/>
                    <a:lstStyle/>
                    <a:p>
                      <a:pPr indent="0" marL="0">
                        <a:buNone/>
                      </a:pP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Dock-to-stock, pallet trailer</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1–3 days (big receipts)</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tx1"/>
                          </a:solidFill>
                        </a:rPr>
                        <a:t>~1.5 h</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&lt; 3.5 h</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Vidhi</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2"/>
                          </a:solidFill>
                        </a:rPr>
                        <a:t>● </a:t>
                      </a:r>
                      <a:pPr indent="0" marL="0">
                        <a:buNone/>
                      </a:pPr>
                      <a:r>
                        <a:rPr lang="en-US" sz="1200" dirty="0">
                          <a:solidFill>
                            <a:schemeClr val="tx1"/>
                          </a:solidFill>
                        </a:rPr>
                        <a:t>meets</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402336">
                <a:tc>
                  <a:txBody>
                    <a:bodyPr/>
                    <a:lstStyle/>
                    <a:p>
                      <a:pPr indent="0" marL="0">
                        <a:buNone/>
                      </a:pPr>
                      <a:r>
                        <a:rPr lang="en-US" sz="1200" b="1" dirty="0">
                          <a:solidFill>
                            <a:schemeClr val="tx2"/>
                          </a:solidFill>
                        </a:rPr>
                        <a:t>Quality</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Pick accuracy (orders without error)</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not in the data</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tx1"/>
                          </a:solidFill>
                        </a:rPr>
                        <a:t>≥ 99.7% (target)</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 99.3%</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Arnau</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2"/>
                          </a:solidFill>
                        </a:rPr>
                        <a:t>● </a:t>
                      </a:r>
                      <a:pPr indent="0" marL="0">
                        <a:buNone/>
                      </a:pPr>
                      <a:r>
                        <a:rPr lang="en-US" sz="1200" dirty="0">
                          <a:solidFill>
                            <a:schemeClr val="tx1"/>
                          </a:solidFill>
                        </a:rPr>
                        <a:t>meets</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02336">
                <a:tc>
                  <a:txBody>
                    <a:bodyPr/>
                    <a:lstStyle/>
                    <a:p>
                      <a:pPr indent="0" marL="0">
                        <a:buNone/>
                      </a:pPr>
                      <a:r>
                        <a:rPr lang="en-US" sz="1200" b="1" dirty="0">
                          <a:solidFill>
                            <a:schemeClr val="tx2"/>
                          </a:solidFill>
                        </a:rPr>
                        <a:t>Cost</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Fast-pick hit rate (lines from the fast-pick area)</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tx1"/>
                          </a:solidFill>
                        </a:rPr>
                        <a:t>71%</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 60%</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Arnau</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2"/>
                          </a:solidFill>
                        </a:rPr>
                        <a:t>● </a:t>
                      </a:r>
                      <a:pPr indent="0" marL="0">
                        <a:buNone/>
                      </a:pPr>
                      <a:r>
                        <a:rPr lang="en-US" sz="1200" dirty="0">
                          <a:solidFill>
                            <a:schemeClr val="tx1"/>
                          </a:solidFill>
                        </a:rPr>
                        <a:t>meets</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02336">
                <a:tc>
                  <a:txBody>
                    <a:bodyPr/>
                    <a:lstStyle/>
                    <a:p>
                      <a:pPr indent="0" marL="0">
                        <a:buNone/>
                      </a:pP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Rack fill at the peak</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8,512 places used</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tx1"/>
                          </a:solidFill>
                        </a:rPr>
                        <a:t>84%</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 90%</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Gleb</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2"/>
                          </a:solidFill>
                        </a:rPr>
                        <a:t>● </a:t>
                      </a:r>
                      <a:pPr indent="0" marL="0">
                        <a:buNone/>
                      </a:pPr>
                      <a:r>
                        <a:rPr lang="en-US" sz="1200" dirty="0">
                          <a:solidFill>
                            <a:schemeClr val="tx1"/>
                          </a:solidFill>
                        </a:rPr>
                        <a:t>meets</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r h="402336">
                <a:tc>
                  <a:txBody>
                    <a:bodyPr/>
                    <a:lstStyle/>
                    <a:p>
                      <a:pPr indent="0" marL="0">
                        <a:buNone/>
                      </a:pPr>
                      <a:r>
                        <a:rPr lang="en-US" sz="1200" b="1" dirty="0">
                          <a:solidFill>
                            <a:schemeClr val="tx2"/>
                          </a:solidFill>
                        </a:rPr>
                        <a:t>Flexibility</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Containers unpacked inside their zone</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tx1"/>
                          </a:solidFill>
                        </a:rPr>
                        <a:t>91%</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 90%</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Vidhi</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2"/>
                          </a:solidFill>
                        </a:rPr>
                        <a:t>● </a:t>
                      </a:r>
                      <a:pPr indent="0" marL="0">
                        <a:buNone/>
                      </a:pPr>
                      <a:r>
                        <a:rPr lang="en-US" sz="1200" dirty="0">
                          <a:solidFill>
                            <a:schemeClr val="tx1"/>
                          </a:solidFill>
                        </a:rPr>
                        <a:t>meets</a:t>
                      </a:r>
                      <a:endParaRPr lang="en-US" sz="1200" dirty="0"/>
                    </a:p>
                  </a:txBody>
                  <a:tcPr marL="73152" marR="73152" marT="18288" marB="18288" anchor="ctr">
                    <a:lnL w="0" cap="flat" cmpd="sng" algn="ctr">
                      <a:noFill/>
                    </a:lnL>
                    <a:lnR w="0" cap="flat" cmpd="sng" algn="ctr">
                      <a:noFill/>
                    </a:lnR>
                    <a:lnT w="9525" cap="flat" cmpd="sng" algn="ctr">
                      <a:solidFill>
                        <a:srgbClr val="A6A6A6"/>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02336">
                <a:tc>
                  <a:txBody>
                    <a:bodyPr/>
                    <a:lstStyle/>
                    <a:p>
                      <a:pPr indent="0" marL="0">
                        <a:buNone/>
                      </a:pP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Storage headroom</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chemeClr val="tx1"/>
                          </a:solidFill>
                        </a:rPr>
                        <a:t>~4 months</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 12 months</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Gleb</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1"/>
                          </a:solidFill>
                        </a:rPr>
                        <a:t>● </a:t>
                      </a:r>
                      <a:pPr indent="0" marL="0">
                        <a:buNone/>
                      </a:pPr>
                      <a:r>
                        <a:rPr lang="en-US" sz="1200" b="1" dirty="0">
                          <a:solidFill>
                            <a:schemeClr val="accent1"/>
                          </a:solidFill>
                        </a:rPr>
                        <a:t>gap</a:t>
                      </a:r>
                      <a:endParaRPr lang="en-US" sz="1200" dirty="0"/>
                    </a:p>
                  </a:txBody>
                  <a:tcPr marL="73152" marR="73152" marT="18288" marB="18288" anchor="ctr">
                    <a:lnL w="0" cap="flat" cmpd="sng" algn="ctr">
                      <a:noFill/>
                    </a:lnL>
                    <a:lnR w="0" cap="flat" cmpd="sng" algn="ctr">
                      <a:noFill/>
                    </a:lnR>
                    <a:lnT w="0" cap="flat" cmpd="sng" algn="ctr">
                      <a:noFill/>
                    </a:lnT>
                    <a:lnB w="6350" cap="flat" cmpd="sng" algn="ctr">
                      <a:solidFill>
                        <a:srgbClr val="D9D9D9"/>
                      </a:solidFill>
                      <a:prstDash val="solid"/>
                      <a:round/>
                      <a:headEnd type="none" w="med" len="med"/>
                      <a:tailEnd type="none" w="med" len="med"/>
                    </a:lnB>
                  </a:tcPr>
                </a:tc>
              </a:tr>
            </a:tbl>
          </a:graphicData>
        </a:graphic>
      </p:graphicFrame>
      <p:sp>
        <p:nvSpPr>
          <p:cNvPr id="6" name="Text 3"/>
          <p:cNvSpPr txBox="1"/>
          <p:nvPr/>
        </p:nvSpPr>
        <p:spPr>
          <a:xfrm>
            <a:off x="548640" y="5870448"/>
            <a:ext cx="11094415" cy="274320"/>
          </a:xfrm>
          <a:prstGeom prst="rect">
            <a:avLst/>
          </a:prstGeom>
          <a:noFill/>
          <a:ln/>
        </p:spPr>
        <p:txBody>
          <a:bodyPr wrap="square" lIns="0" tIns="0" rIns="0" bIns="0" rtlCol="0" anchor="t"/>
          <a:lstStyle/>
          <a:p>
            <a:pPr indent="0" marL="0">
              <a:buNone/>
            </a:pPr>
            <a:r>
              <a:rPr lang="en-US" sz="1100" dirty="0">
                <a:solidFill>
                  <a:schemeClr val="accent2"/>
                </a:solidFill>
              </a:rPr>
              <a:t>Checked every day in the start-of-day meeting of the four owners and weekly with the DHL operations manager (Deliverable 2 §7.5).</a:t>
            </a:r>
            <a:endParaRPr lang="en-US" sz="11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COST DETAIL</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The full fit-out costs €1.63M, mostly new racking; running the warehouse costs €342k a year</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cost model (Deliverable 3 §3): racking prices (IndexBox, n.d.; T-Racking, n.d.); labour €20 per hour (Rogier, course teacher, personal communication, October 2026); benchmark prices, not supplier quotes</a:t>
            </a:r>
            <a:endParaRPr lang="en-US" sz="900" dirty="0"/>
          </a:p>
        </p:txBody>
      </p:sp>
      <p:sp>
        <p:nvSpPr>
          <p:cNvPr id="5" name="Text 3"/>
          <p:cNvSpPr txBox="1"/>
          <p:nvPr/>
        </p:nvSpPr>
        <p:spPr>
          <a:xfrm>
            <a:off x="548640" y="1737360"/>
            <a:ext cx="5852160" cy="274320"/>
          </a:xfrm>
          <a:prstGeom prst="rect">
            <a:avLst/>
          </a:prstGeom>
          <a:noFill/>
          <a:ln/>
        </p:spPr>
        <p:txBody>
          <a:bodyPr wrap="square" lIns="0" tIns="0" rIns="0" bIns="0" rtlCol="0" anchor="t"/>
          <a:lstStyle/>
          <a:p>
            <a:pPr indent="0" marL="0">
              <a:buNone/>
            </a:pPr>
            <a:r>
              <a:rPr lang="en-US" sz="1300" b="1" dirty="0">
                <a:solidFill>
                  <a:schemeClr val="tx2"/>
                </a:solidFill>
              </a:rPr>
              <a:t>Investment (CAPEX) by group, € thousand</a:t>
            </a:r>
            <a:endParaRPr lang="en-US" sz="1300" dirty="0"/>
          </a:p>
        </p:txBody>
      </p:sp>
      <p:graphicFrame>
        <p:nvGraphicFramePr>
          <p:cNvPr id="6" name="Chart 0" descr=""/>
          <p:cNvGraphicFramePr/>
          <p:nvPr/>
        </p:nvGraphicFramePr>
        <p:xfrm>
          <a:off x="411480" y="2057400"/>
          <a:ext cx="5852160" cy="36118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760720"/>
            <a:ext cx="5760720" cy="365760"/>
          </a:xfrm>
          <a:prstGeom prst="rect">
            <a:avLst/>
          </a:prstGeom>
          <a:noFill/>
          <a:ln/>
        </p:spPr>
        <p:txBody>
          <a:bodyPr wrap="square" lIns="0" tIns="0" rIns="0" bIns="0" rtlCol="0" anchor="t"/>
          <a:lstStyle/>
          <a:p>
            <a:pPr indent="0" marL="0">
              <a:buNone/>
            </a:pPr>
            <a:r>
              <a:rPr lang="en-US" sz="1100" dirty="0">
                <a:solidFill>
                  <a:schemeClr val="accent2"/>
                </a:solidFill>
              </a:rPr>
              <a:t>Contingency = 10% of all items.</a:t>
            </a:r>
            <a:endParaRPr lang="en-US" sz="1100" dirty="0"/>
          </a:p>
        </p:txBody>
      </p:sp>
      <p:sp>
        <p:nvSpPr>
          <p:cNvPr id="8" name="Cost tile 1"/>
          <p:cNvSpPr/>
          <p:nvPr/>
        </p:nvSpPr>
        <p:spPr>
          <a:xfrm>
            <a:off x="6583680" y="1737360"/>
            <a:ext cx="2438248" cy="2057400"/>
          </a:xfrm>
          <a:prstGeom prst="rect">
            <a:avLst/>
          </a:prstGeom>
          <a:solidFill>
            <a:schemeClr val="bg2"/>
          </a:solidFill>
          <a:ln/>
        </p:spPr>
      </p:sp>
      <p:sp>
        <p:nvSpPr>
          <p:cNvPr id="9" name="Text 6"/>
          <p:cNvSpPr txBox="1"/>
          <p:nvPr/>
        </p:nvSpPr>
        <p:spPr>
          <a:xfrm>
            <a:off x="6784848" y="1938528"/>
            <a:ext cx="2035912" cy="566928"/>
          </a:xfrm>
          <a:prstGeom prst="rect">
            <a:avLst/>
          </a:prstGeom>
          <a:noFill/>
          <a:ln/>
        </p:spPr>
        <p:txBody>
          <a:bodyPr wrap="square" lIns="0" tIns="0" rIns="0" bIns="0" rtlCol="0" anchor="t"/>
          <a:lstStyle/>
          <a:p>
            <a:pPr indent="0" marL="0">
              <a:buNone/>
            </a:pPr>
            <a:r>
              <a:rPr lang="en-US" sz="3000" b="1" dirty="0">
                <a:solidFill>
                  <a:schemeClr val="accent1"/>
                </a:solidFill>
              </a:rPr>
              <a:t>€291k</a:t>
            </a:r>
            <a:endParaRPr lang="en-US" sz="3000" dirty="0"/>
          </a:p>
        </p:txBody>
      </p:sp>
      <p:sp>
        <p:nvSpPr>
          <p:cNvPr id="10" name="Text 7"/>
          <p:cNvSpPr txBox="1"/>
          <p:nvPr/>
        </p:nvSpPr>
        <p:spPr>
          <a:xfrm>
            <a:off x="6784848" y="2505456"/>
            <a:ext cx="2035912" cy="1097280"/>
          </a:xfrm>
          <a:prstGeom prst="rect">
            <a:avLst/>
          </a:prstGeom>
          <a:noFill/>
          <a:ln/>
        </p:spPr>
        <p:txBody>
          <a:bodyPr wrap="square" lIns="0" tIns="0" rIns="0" bIns="0" rtlCol="0" anchor="t"/>
          <a:lstStyle/>
          <a:p>
            <a:pPr indent="0" marL="0">
              <a:buNone/>
            </a:pPr>
            <a:r>
              <a:rPr lang="en-US" sz="1200" dirty="0">
                <a:solidFill>
                  <a:schemeClr val="tx1"/>
                </a:solidFill>
              </a:rPr>
              <a:t>labour a year (direct and indirect staff)</a:t>
            </a:r>
            <a:endParaRPr lang="en-US" sz="1200" dirty="0"/>
          </a:p>
        </p:txBody>
      </p:sp>
      <p:sp>
        <p:nvSpPr>
          <p:cNvPr id="11" name="Cost tile 2"/>
          <p:cNvSpPr/>
          <p:nvPr/>
        </p:nvSpPr>
        <p:spPr>
          <a:xfrm>
            <a:off x="9204808" y="1737360"/>
            <a:ext cx="2438248" cy="2057400"/>
          </a:xfrm>
          <a:prstGeom prst="rect">
            <a:avLst/>
          </a:prstGeom>
          <a:solidFill>
            <a:schemeClr val="bg2"/>
          </a:solidFill>
          <a:ln/>
        </p:spPr>
      </p:sp>
      <p:sp>
        <p:nvSpPr>
          <p:cNvPr id="12" name="Text 9"/>
          <p:cNvSpPr txBox="1"/>
          <p:nvPr/>
        </p:nvSpPr>
        <p:spPr>
          <a:xfrm>
            <a:off x="9405976" y="1938528"/>
            <a:ext cx="2035912" cy="566928"/>
          </a:xfrm>
          <a:prstGeom prst="rect">
            <a:avLst/>
          </a:prstGeom>
          <a:noFill/>
          <a:ln/>
        </p:spPr>
        <p:txBody>
          <a:bodyPr wrap="square" lIns="0" tIns="0" rIns="0" bIns="0" rtlCol="0" anchor="t"/>
          <a:lstStyle/>
          <a:p>
            <a:pPr indent="0" marL="0">
              <a:buNone/>
            </a:pPr>
            <a:r>
              <a:rPr lang="en-US" sz="3000" b="1" dirty="0">
                <a:solidFill>
                  <a:schemeClr val="accent1"/>
                </a:solidFill>
              </a:rPr>
              <a:t>€37k</a:t>
            </a:r>
            <a:endParaRPr lang="en-US" sz="3000" dirty="0"/>
          </a:p>
        </p:txBody>
      </p:sp>
      <p:sp>
        <p:nvSpPr>
          <p:cNvPr id="13" name="Text 10"/>
          <p:cNvSpPr txBox="1"/>
          <p:nvPr/>
        </p:nvSpPr>
        <p:spPr>
          <a:xfrm>
            <a:off x="9405976" y="2505456"/>
            <a:ext cx="2035912" cy="1097280"/>
          </a:xfrm>
          <a:prstGeom prst="rect">
            <a:avLst/>
          </a:prstGeom>
          <a:noFill/>
          <a:ln/>
        </p:spPr>
        <p:txBody>
          <a:bodyPr wrap="square" lIns="0" tIns="0" rIns="0" bIns="0" rtlCol="0" anchor="t"/>
          <a:lstStyle/>
          <a:p>
            <a:pPr indent="0" marL="0">
              <a:buNone/>
            </a:pPr>
            <a:r>
              <a:rPr lang="en-US" sz="1200" dirty="0">
                <a:solidFill>
                  <a:schemeClr val="tx1"/>
                </a:solidFill>
              </a:rPr>
              <a:t>machinery a year (truck lease and energy)</a:t>
            </a:r>
            <a:endParaRPr lang="en-US" sz="1200" dirty="0"/>
          </a:p>
        </p:txBody>
      </p:sp>
      <p:sp>
        <p:nvSpPr>
          <p:cNvPr id="14" name="Cost tile 3"/>
          <p:cNvSpPr/>
          <p:nvPr/>
        </p:nvSpPr>
        <p:spPr>
          <a:xfrm>
            <a:off x="6583680" y="3977640"/>
            <a:ext cx="2438248" cy="2057400"/>
          </a:xfrm>
          <a:prstGeom prst="rect">
            <a:avLst/>
          </a:prstGeom>
          <a:solidFill>
            <a:schemeClr val="bg2"/>
          </a:solidFill>
          <a:ln/>
        </p:spPr>
      </p:sp>
      <p:sp>
        <p:nvSpPr>
          <p:cNvPr id="15" name="Text 12"/>
          <p:cNvSpPr txBox="1"/>
          <p:nvPr/>
        </p:nvSpPr>
        <p:spPr>
          <a:xfrm>
            <a:off x="6784848" y="4178808"/>
            <a:ext cx="2035912" cy="566928"/>
          </a:xfrm>
          <a:prstGeom prst="rect">
            <a:avLst/>
          </a:prstGeom>
          <a:noFill/>
          <a:ln/>
        </p:spPr>
        <p:txBody>
          <a:bodyPr wrap="square" lIns="0" tIns="0" rIns="0" bIns="0" rtlCol="0" anchor="t"/>
          <a:lstStyle/>
          <a:p>
            <a:pPr indent="0" marL="0">
              <a:buNone/>
            </a:pPr>
            <a:r>
              <a:rPr lang="en-US" sz="3000" b="1" dirty="0">
                <a:solidFill>
                  <a:schemeClr val="accent1"/>
                </a:solidFill>
              </a:rPr>
              <a:t>€3.09</a:t>
            </a:r>
            <a:endParaRPr lang="en-US" sz="3000" dirty="0"/>
          </a:p>
        </p:txBody>
      </p:sp>
      <p:sp>
        <p:nvSpPr>
          <p:cNvPr id="16" name="Text 13"/>
          <p:cNvSpPr txBox="1"/>
          <p:nvPr/>
        </p:nvSpPr>
        <p:spPr>
          <a:xfrm>
            <a:off x="6784848" y="4745736"/>
            <a:ext cx="2035912" cy="1097280"/>
          </a:xfrm>
          <a:prstGeom prst="rect">
            <a:avLst/>
          </a:prstGeom>
          <a:noFill/>
          <a:ln/>
        </p:spPr>
        <p:txBody>
          <a:bodyPr wrap="square" lIns="0" tIns="0" rIns="0" bIns="0" rtlCol="0" anchor="t"/>
          <a:lstStyle/>
          <a:p>
            <a:pPr indent="0" marL="0">
              <a:buNone/>
            </a:pPr>
            <a:r>
              <a:rPr lang="en-US" sz="1200" dirty="0">
                <a:solidFill>
                  <a:schemeClr val="tx1"/>
                </a:solidFill>
              </a:rPr>
              <a:t>per order line (€13.75 per order), depreciation included</a:t>
            </a:r>
            <a:endParaRPr lang="en-US" sz="1200" dirty="0"/>
          </a:p>
        </p:txBody>
      </p:sp>
      <p:sp>
        <p:nvSpPr>
          <p:cNvPr id="17" name="Cost tile 4"/>
          <p:cNvSpPr/>
          <p:nvPr/>
        </p:nvSpPr>
        <p:spPr>
          <a:xfrm>
            <a:off x="9204808" y="3977640"/>
            <a:ext cx="2438248" cy="2057400"/>
          </a:xfrm>
          <a:prstGeom prst="rect">
            <a:avLst/>
          </a:prstGeom>
          <a:solidFill>
            <a:schemeClr val="bg2"/>
          </a:solidFill>
          <a:ln/>
        </p:spPr>
      </p:sp>
      <p:sp>
        <p:nvSpPr>
          <p:cNvPr id="18" name="Text 15"/>
          <p:cNvSpPr txBox="1"/>
          <p:nvPr/>
        </p:nvSpPr>
        <p:spPr>
          <a:xfrm>
            <a:off x="9405976" y="4178808"/>
            <a:ext cx="2035912" cy="566928"/>
          </a:xfrm>
          <a:prstGeom prst="rect">
            <a:avLst/>
          </a:prstGeom>
          <a:noFill/>
          <a:ln/>
        </p:spPr>
        <p:txBody>
          <a:bodyPr wrap="square" lIns="0" tIns="0" rIns="0" bIns="0" rtlCol="0" anchor="t"/>
          <a:lstStyle/>
          <a:p>
            <a:pPr indent="0" marL="0">
              <a:buNone/>
            </a:pPr>
            <a:r>
              <a:rPr lang="en-US" sz="3000" b="1" dirty="0">
                <a:solidFill>
                  <a:schemeClr val="accent1"/>
                </a:solidFill>
              </a:rPr>
              <a:t>€20.02</a:t>
            </a:r>
            <a:endParaRPr lang="en-US" sz="3000" dirty="0"/>
          </a:p>
        </p:txBody>
      </p:sp>
      <p:sp>
        <p:nvSpPr>
          <p:cNvPr id="19" name="Text 16"/>
          <p:cNvSpPr txBox="1"/>
          <p:nvPr/>
        </p:nvSpPr>
        <p:spPr>
          <a:xfrm>
            <a:off x="9405976" y="4745736"/>
            <a:ext cx="2035912" cy="1097280"/>
          </a:xfrm>
          <a:prstGeom prst="rect">
            <a:avLst/>
          </a:prstGeom>
          <a:noFill/>
          <a:ln/>
        </p:spPr>
        <p:txBody>
          <a:bodyPr wrap="square" lIns="0" tIns="0" rIns="0" bIns="0" rtlCol="0" anchor="t"/>
          <a:lstStyle/>
          <a:p>
            <a:pPr indent="0" marL="0">
              <a:buNone/>
            </a:pPr>
            <a:r>
              <a:rPr lang="en-US" sz="1200" dirty="0">
                <a:solidFill>
                  <a:schemeClr val="tx1"/>
                </a:solidFill>
              </a:rPr>
              <a:t>per inbound pallet received and put away</a:t>
            </a:r>
            <a:endParaRPr lang="en-US" sz="12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OPEN POINTS</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Four open points to close before go-live — each has an owner and a next step</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assumption register (Deliverable 2 §8) and risks in Deliverable 3</a:t>
            </a:r>
            <a:endParaRPr lang="en-US" sz="900" dirty="0"/>
          </a:p>
        </p:txBody>
      </p:sp>
      <p:sp>
        <p:nvSpPr>
          <p:cNvPr id="5" name="Text 3"/>
          <p:cNvSpPr txBox="1"/>
          <p:nvPr/>
        </p:nvSpPr>
        <p:spPr>
          <a:xfrm>
            <a:off x="1005840" y="1737360"/>
            <a:ext cx="2286000" cy="228600"/>
          </a:xfrm>
          <a:prstGeom prst="rect">
            <a:avLst/>
          </a:prstGeom>
          <a:noFill/>
          <a:ln/>
        </p:spPr>
        <p:txBody>
          <a:bodyPr wrap="square" lIns="0" tIns="0" rIns="0" bIns="0" rtlCol="0" anchor="t"/>
          <a:lstStyle/>
          <a:p>
            <a:pPr indent="0" marL="0">
              <a:buNone/>
            </a:pPr>
            <a:r>
              <a:rPr lang="en-US" sz="1000" b="1" spc="100" kern="0" dirty="0">
                <a:solidFill>
                  <a:schemeClr val="accent2"/>
                </a:solidFill>
              </a:rPr>
              <a:t>OPEN POINT</a:t>
            </a:r>
            <a:endParaRPr lang="en-US" sz="1000" dirty="0"/>
          </a:p>
        </p:txBody>
      </p:sp>
      <p:sp>
        <p:nvSpPr>
          <p:cNvPr id="6" name="Text 4"/>
          <p:cNvSpPr txBox="1"/>
          <p:nvPr/>
        </p:nvSpPr>
        <p:spPr>
          <a:xfrm>
            <a:off x="5074920" y="1737360"/>
            <a:ext cx="2286000" cy="228600"/>
          </a:xfrm>
          <a:prstGeom prst="rect">
            <a:avLst/>
          </a:prstGeom>
          <a:noFill/>
          <a:ln/>
        </p:spPr>
        <p:txBody>
          <a:bodyPr wrap="square" lIns="0" tIns="0" rIns="0" bIns="0" rtlCol="0" anchor="t"/>
          <a:lstStyle/>
          <a:p>
            <a:pPr indent="0" marL="0">
              <a:buNone/>
            </a:pPr>
            <a:r>
              <a:rPr lang="en-US" sz="1000" b="1" spc="100" kern="0" dirty="0">
                <a:solidFill>
                  <a:schemeClr val="accent2"/>
                </a:solidFill>
              </a:rPr>
              <a:t>IMPACT</a:t>
            </a:r>
            <a:endParaRPr lang="en-US" sz="1000" dirty="0"/>
          </a:p>
        </p:txBody>
      </p:sp>
      <p:sp>
        <p:nvSpPr>
          <p:cNvPr id="7" name="Text 5"/>
          <p:cNvSpPr txBox="1"/>
          <p:nvPr/>
        </p:nvSpPr>
        <p:spPr>
          <a:xfrm>
            <a:off x="6172200" y="1737360"/>
            <a:ext cx="2286000" cy="228600"/>
          </a:xfrm>
          <a:prstGeom prst="rect">
            <a:avLst/>
          </a:prstGeom>
          <a:noFill/>
          <a:ln/>
        </p:spPr>
        <p:txBody>
          <a:bodyPr wrap="square" lIns="0" tIns="0" rIns="0" bIns="0" rtlCol="0" anchor="t"/>
          <a:lstStyle/>
          <a:p>
            <a:pPr indent="0" marL="0">
              <a:buNone/>
            </a:pPr>
            <a:r>
              <a:rPr lang="en-US" sz="1000" b="1" spc="100" kern="0" dirty="0">
                <a:solidFill>
                  <a:schemeClr val="accent2"/>
                </a:solidFill>
              </a:rPr>
              <a:t>NEXT STEP</a:t>
            </a:r>
            <a:endParaRPr lang="en-US" sz="1000" dirty="0"/>
          </a:p>
        </p:txBody>
      </p:sp>
      <p:sp>
        <p:nvSpPr>
          <p:cNvPr id="8" name="Text 6"/>
          <p:cNvSpPr txBox="1"/>
          <p:nvPr/>
        </p:nvSpPr>
        <p:spPr>
          <a:xfrm>
            <a:off x="10378440" y="1737360"/>
            <a:ext cx="2286000" cy="228600"/>
          </a:xfrm>
          <a:prstGeom prst="rect">
            <a:avLst/>
          </a:prstGeom>
          <a:noFill/>
          <a:ln/>
        </p:spPr>
        <p:txBody>
          <a:bodyPr wrap="square" lIns="0" tIns="0" rIns="0" bIns="0" rtlCol="0" anchor="t"/>
          <a:lstStyle/>
          <a:p>
            <a:pPr indent="0" marL="0">
              <a:buNone/>
            </a:pPr>
            <a:r>
              <a:rPr lang="en-US" sz="1000" b="1" spc="100" kern="0" dirty="0">
                <a:solidFill>
                  <a:schemeClr val="accent2"/>
                </a:solidFill>
              </a:rPr>
              <a:t>OWNER</a:t>
            </a:r>
            <a:endParaRPr lang="en-US" sz="1000" dirty="0"/>
          </a:p>
        </p:txBody>
      </p:sp>
      <p:sp>
        <p:nvSpPr>
          <p:cNvPr id="9" name="Shape 7"/>
          <p:cNvSpPr/>
          <p:nvPr/>
        </p:nvSpPr>
        <p:spPr>
          <a:xfrm>
            <a:off x="548640" y="2029968"/>
            <a:ext cx="11094415" cy="0"/>
          </a:xfrm>
          <a:prstGeom prst="line">
            <a:avLst/>
          </a:prstGeom>
          <a:noFill/>
          <a:ln w="9525">
            <a:solidFill>
              <a:schemeClr val="accent4"/>
            </a:solidFill>
            <a:prstDash val="solid"/>
          </a:ln>
        </p:spPr>
      </p:sp>
      <p:sp>
        <p:nvSpPr>
          <p:cNvPr id="10" name="Text 8"/>
          <p:cNvSpPr txBox="1"/>
          <p:nvPr/>
        </p:nvSpPr>
        <p:spPr>
          <a:xfrm>
            <a:off x="548640" y="2139696"/>
            <a:ext cx="365760" cy="365760"/>
          </a:xfrm>
          <a:prstGeom prst="rect">
            <a:avLst/>
          </a:prstGeom>
          <a:noFill/>
          <a:ln/>
        </p:spPr>
        <p:txBody>
          <a:bodyPr wrap="square" lIns="0" tIns="0" rIns="0" bIns="0" rtlCol="0" anchor="t"/>
          <a:lstStyle/>
          <a:p>
            <a:pPr indent="0" marL="0">
              <a:buNone/>
            </a:pPr>
            <a:r>
              <a:rPr lang="en-US" sz="1800" b="1" dirty="0">
                <a:solidFill>
                  <a:schemeClr val="accent1"/>
                </a:solidFill>
              </a:rPr>
              <a:t>1</a:t>
            </a:r>
            <a:endParaRPr lang="en-US" sz="1800" dirty="0"/>
          </a:p>
        </p:txBody>
      </p:sp>
      <p:sp>
        <p:nvSpPr>
          <p:cNvPr id="11" name="Text 9"/>
          <p:cNvSpPr txBox="1"/>
          <p:nvPr/>
        </p:nvSpPr>
        <p:spPr>
          <a:xfrm>
            <a:off x="1005840" y="2139696"/>
            <a:ext cx="3977640" cy="713232"/>
          </a:xfrm>
          <a:prstGeom prst="rect">
            <a:avLst/>
          </a:prstGeom>
          <a:noFill/>
          <a:ln/>
        </p:spPr>
        <p:txBody>
          <a:bodyPr wrap="square" lIns="0" tIns="0" rIns="0" bIns="0" rtlCol="0" anchor="t"/>
          <a:lstStyle/>
          <a:p>
            <a:pPr indent="0" marL="0">
              <a:buNone/>
            </a:pPr>
            <a:r>
              <a:rPr lang="en-US" sz="1300" b="1" dirty="0">
                <a:solidFill>
                  <a:schemeClr val="tx2"/>
                </a:solidFill>
              </a:rPr>
              <a:t>Stock growth</a:t>
            </a:r>
            <a:endParaRPr lang="en-US" sz="1300" dirty="0"/>
          </a:p>
          <a:p>
            <a:pPr indent="0" marL="0">
              <a:buNone/>
            </a:pPr>
            <a:r>
              <a:rPr lang="en-US" sz="1200" dirty="0">
                <a:solidFill>
                  <a:schemeClr val="accent2"/>
                </a:solidFill>
              </a:rPr>
              <a:t>racks full in ~4 months at +16% per quarter</a:t>
            </a:r>
            <a:endParaRPr lang="en-US" sz="1300" dirty="0"/>
          </a:p>
        </p:txBody>
      </p:sp>
      <p:sp>
        <p:nvSpPr>
          <p:cNvPr id="12" name="Shape 10"/>
          <p:cNvSpPr/>
          <p:nvPr/>
        </p:nvSpPr>
        <p:spPr>
          <a:xfrm>
            <a:off x="5120640" y="2231136"/>
            <a:ext cx="118872" cy="118872"/>
          </a:xfrm>
          <a:prstGeom prst="ellipse">
            <a:avLst/>
          </a:prstGeom>
          <a:solidFill>
            <a:schemeClr val="accent1"/>
          </a:solidFill>
          <a:ln/>
        </p:spPr>
      </p:sp>
      <p:sp>
        <p:nvSpPr>
          <p:cNvPr id="13" name="Shape 11"/>
          <p:cNvSpPr/>
          <p:nvPr/>
        </p:nvSpPr>
        <p:spPr>
          <a:xfrm>
            <a:off x="5303520" y="2231136"/>
            <a:ext cx="118872" cy="118872"/>
          </a:xfrm>
          <a:prstGeom prst="ellipse">
            <a:avLst/>
          </a:prstGeom>
          <a:solidFill>
            <a:schemeClr val="accent1"/>
          </a:solidFill>
          <a:ln/>
        </p:spPr>
      </p:sp>
      <p:sp>
        <p:nvSpPr>
          <p:cNvPr id="14" name="Shape 12"/>
          <p:cNvSpPr/>
          <p:nvPr/>
        </p:nvSpPr>
        <p:spPr>
          <a:xfrm>
            <a:off x="5486400" y="2231136"/>
            <a:ext cx="118872" cy="118872"/>
          </a:xfrm>
          <a:prstGeom prst="ellipse">
            <a:avLst/>
          </a:prstGeom>
          <a:solidFill>
            <a:schemeClr val="accent1"/>
          </a:solidFill>
          <a:ln/>
        </p:spPr>
      </p:sp>
      <p:sp>
        <p:nvSpPr>
          <p:cNvPr id="15" name="Text 13"/>
          <p:cNvSpPr txBox="1"/>
          <p:nvPr/>
        </p:nvSpPr>
        <p:spPr>
          <a:xfrm>
            <a:off x="6172200" y="2139696"/>
            <a:ext cx="4069080" cy="713232"/>
          </a:xfrm>
          <a:prstGeom prst="rect">
            <a:avLst/>
          </a:prstGeom>
          <a:noFill/>
          <a:ln/>
        </p:spPr>
        <p:txBody>
          <a:bodyPr wrap="square" lIns="0" tIns="0" rIns="0" bIns="0" rtlCol="0" anchor="t"/>
          <a:lstStyle/>
          <a:p>
            <a:pPr indent="0" marL="0">
              <a:buNone/>
            </a:pPr>
            <a:r>
              <a:rPr lang="en-US" sz="1300" dirty="0">
                <a:solidFill>
                  <a:schemeClr val="tx1"/>
                </a:solidFill>
              </a:rPr>
              <a:t>Clear dead stock (21% of loads over a year old); order the reserved 12th module at 90% fill (+864 places)</a:t>
            </a:r>
            <a:endParaRPr lang="en-US" sz="1300" dirty="0"/>
          </a:p>
        </p:txBody>
      </p:sp>
      <p:sp>
        <p:nvSpPr>
          <p:cNvPr id="16" name="Shape 14"/>
          <p:cNvSpPr/>
          <p:nvPr/>
        </p:nvSpPr>
        <p:spPr>
          <a:xfrm>
            <a:off x="10378440" y="2203704"/>
            <a:ext cx="118872" cy="118872"/>
          </a:xfrm>
          <a:prstGeom prst="rect">
            <a:avLst/>
          </a:prstGeom>
          <a:solidFill>
            <a:srgbClr val="1D4ED8"/>
          </a:solidFill>
          <a:ln/>
        </p:spPr>
      </p:sp>
      <p:sp>
        <p:nvSpPr>
          <p:cNvPr id="17" name="Text 15"/>
          <p:cNvSpPr txBox="1"/>
          <p:nvPr/>
        </p:nvSpPr>
        <p:spPr>
          <a:xfrm>
            <a:off x="10570464" y="2139696"/>
            <a:ext cx="1069848" cy="548640"/>
          </a:xfrm>
          <a:prstGeom prst="rect">
            <a:avLst/>
          </a:prstGeom>
          <a:noFill/>
          <a:ln/>
        </p:spPr>
        <p:txBody>
          <a:bodyPr wrap="square" lIns="0" tIns="0" rIns="0" bIns="0" rtlCol="0" anchor="t"/>
          <a:lstStyle/>
          <a:p>
            <a:pPr indent="0" marL="0">
              <a:buNone/>
            </a:pPr>
            <a:r>
              <a:rPr lang="en-US" sz="1300" b="1" dirty="0">
                <a:solidFill>
                  <a:schemeClr val="tx1"/>
                </a:solidFill>
              </a:rPr>
              <a:t>Gleb</a:t>
            </a:r>
            <a:endParaRPr lang="en-US" sz="1300" dirty="0"/>
          </a:p>
          <a:p>
            <a:pPr indent="0" marL="0">
              <a:buNone/>
            </a:pPr>
            <a:r>
              <a:rPr lang="en-US" sz="1100" dirty="0">
                <a:solidFill>
                  <a:schemeClr val="accent2"/>
                </a:solidFill>
              </a:rPr>
              <a:t>Storage</a:t>
            </a:r>
            <a:endParaRPr lang="en-US" sz="1300" dirty="0"/>
          </a:p>
        </p:txBody>
      </p:sp>
      <p:sp>
        <p:nvSpPr>
          <p:cNvPr id="18" name="Shape 16"/>
          <p:cNvSpPr/>
          <p:nvPr/>
        </p:nvSpPr>
        <p:spPr>
          <a:xfrm>
            <a:off x="548640" y="2898648"/>
            <a:ext cx="11094415" cy="0"/>
          </a:xfrm>
          <a:prstGeom prst="line">
            <a:avLst/>
          </a:prstGeom>
          <a:noFill/>
          <a:ln w="9525">
            <a:solidFill>
              <a:schemeClr val="accent4"/>
            </a:solidFill>
            <a:prstDash val="solid"/>
          </a:ln>
        </p:spPr>
      </p:sp>
      <p:sp>
        <p:nvSpPr>
          <p:cNvPr id="19" name="Text 17"/>
          <p:cNvSpPr txBox="1"/>
          <p:nvPr/>
        </p:nvSpPr>
        <p:spPr>
          <a:xfrm>
            <a:off x="548640" y="3008376"/>
            <a:ext cx="365760" cy="365760"/>
          </a:xfrm>
          <a:prstGeom prst="rect">
            <a:avLst/>
          </a:prstGeom>
          <a:noFill/>
          <a:ln/>
        </p:spPr>
        <p:txBody>
          <a:bodyPr wrap="square" lIns="0" tIns="0" rIns="0" bIns="0" rtlCol="0" anchor="t"/>
          <a:lstStyle/>
          <a:p>
            <a:pPr indent="0" marL="0">
              <a:buNone/>
            </a:pPr>
            <a:r>
              <a:rPr lang="en-US" sz="1800" b="1" dirty="0">
                <a:solidFill>
                  <a:schemeClr val="accent1"/>
                </a:solidFill>
              </a:rPr>
              <a:t>2</a:t>
            </a:r>
            <a:endParaRPr lang="en-US" sz="1800" dirty="0"/>
          </a:p>
        </p:txBody>
      </p:sp>
      <p:sp>
        <p:nvSpPr>
          <p:cNvPr id="20" name="Text 18"/>
          <p:cNvSpPr txBox="1"/>
          <p:nvPr/>
        </p:nvSpPr>
        <p:spPr>
          <a:xfrm>
            <a:off x="1005840" y="3008376"/>
            <a:ext cx="3977640" cy="713232"/>
          </a:xfrm>
          <a:prstGeom prst="rect">
            <a:avLst/>
          </a:prstGeom>
          <a:noFill/>
          <a:ln/>
        </p:spPr>
        <p:txBody>
          <a:bodyPr wrap="square" lIns="0" tIns="0" rIns="0" bIns="0" rtlCol="0" anchor="t"/>
          <a:lstStyle/>
          <a:p>
            <a:pPr indent="0" marL="0">
              <a:buNone/>
            </a:pPr>
            <a:r>
              <a:rPr lang="en-US" sz="1300" b="1" dirty="0">
                <a:solidFill>
                  <a:schemeClr val="tx2"/>
                </a:solidFill>
              </a:rPr>
              <a:t>Pick times are modelled</a:t>
            </a:r>
            <a:endParaRPr lang="en-US" sz="1300" dirty="0"/>
          </a:p>
          <a:p>
            <a:pPr indent="0" marL="0">
              <a:buNone/>
            </a:pPr>
            <a:r>
              <a:rPr lang="en-US" sz="1200" dirty="0">
                <a:solidFill>
                  <a:schemeClr val="accent2"/>
                </a:solidFill>
              </a:rPr>
              <a:t>they set the staff per wave; labour is 85% of the running cost</a:t>
            </a:r>
            <a:endParaRPr lang="en-US" sz="1300" dirty="0"/>
          </a:p>
        </p:txBody>
      </p:sp>
      <p:sp>
        <p:nvSpPr>
          <p:cNvPr id="21" name="Shape 19"/>
          <p:cNvSpPr/>
          <p:nvPr/>
        </p:nvSpPr>
        <p:spPr>
          <a:xfrm>
            <a:off x="5120640" y="3099816"/>
            <a:ext cx="118872" cy="118872"/>
          </a:xfrm>
          <a:prstGeom prst="ellipse">
            <a:avLst/>
          </a:prstGeom>
          <a:solidFill>
            <a:schemeClr val="accent1"/>
          </a:solidFill>
          <a:ln/>
        </p:spPr>
      </p:sp>
      <p:sp>
        <p:nvSpPr>
          <p:cNvPr id="22" name="Shape 20"/>
          <p:cNvSpPr/>
          <p:nvPr/>
        </p:nvSpPr>
        <p:spPr>
          <a:xfrm>
            <a:off x="5303520" y="3099816"/>
            <a:ext cx="118872" cy="118872"/>
          </a:xfrm>
          <a:prstGeom prst="ellipse">
            <a:avLst/>
          </a:prstGeom>
          <a:solidFill>
            <a:schemeClr val="accent1"/>
          </a:solidFill>
          <a:ln/>
        </p:spPr>
      </p:sp>
      <p:sp>
        <p:nvSpPr>
          <p:cNvPr id="23" name="Shape 21"/>
          <p:cNvSpPr/>
          <p:nvPr/>
        </p:nvSpPr>
        <p:spPr>
          <a:xfrm>
            <a:off x="5486400" y="3099816"/>
            <a:ext cx="118872" cy="118872"/>
          </a:xfrm>
          <a:prstGeom prst="ellipse">
            <a:avLst/>
          </a:prstGeom>
          <a:solidFill>
            <a:schemeClr val="accent1"/>
          </a:solidFill>
          <a:ln/>
        </p:spPr>
      </p:sp>
      <p:sp>
        <p:nvSpPr>
          <p:cNvPr id="24" name="Text 22"/>
          <p:cNvSpPr txBox="1"/>
          <p:nvPr/>
        </p:nvSpPr>
        <p:spPr>
          <a:xfrm>
            <a:off x="6172200" y="3008376"/>
            <a:ext cx="4069080" cy="713232"/>
          </a:xfrm>
          <a:prstGeom prst="rect">
            <a:avLst/>
          </a:prstGeom>
          <a:noFill/>
          <a:ln/>
        </p:spPr>
        <p:txBody>
          <a:bodyPr wrap="square" lIns="0" tIns="0" rIns="0" bIns="0" rtlCol="0" anchor="t"/>
          <a:lstStyle/>
          <a:p>
            <a:pPr indent="0" marL="0">
              <a:buNone/>
            </a:pPr>
            <a:r>
              <a:rPr lang="en-US" sz="1300" dirty="0">
                <a:solidFill>
                  <a:schemeClr val="tx1"/>
                </a:solidFill>
              </a:rPr>
              <a:t>Time study on the current floor; recalculate pickers per wave</a:t>
            </a:r>
            <a:endParaRPr lang="en-US" sz="1300" dirty="0"/>
          </a:p>
        </p:txBody>
      </p:sp>
      <p:sp>
        <p:nvSpPr>
          <p:cNvPr id="25" name="Shape 23"/>
          <p:cNvSpPr/>
          <p:nvPr/>
        </p:nvSpPr>
        <p:spPr>
          <a:xfrm>
            <a:off x="10378440" y="3072384"/>
            <a:ext cx="118872" cy="118872"/>
          </a:xfrm>
          <a:prstGeom prst="rect">
            <a:avLst/>
          </a:prstGeom>
          <a:solidFill>
            <a:srgbClr val="15803D"/>
          </a:solidFill>
          <a:ln/>
        </p:spPr>
      </p:sp>
      <p:sp>
        <p:nvSpPr>
          <p:cNvPr id="26" name="Text 24"/>
          <p:cNvSpPr txBox="1"/>
          <p:nvPr/>
        </p:nvSpPr>
        <p:spPr>
          <a:xfrm>
            <a:off x="10570464" y="3008376"/>
            <a:ext cx="1069848" cy="548640"/>
          </a:xfrm>
          <a:prstGeom prst="rect">
            <a:avLst/>
          </a:prstGeom>
          <a:noFill/>
          <a:ln/>
        </p:spPr>
        <p:txBody>
          <a:bodyPr wrap="square" lIns="0" tIns="0" rIns="0" bIns="0" rtlCol="0" anchor="t"/>
          <a:lstStyle/>
          <a:p>
            <a:pPr indent="0" marL="0">
              <a:buNone/>
            </a:pPr>
            <a:r>
              <a:rPr lang="en-US" sz="1300" b="1" dirty="0">
                <a:solidFill>
                  <a:schemeClr val="tx1"/>
                </a:solidFill>
              </a:rPr>
              <a:t>Arnau</a:t>
            </a:r>
            <a:endParaRPr lang="en-US" sz="1300" dirty="0"/>
          </a:p>
          <a:p>
            <a:pPr indent="0" marL="0">
              <a:buNone/>
            </a:pPr>
            <a:r>
              <a:rPr lang="en-US" sz="1100" dirty="0">
                <a:solidFill>
                  <a:schemeClr val="accent2"/>
                </a:solidFill>
              </a:rPr>
              <a:t>Picking</a:t>
            </a:r>
            <a:endParaRPr lang="en-US" sz="1300" dirty="0"/>
          </a:p>
        </p:txBody>
      </p:sp>
      <p:sp>
        <p:nvSpPr>
          <p:cNvPr id="27" name="Shape 25"/>
          <p:cNvSpPr/>
          <p:nvPr/>
        </p:nvSpPr>
        <p:spPr>
          <a:xfrm>
            <a:off x="548640" y="3767328"/>
            <a:ext cx="11094415" cy="0"/>
          </a:xfrm>
          <a:prstGeom prst="line">
            <a:avLst/>
          </a:prstGeom>
          <a:noFill/>
          <a:ln w="9525">
            <a:solidFill>
              <a:schemeClr val="accent4"/>
            </a:solidFill>
            <a:prstDash val="solid"/>
          </a:ln>
        </p:spPr>
      </p:sp>
      <p:sp>
        <p:nvSpPr>
          <p:cNvPr id="28" name="Text 26"/>
          <p:cNvSpPr txBox="1"/>
          <p:nvPr/>
        </p:nvSpPr>
        <p:spPr>
          <a:xfrm>
            <a:off x="548640" y="3877056"/>
            <a:ext cx="365760" cy="365760"/>
          </a:xfrm>
          <a:prstGeom prst="rect">
            <a:avLst/>
          </a:prstGeom>
          <a:noFill/>
          <a:ln/>
        </p:spPr>
        <p:txBody>
          <a:bodyPr wrap="square" lIns="0" tIns="0" rIns="0" bIns="0" rtlCol="0" anchor="t"/>
          <a:lstStyle/>
          <a:p>
            <a:pPr indent="0" marL="0">
              <a:buNone/>
            </a:pPr>
            <a:r>
              <a:rPr lang="en-US" sz="1800" b="1" dirty="0">
                <a:solidFill>
                  <a:schemeClr val="accent1"/>
                </a:solidFill>
              </a:rPr>
              <a:t>3</a:t>
            </a:r>
            <a:endParaRPr lang="en-US" sz="1800" dirty="0"/>
          </a:p>
        </p:txBody>
      </p:sp>
      <p:sp>
        <p:nvSpPr>
          <p:cNvPr id="29" name="Text 27"/>
          <p:cNvSpPr txBox="1"/>
          <p:nvPr/>
        </p:nvSpPr>
        <p:spPr>
          <a:xfrm>
            <a:off x="1005840" y="3877056"/>
            <a:ext cx="3977640" cy="713232"/>
          </a:xfrm>
          <a:prstGeom prst="rect">
            <a:avLst/>
          </a:prstGeom>
          <a:noFill/>
          <a:ln/>
        </p:spPr>
        <p:txBody>
          <a:bodyPr wrap="square" lIns="0" tIns="0" rIns="0" bIns="0" rtlCol="0" anchor="t"/>
          <a:lstStyle/>
          <a:p>
            <a:pPr indent="0" marL="0">
              <a:buNone/>
            </a:pPr>
            <a:r>
              <a:rPr lang="en-US" sz="1300" b="1" dirty="0">
                <a:solidFill>
                  <a:schemeClr val="tx2"/>
                </a:solidFill>
              </a:rPr>
              <a:t>Costs are benchmarks</a:t>
            </a:r>
            <a:endParaRPr lang="en-US" sz="1300" dirty="0"/>
          </a:p>
          <a:p>
            <a:pPr indent="0" marL="0">
              <a:buNone/>
            </a:pPr>
            <a:r>
              <a:rPr lang="en-US" sz="1200" dirty="0">
                <a:solidFill>
                  <a:schemeClr val="accent2"/>
                </a:solidFill>
              </a:rPr>
              <a:t>racking alone ranges €80–200 per place</a:t>
            </a:r>
            <a:endParaRPr lang="en-US" sz="1300" dirty="0"/>
          </a:p>
        </p:txBody>
      </p:sp>
      <p:sp>
        <p:nvSpPr>
          <p:cNvPr id="30" name="Shape 28"/>
          <p:cNvSpPr/>
          <p:nvPr/>
        </p:nvSpPr>
        <p:spPr>
          <a:xfrm>
            <a:off x="5120640" y="3968496"/>
            <a:ext cx="118872" cy="118872"/>
          </a:xfrm>
          <a:prstGeom prst="ellipse">
            <a:avLst/>
          </a:prstGeom>
          <a:solidFill>
            <a:schemeClr val="accent1"/>
          </a:solidFill>
          <a:ln/>
        </p:spPr>
      </p:sp>
      <p:sp>
        <p:nvSpPr>
          <p:cNvPr id="31" name="Shape 29"/>
          <p:cNvSpPr/>
          <p:nvPr/>
        </p:nvSpPr>
        <p:spPr>
          <a:xfrm>
            <a:off x="5303520" y="3968496"/>
            <a:ext cx="118872" cy="118872"/>
          </a:xfrm>
          <a:prstGeom prst="ellipse">
            <a:avLst/>
          </a:prstGeom>
          <a:solidFill>
            <a:schemeClr val="accent1"/>
          </a:solidFill>
          <a:ln/>
        </p:spPr>
      </p:sp>
      <p:sp>
        <p:nvSpPr>
          <p:cNvPr id="32" name="Shape 30"/>
          <p:cNvSpPr/>
          <p:nvPr/>
        </p:nvSpPr>
        <p:spPr>
          <a:xfrm>
            <a:off x="5486400" y="3968496"/>
            <a:ext cx="118872" cy="118872"/>
          </a:xfrm>
          <a:prstGeom prst="ellipse">
            <a:avLst/>
          </a:prstGeom>
          <a:solidFill>
            <a:schemeClr val="accent4"/>
          </a:solidFill>
          <a:ln/>
        </p:spPr>
      </p:sp>
      <p:sp>
        <p:nvSpPr>
          <p:cNvPr id="33" name="Text 31"/>
          <p:cNvSpPr txBox="1"/>
          <p:nvPr/>
        </p:nvSpPr>
        <p:spPr>
          <a:xfrm>
            <a:off x="6172200" y="3877056"/>
            <a:ext cx="4069080" cy="713232"/>
          </a:xfrm>
          <a:prstGeom prst="rect">
            <a:avLst/>
          </a:prstGeom>
          <a:noFill/>
          <a:ln/>
        </p:spPr>
        <p:txBody>
          <a:bodyPr wrap="square" lIns="0" tIns="0" rIns="0" bIns="0" rtlCol="0" anchor="t"/>
          <a:lstStyle/>
          <a:p>
            <a:pPr indent="0" marL="0">
              <a:buNone/>
            </a:pPr>
            <a:r>
              <a:rPr lang="en-US" sz="1300" dirty="0">
                <a:solidFill>
                  <a:schemeClr val="tx1"/>
                </a:solidFill>
              </a:rPr>
              <a:t>Quotes for racking, carton flow and the put-to-light wall; lease quote from Jungheinrich</a:t>
            </a:r>
            <a:endParaRPr lang="en-US" sz="1300" dirty="0"/>
          </a:p>
        </p:txBody>
      </p:sp>
      <p:sp>
        <p:nvSpPr>
          <p:cNvPr id="34" name="Shape 32"/>
          <p:cNvSpPr/>
          <p:nvPr/>
        </p:nvSpPr>
        <p:spPr>
          <a:xfrm>
            <a:off x="10378440" y="3941064"/>
            <a:ext cx="118872" cy="118872"/>
          </a:xfrm>
          <a:prstGeom prst="rect">
            <a:avLst/>
          </a:prstGeom>
          <a:solidFill>
            <a:srgbClr val="7C3AED"/>
          </a:solidFill>
          <a:ln/>
        </p:spPr>
      </p:sp>
      <p:sp>
        <p:nvSpPr>
          <p:cNvPr id="35" name="Text 33"/>
          <p:cNvSpPr txBox="1"/>
          <p:nvPr/>
        </p:nvSpPr>
        <p:spPr>
          <a:xfrm>
            <a:off x="10570464" y="3877056"/>
            <a:ext cx="1069848" cy="548640"/>
          </a:xfrm>
          <a:prstGeom prst="rect">
            <a:avLst/>
          </a:prstGeom>
          <a:noFill/>
          <a:ln/>
        </p:spPr>
        <p:txBody>
          <a:bodyPr wrap="square" lIns="0" tIns="0" rIns="0" bIns="0" rtlCol="0" anchor="t"/>
          <a:lstStyle/>
          <a:p>
            <a:pPr indent="0" marL="0">
              <a:buNone/>
            </a:pPr>
            <a:r>
              <a:rPr lang="en-US" sz="1300" b="1" dirty="0">
                <a:solidFill>
                  <a:schemeClr val="tx1"/>
                </a:solidFill>
              </a:rPr>
              <a:t>Rachel</a:t>
            </a:r>
            <a:endParaRPr lang="en-US" sz="1300" dirty="0"/>
          </a:p>
          <a:p>
            <a:pPr indent="0" marL="0">
              <a:buNone/>
            </a:pPr>
            <a:r>
              <a:rPr lang="en-US" sz="1100" dirty="0">
                <a:solidFill>
                  <a:schemeClr val="accent2"/>
                </a:solidFill>
              </a:rPr>
              <a:t>Shipping</a:t>
            </a:r>
            <a:endParaRPr lang="en-US" sz="1300" dirty="0"/>
          </a:p>
        </p:txBody>
      </p:sp>
      <p:sp>
        <p:nvSpPr>
          <p:cNvPr id="36" name="Shape 34"/>
          <p:cNvSpPr/>
          <p:nvPr/>
        </p:nvSpPr>
        <p:spPr>
          <a:xfrm>
            <a:off x="548640" y="4636008"/>
            <a:ext cx="11094415" cy="0"/>
          </a:xfrm>
          <a:prstGeom prst="line">
            <a:avLst/>
          </a:prstGeom>
          <a:noFill/>
          <a:ln w="9525">
            <a:solidFill>
              <a:schemeClr val="accent4"/>
            </a:solidFill>
            <a:prstDash val="solid"/>
          </a:ln>
        </p:spPr>
      </p:sp>
      <p:sp>
        <p:nvSpPr>
          <p:cNvPr id="37" name="Text 35"/>
          <p:cNvSpPr txBox="1"/>
          <p:nvPr/>
        </p:nvSpPr>
        <p:spPr>
          <a:xfrm>
            <a:off x="548640" y="4745736"/>
            <a:ext cx="365760" cy="365760"/>
          </a:xfrm>
          <a:prstGeom prst="rect">
            <a:avLst/>
          </a:prstGeom>
          <a:noFill/>
          <a:ln/>
        </p:spPr>
        <p:txBody>
          <a:bodyPr wrap="square" lIns="0" tIns="0" rIns="0" bIns="0" rtlCol="0" anchor="t"/>
          <a:lstStyle/>
          <a:p>
            <a:pPr indent="0" marL="0">
              <a:buNone/>
            </a:pPr>
            <a:r>
              <a:rPr lang="en-US" sz="1800" b="1" dirty="0">
                <a:solidFill>
                  <a:schemeClr val="accent1"/>
                </a:solidFill>
              </a:rPr>
              <a:t>4</a:t>
            </a:r>
            <a:endParaRPr lang="en-US" sz="1800" dirty="0"/>
          </a:p>
        </p:txBody>
      </p:sp>
      <p:sp>
        <p:nvSpPr>
          <p:cNvPr id="38" name="Text 36"/>
          <p:cNvSpPr txBox="1"/>
          <p:nvPr/>
        </p:nvSpPr>
        <p:spPr>
          <a:xfrm>
            <a:off x="1005840" y="4745736"/>
            <a:ext cx="3977640" cy="713232"/>
          </a:xfrm>
          <a:prstGeom prst="rect">
            <a:avLst/>
          </a:prstGeom>
          <a:noFill/>
          <a:ln/>
        </p:spPr>
        <p:txBody>
          <a:bodyPr wrap="square" lIns="0" tIns="0" rIns="0" bIns="0" rtlCol="0" anchor="t"/>
          <a:lstStyle/>
          <a:p>
            <a:pPr indent="0" marL="0">
              <a:buNone/>
            </a:pPr>
            <a:r>
              <a:rPr lang="en-US" sz="1300" b="1" dirty="0">
                <a:solidFill>
                  <a:schemeClr val="tx2"/>
                </a:solidFill>
              </a:rPr>
              <a:t>Hazard class unconfirmed</a:t>
            </a:r>
            <a:endParaRPr lang="en-US" sz="1300" dirty="0"/>
          </a:p>
          <a:p>
            <a:pPr indent="0" marL="0">
              <a:buNone/>
            </a:pPr>
            <a:r>
              <a:rPr lang="en-US" sz="1200" dirty="0">
                <a:solidFill>
                  <a:schemeClr val="accent2"/>
                </a:solidFill>
              </a:rPr>
              <a:t>138 items, 2,197 loads, 385 t in stock</a:t>
            </a:r>
            <a:endParaRPr lang="en-US" sz="1300" dirty="0"/>
          </a:p>
        </p:txBody>
      </p:sp>
      <p:sp>
        <p:nvSpPr>
          <p:cNvPr id="39" name="Shape 37"/>
          <p:cNvSpPr/>
          <p:nvPr/>
        </p:nvSpPr>
        <p:spPr>
          <a:xfrm>
            <a:off x="5120640" y="4837176"/>
            <a:ext cx="118872" cy="118872"/>
          </a:xfrm>
          <a:prstGeom prst="ellipse">
            <a:avLst/>
          </a:prstGeom>
          <a:solidFill>
            <a:schemeClr val="accent1"/>
          </a:solidFill>
          <a:ln/>
        </p:spPr>
      </p:sp>
      <p:sp>
        <p:nvSpPr>
          <p:cNvPr id="40" name="Shape 38"/>
          <p:cNvSpPr/>
          <p:nvPr/>
        </p:nvSpPr>
        <p:spPr>
          <a:xfrm>
            <a:off x="5303520" y="4837176"/>
            <a:ext cx="118872" cy="118872"/>
          </a:xfrm>
          <a:prstGeom prst="ellipse">
            <a:avLst/>
          </a:prstGeom>
          <a:solidFill>
            <a:schemeClr val="accent1"/>
          </a:solidFill>
          <a:ln/>
        </p:spPr>
      </p:sp>
      <p:sp>
        <p:nvSpPr>
          <p:cNvPr id="41" name="Shape 39"/>
          <p:cNvSpPr/>
          <p:nvPr/>
        </p:nvSpPr>
        <p:spPr>
          <a:xfrm>
            <a:off x="5486400" y="4837176"/>
            <a:ext cx="118872" cy="118872"/>
          </a:xfrm>
          <a:prstGeom prst="ellipse">
            <a:avLst/>
          </a:prstGeom>
          <a:solidFill>
            <a:schemeClr val="accent4"/>
          </a:solidFill>
          <a:ln/>
        </p:spPr>
      </p:sp>
      <p:sp>
        <p:nvSpPr>
          <p:cNvPr id="42" name="Text 40"/>
          <p:cNvSpPr txBox="1"/>
          <p:nvPr/>
        </p:nvSpPr>
        <p:spPr>
          <a:xfrm>
            <a:off x="6172200" y="4745736"/>
            <a:ext cx="4069080" cy="713232"/>
          </a:xfrm>
          <a:prstGeom prst="rect">
            <a:avLst/>
          </a:prstGeom>
          <a:noFill/>
          <a:ln/>
        </p:spPr>
        <p:txBody>
          <a:bodyPr wrap="square" lIns="0" tIns="0" rIns="0" bIns="0" rtlCol="0" anchor="t"/>
          <a:lstStyle/>
          <a:p>
            <a:pPr indent="0" marL="0">
              <a:buNone/>
            </a:pPr>
            <a:r>
              <a:rPr lang="en-US" sz="1300" dirty="0">
                <a:solidFill>
                  <a:schemeClr val="tx1"/>
                </a:solidFill>
              </a:rPr>
              <a:t>Ask Assa Abloy for UN numbers and safety data sheets; size the hazmat section</a:t>
            </a:r>
            <a:endParaRPr lang="en-US" sz="1300" dirty="0"/>
          </a:p>
        </p:txBody>
      </p:sp>
      <p:sp>
        <p:nvSpPr>
          <p:cNvPr id="43" name="Shape 41"/>
          <p:cNvSpPr/>
          <p:nvPr/>
        </p:nvSpPr>
        <p:spPr>
          <a:xfrm>
            <a:off x="10378440" y="4809744"/>
            <a:ext cx="118872" cy="118872"/>
          </a:xfrm>
          <a:prstGeom prst="rect">
            <a:avLst/>
          </a:prstGeom>
          <a:solidFill>
            <a:srgbClr val="C2410C"/>
          </a:solidFill>
          <a:ln/>
        </p:spPr>
      </p:sp>
      <p:sp>
        <p:nvSpPr>
          <p:cNvPr id="44" name="Text 42"/>
          <p:cNvSpPr txBox="1"/>
          <p:nvPr/>
        </p:nvSpPr>
        <p:spPr>
          <a:xfrm>
            <a:off x="10570464" y="4745736"/>
            <a:ext cx="1069848" cy="548640"/>
          </a:xfrm>
          <a:prstGeom prst="rect">
            <a:avLst/>
          </a:prstGeom>
          <a:noFill/>
          <a:ln/>
        </p:spPr>
        <p:txBody>
          <a:bodyPr wrap="square" lIns="0" tIns="0" rIns="0" bIns="0" rtlCol="0" anchor="t"/>
          <a:lstStyle/>
          <a:p>
            <a:pPr indent="0" marL="0">
              <a:buNone/>
            </a:pPr>
            <a:r>
              <a:rPr lang="en-US" sz="1300" b="1" dirty="0">
                <a:solidFill>
                  <a:schemeClr val="tx1"/>
                </a:solidFill>
              </a:rPr>
              <a:t>Vidhi</a:t>
            </a:r>
            <a:endParaRPr lang="en-US" sz="1300" dirty="0"/>
          </a:p>
          <a:p>
            <a:pPr indent="0" marL="0">
              <a:buNone/>
            </a:pPr>
            <a:r>
              <a:rPr lang="en-US" sz="1100" dirty="0">
                <a:solidFill>
                  <a:schemeClr val="accent2"/>
                </a:solidFill>
              </a:rPr>
              <a:t>Receiving</a:t>
            </a:r>
            <a:endParaRPr lang="en-US" sz="1300" dirty="0"/>
          </a:p>
        </p:txBody>
      </p:sp>
      <p:sp>
        <p:nvSpPr>
          <p:cNvPr id="45" name="Shape 43"/>
          <p:cNvSpPr/>
          <p:nvPr/>
        </p:nvSpPr>
        <p:spPr>
          <a:xfrm>
            <a:off x="548640" y="5504688"/>
            <a:ext cx="11094415" cy="0"/>
          </a:xfrm>
          <a:prstGeom prst="line">
            <a:avLst/>
          </a:prstGeom>
          <a:noFill/>
          <a:ln w="9525">
            <a:solidFill>
              <a:schemeClr val="accent4"/>
            </a:solidFill>
            <a:prstDash val="solid"/>
          </a:ln>
        </p:spPr>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PLANNING AND CONTROL</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Planning and control: one day plan links the four processes, and each owner checks their KPIs every day</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Deliverable 2 §7 (planning and control per process)</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737360"/>
                <a:gridCol w="3840480"/>
                <a:gridCol w="3840480"/>
                <a:gridCol w="1676095"/>
              </a:tblGrid>
              <a:tr h="329184">
                <a:tc>
                  <a:txBody>
                    <a:bodyPr/>
                    <a:lstStyle/>
                    <a:p>
                      <a:pPr algn="l" indent="0" marL="0">
                        <a:buNone/>
                      </a:pPr>
                      <a:r>
                        <a:rPr lang="en-US" sz="1100" b="1" dirty="0">
                          <a:solidFill>
                            <a:schemeClr val="accent2"/>
                          </a:solidFill>
                        </a:rPr>
                        <a:t>Process (owner)</a:t>
                      </a:r>
                      <a:endParaRPr lang="en-US" sz="1100" dirty="0"/>
                    </a:p>
                  </a:txBody>
                  <a:tcPr marL="73152" marR="73152" marT="45720" marB="4572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chemeClr val="accent2"/>
                          </a:solidFill>
                        </a:rPr>
                        <a:t>Planned ahead</a:t>
                      </a:r>
                      <a:endParaRPr lang="en-US" sz="1100" dirty="0"/>
                    </a:p>
                  </a:txBody>
                  <a:tcPr marL="73152" marR="73152" marT="45720" marB="4572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chemeClr val="accent2"/>
                          </a:solidFill>
                        </a:rPr>
                        <a:t>Controlled during the day</a:t>
                      </a:r>
                      <a:endParaRPr lang="en-US" sz="1100" dirty="0"/>
                    </a:p>
                  </a:txBody>
                  <a:tcPr marL="73152" marR="73152" marT="45720" marB="4572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chemeClr val="accent2"/>
                          </a:solidFill>
                        </a:rPr>
                        <a:t>KPIs</a:t>
                      </a:r>
                      <a:endParaRPr lang="en-US" sz="1100" dirty="0"/>
                    </a:p>
                  </a:txBody>
                  <a:tcPr marL="73152" marR="73152" marT="45720" marB="4572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713232">
                <a:tc>
                  <a:txBody>
                    <a:bodyPr/>
                    <a:lstStyle/>
                    <a:p>
                      <a:pPr indent="0" marL="0">
                        <a:buNone/>
                      </a:pPr>
                      <a:r>
                        <a:rPr lang="en-US" sz="1200" b="1" dirty="0">
                          <a:solidFill>
                            <a:schemeClr val="tx2"/>
                          </a:solidFill>
                        </a:rPr>
                        <a:t>Receiving</a:t>
                      </a:r>
                      <a:endParaRPr lang="en-US" sz="1200" dirty="0"/>
                    </a:p>
                    <a:p>
                      <a:pPr indent="0" marL="0">
                        <a:buNone/>
                      </a:pPr>
                      <a:r>
                        <a:rPr lang="en-US" sz="1200" dirty="0">
                          <a:solidFill>
                            <a:schemeClr val="accent2"/>
                          </a:solidFill>
                        </a:rPr>
                        <a:t>Vidhi</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a time slot for every delivery from the advance shipping notice; containers booked on R1 in the morning</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late or early arrivals re-booked into the next free slot</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dock-to-stock, container door time</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713232">
                <a:tc>
                  <a:txBody>
                    <a:bodyPr/>
                    <a:lstStyle/>
                    <a:p>
                      <a:pPr indent="0" marL="0">
                        <a:buNone/>
                      </a:pPr>
                      <a:r>
                        <a:rPr lang="en-US" sz="1200" b="1" dirty="0">
                          <a:solidFill>
                            <a:schemeClr val="tx2"/>
                          </a:solidFill>
                        </a:rPr>
                        <a:t>Storage</a:t>
                      </a:r>
                      <a:endParaRPr lang="en-US" sz="1200" dirty="0"/>
                    </a:p>
                    <a:p>
                      <a:pPr indent="0" marL="0">
                        <a:buNone/>
                      </a:pPr>
                      <a:r>
                        <a:rPr lang="en-US" sz="1200" dirty="0">
                          <a:solidFill>
                            <a:schemeClr val="accent2"/>
                          </a:solidFill>
                        </a:rPr>
                        <a:t>Gleb</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system-directed putaway; min/max refills between the waves; re-slotting every month</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cycle counts (A monthly, B quarterly, C yearly); occupancy each month, 12th module ordered at 90%</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rack fill, storage headroom</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713232">
                <a:tc>
                  <a:txBody>
                    <a:bodyPr/>
                    <a:lstStyle/>
                    <a:p>
                      <a:pPr indent="0" marL="0">
                        <a:buNone/>
                      </a:pPr>
                      <a:r>
                        <a:rPr lang="en-US" sz="1200" b="1" dirty="0">
                          <a:solidFill>
                            <a:schemeClr val="tx2"/>
                          </a:solidFill>
                        </a:rPr>
                        <a:t>Picking</a:t>
                      </a:r>
                      <a:endParaRPr lang="en-US" sz="1200" dirty="0"/>
                    </a:p>
                    <a:p>
                      <a:pPr indent="0" marL="0">
                        <a:buNone/>
                      </a:pPr>
                      <a:r>
                        <a:rPr lang="en-US" sz="1200" dirty="0">
                          <a:solidFill>
                            <a:schemeClr val="accent2"/>
                          </a:solidFill>
                        </a:rPr>
                        <a:t>Arnau</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three waves planned back from the departures; pickers per wave = lines ÷ pick rate</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lines picked against plan per hour; the wall releases only complete, correct orders</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pick rate, accuracy, picker-hours</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713232">
                <a:tc>
                  <a:txBody>
                    <a:bodyPr/>
                    <a:lstStyle/>
                    <a:p>
                      <a:pPr indent="0" marL="0">
                        <a:buNone/>
                      </a:pPr>
                      <a:r>
                        <a:rPr lang="en-US" sz="1200" b="1" dirty="0">
                          <a:solidFill>
                            <a:schemeClr val="tx2"/>
                          </a:solidFill>
                        </a:rPr>
                        <a:t>Shipping</a:t>
                      </a:r>
                      <a:endParaRPr lang="en-US" sz="1200" dirty="0"/>
                    </a:p>
                    <a:p>
                      <a:pPr indent="0" marL="0">
                        <a:buNone/>
                      </a:pPr>
                      <a:r>
                        <a:rPr lang="en-US" sz="1200" dirty="0">
                          <a:solidFill>
                            <a:schemeClr val="accent2"/>
                          </a:solidFill>
                        </a:rPr>
                        <a:t>Rachel</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14 fixed trailer slots; pack and stage in departure order</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checked after each departure; a missed slot moves to the carrier's next slot</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accent2"/>
                          </a:solidFill>
                        </a:rPr>
                        <a:t>on-time shipment, orders within 24 h</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bl>
          </a:graphicData>
        </a:graphic>
      </p:graphicFrame>
      <p:sp>
        <p:nvSpPr>
          <p:cNvPr id="6" name="Text 3"/>
          <p:cNvSpPr txBox="1"/>
          <p:nvPr/>
        </p:nvSpPr>
        <p:spPr>
          <a:xfrm>
            <a:off x="548640" y="4983480"/>
            <a:ext cx="4572000" cy="228600"/>
          </a:xfrm>
          <a:prstGeom prst="rect">
            <a:avLst/>
          </a:prstGeom>
          <a:noFill/>
          <a:ln/>
        </p:spPr>
        <p:txBody>
          <a:bodyPr wrap="square" lIns="0" tIns="0" rIns="0" bIns="0" rtlCol="0" anchor="t"/>
          <a:lstStyle/>
          <a:p>
            <a:pPr indent="0" marL="0">
              <a:buNone/>
            </a:pPr>
            <a:r>
              <a:rPr lang="en-US" sz="1000" b="1" spc="100" kern="0" dirty="0">
                <a:solidFill>
                  <a:schemeClr val="accent2"/>
                </a:solidFill>
              </a:rPr>
              <a:t>THE CONTROL LOOP</a:t>
            </a:r>
            <a:endParaRPr lang="en-US" sz="1000" dirty="0"/>
          </a:p>
        </p:txBody>
      </p:sp>
      <p:sp>
        <p:nvSpPr>
          <p:cNvPr id="7" name="Text 4"/>
          <p:cNvSpPr/>
          <p:nvPr/>
        </p:nvSpPr>
        <p:spPr>
          <a:xfrm>
            <a:off x="548640" y="5257800"/>
            <a:ext cx="2855900" cy="502920"/>
          </a:xfrm>
          <a:prstGeom prst="homePlate">
            <a:avLst/>
          </a:prstGeom>
          <a:solidFill>
            <a:schemeClr val="accent6"/>
          </a:solidFill>
          <a:ln/>
        </p:spPr>
        <p:txBody>
          <a:bodyPr wrap="square" lIns="228600" tIns="0" rIns="228600" bIns="0" rtlCol="0" anchor="ctr"/>
          <a:lstStyle/>
          <a:p>
            <a:pPr algn="ctr" indent="0" marL="0">
              <a:buNone/>
            </a:pPr>
            <a:r>
              <a:rPr lang="en-US" sz="1200" b="1" dirty="0">
                <a:solidFill>
                  <a:schemeClr val="tx1"/>
                </a:solidFill>
              </a:rPr>
              <a:t>Measure: scans in the WMS</a:t>
            </a:r>
            <a:endParaRPr lang="en-US" sz="1200" dirty="0"/>
          </a:p>
        </p:txBody>
      </p:sp>
      <p:sp>
        <p:nvSpPr>
          <p:cNvPr id="8" name="Text 5"/>
          <p:cNvSpPr/>
          <p:nvPr/>
        </p:nvSpPr>
        <p:spPr>
          <a:xfrm>
            <a:off x="3294812" y="5257800"/>
            <a:ext cx="2855900" cy="502920"/>
          </a:xfrm>
          <a:prstGeom prst="chevron">
            <a:avLst/>
          </a:prstGeom>
          <a:solidFill>
            <a:schemeClr val="accent6"/>
          </a:solidFill>
          <a:ln/>
        </p:spPr>
        <p:txBody>
          <a:bodyPr wrap="square" lIns="228600" tIns="0" rIns="228600" bIns="0" rtlCol="0" anchor="ctr"/>
          <a:lstStyle/>
          <a:p>
            <a:pPr algn="ctr" indent="0" marL="0">
              <a:buNone/>
            </a:pPr>
            <a:r>
              <a:rPr lang="en-US" sz="1200" b="1" dirty="0">
                <a:solidFill>
                  <a:schemeClr val="tx1"/>
                </a:solidFill>
              </a:rPr>
              <a:t>Compare with the target</a:t>
            </a:r>
            <a:endParaRPr lang="en-US" sz="1200" dirty="0"/>
          </a:p>
        </p:txBody>
      </p:sp>
      <p:sp>
        <p:nvSpPr>
          <p:cNvPr id="9" name="Text 6"/>
          <p:cNvSpPr/>
          <p:nvPr/>
        </p:nvSpPr>
        <p:spPr>
          <a:xfrm>
            <a:off x="6040984" y="5257800"/>
            <a:ext cx="2855900" cy="502920"/>
          </a:xfrm>
          <a:prstGeom prst="chevron">
            <a:avLst/>
          </a:prstGeom>
          <a:solidFill>
            <a:schemeClr val="accent6"/>
          </a:solidFill>
          <a:ln/>
        </p:spPr>
        <p:txBody>
          <a:bodyPr wrap="square" lIns="228600" tIns="0" rIns="228600" bIns="0" rtlCol="0" anchor="ctr"/>
          <a:lstStyle/>
          <a:p>
            <a:pPr algn="ctr" indent="0" marL="0">
              <a:buNone/>
            </a:pPr>
            <a:r>
              <a:rPr lang="en-US" sz="1200" b="1" dirty="0">
                <a:solidFill>
                  <a:schemeClr val="tx1"/>
                </a:solidFill>
              </a:rPr>
              <a:t>Act: re-plan or re-slot</a:t>
            </a:r>
            <a:endParaRPr lang="en-US" sz="1200" dirty="0"/>
          </a:p>
        </p:txBody>
      </p:sp>
      <p:sp>
        <p:nvSpPr>
          <p:cNvPr id="10" name="Text 7"/>
          <p:cNvSpPr/>
          <p:nvPr/>
        </p:nvSpPr>
        <p:spPr>
          <a:xfrm>
            <a:off x="8787155" y="5257800"/>
            <a:ext cx="2855900" cy="502920"/>
          </a:xfrm>
          <a:prstGeom prst="chevron">
            <a:avLst/>
          </a:prstGeom>
          <a:solidFill>
            <a:schemeClr val="accent6"/>
          </a:solidFill>
          <a:ln/>
        </p:spPr>
        <p:txBody>
          <a:bodyPr wrap="square" lIns="228600" tIns="0" rIns="228600" bIns="0" rtlCol="0" anchor="ctr"/>
          <a:lstStyle/>
          <a:p>
            <a:pPr algn="ctr" indent="0" marL="0">
              <a:buNone/>
            </a:pPr>
            <a:r>
              <a:rPr lang="en-US" sz="1200" b="1" dirty="0">
                <a:solidFill>
                  <a:schemeClr val="tx1"/>
                </a:solidFill>
              </a:rPr>
              <a:t>Check: KPI back on target</a:t>
            </a:r>
            <a:endParaRPr lang="en-US" sz="1200" dirty="0"/>
          </a:p>
        </p:txBody>
      </p:sp>
      <p:sp>
        <p:nvSpPr>
          <p:cNvPr id="11" name="Text 8"/>
          <p:cNvSpPr txBox="1"/>
          <p:nvPr/>
        </p:nvSpPr>
        <p:spPr>
          <a:xfrm>
            <a:off x="548640" y="5870448"/>
            <a:ext cx="11094415" cy="274320"/>
          </a:xfrm>
          <a:prstGeom prst="rect">
            <a:avLst/>
          </a:prstGeom>
          <a:noFill/>
          <a:ln/>
        </p:spPr>
        <p:txBody>
          <a:bodyPr wrap="square" lIns="0" tIns="0" rIns="0" bIns="0" rtlCol="0" anchor="t"/>
          <a:lstStyle/>
          <a:p>
            <a:pPr indent="0" marL="0">
              <a:buNone/>
            </a:pPr>
            <a:r>
              <a:rPr lang="en-US" sz="1100" dirty="0">
                <a:solidFill>
                  <a:schemeClr val="accent2"/>
                </a:solidFill>
              </a:rPr>
              <a:t>Every day: start-of-day meeting of the four owners  ·  every week: KPI review with DHL  ·  every month: review with Assa Abloy</a:t>
            </a:r>
            <a:endParaRPr lang="en-US" sz="11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EQUIPMENT</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Equipment: the fleet covers the peak day; at double volume the 5 outbound doors, not the trucks, become the limit</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Source: Deliverable 2 §5 and Deliverable 3 stress test; equipment data (Jungheinrich, n.d.-a, n.d.-b, 2019)</a:t>
            </a:r>
            <a:endParaRPr lang="en-US" sz="900" dirty="0"/>
          </a:p>
        </p:txBody>
      </p:sp>
      <p:sp>
        <p:nvSpPr>
          <p:cNvPr id="5" name="Text 3"/>
          <p:cNvSpPr txBox="1"/>
          <p:nvPr/>
        </p:nvSpPr>
        <p:spPr>
          <a:xfrm>
            <a:off x="548640" y="1737360"/>
            <a:ext cx="5486400" cy="274320"/>
          </a:xfrm>
          <a:prstGeom prst="rect">
            <a:avLst/>
          </a:prstGeom>
          <a:noFill/>
          <a:ln/>
        </p:spPr>
        <p:txBody>
          <a:bodyPr wrap="square" lIns="0" tIns="0" rIns="0" bIns="0" rtlCol="0" anchor="t"/>
          <a:lstStyle/>
          <a:p>
            <a:pPr indent="0" marL="0">
              <a:buNone/>
            </a:pPr>
            <a:r>
              <a:rPr lang="en-US" sz="1300" b="1" dirty="0">
                <a:solidFill>
                  <a:schemeClr val="tx2"/>
                </a:solidFill>
              </a:rPr>
              <a:t>Equipment plan</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035040" cy="914400"/>
        </p:xfrm>
        <a:graphic>
          <a:graphicData uri="http://schemas.openxmlformats.org/drawingml/2006/table">
            <a:tbl>
              <a:tblPr/>
              <a:tblGrid>
                <a:gridCol w="1783080"/>
                <a:gridCol w="2697480"/>
                <a:gridCol w="640080"/>
                <a:gridCol w="914400"/>
              </a:tblGrid>
              <a:tr h="0">
                <a:tc>
                  <a:txBody>
                    <a:bodyPr/>
                    <a:lstStyle/>
                    <a:p>
                      <a:pPr algn="l" indent="0" marL="0">
                        <a:buNone/>
                      </a:pPr>
                      <a:r>
                        <a:rPr lang="en-US" sz="1100" b="1" dirty="0">
                          <a:solidFill>
                            <a:schemeClr val="accent2"/>
                          </a:solidFill>
                        </a:rPr>
                        <a:t>Equipment</a:t>
                      </a:r>
                      <a:endParaRPr lang="en-US" sz="1100" dirty="0"/>
                    </a:p>
                  </a:txBody>
                  <a:tcPr marL="73152" marR="73152" marT="45720" marB="4572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l" indent="0" marL="0">
                        <a:buNone/>
                      </a:pPr>
                      <a:r>
                        <a:rPr lang="en-US" sz="1100" b="1" dirty="0">
                          <a:solidFill>
                            <a:schemeClr val="accent2"/>
                          </a:solidFill>
                        </a:rPr>
                        <a:t>Task</a:t>
                      </a:r>
                      <a:endParaRPr lang="en-US" sz="1100" dirty="0"/>
                    </a:p>
                  </a:txBody>
                  <a:tcPr marL="73152" marR="73152" marT="45720" marB="4572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ctr" indent="0" marL="0">
                        <a:buNone/>
                      </a:pPr>
                      <a:r>
                        <a:rPr lang="en-US" sz="1100" b="1" dirty="0">
                          <a:solidFill>
                            <a:schemeClr val="accent2"/>
                          </a:solidFill>
                        </a:rPr>
                        <a:t>Units</a:t>
                      </a:r>
                      <a:endParaRPr lang="en-US" sz="1100" dirty="0"/>
                    </a:p>
                  </a:txBody>
                  <a:tcPr marL="73152" marR="73152" marT="45720" marB="4572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ctr" indent="0" marL="0">
                        <a:buNone/>
                      </a:pPr>
                      <a:r>
                        <a:rPr lang="en-US" sz="1100" b="1" dirty="0">
                          <a:solidFill>
                            <a:schemeClr val="accent2"/>
                          </a:solidFill>
                        </a:rPr>
                        <a:t>Busy, avg day</a:t>
                      </a:r>
                      <a:endParaRPr lang="en-US" sz="1100" dirty="0"/>
                    </a:p>
                  </a:txBody>
                  <a:tcPr marL="73152" marR="73152" marT="45720" marB="4572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0">
                <a:tc>
                  <a:txBody>
                    <a:bodyPr/>
                    <a:lstStyle/>
                    <a:p>
                      <a:pPr indent="0" marL="0">
                        <a:buNone/>
                      </a:pPr>
                      <a:r>
                        <a:rPr lang="en-US" sz="1200" b="1" dirty="0">
                          <a:solidFill>
                            <a:schemeClr val="tx1"/>
                          </a:solidFill>
                        </a:rPr>
                        <a:t>ETV 216i</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Putaway + replenishment + full-pallet picks</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2</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33%</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200" b="1" dirty="0">
                          <a:solidFill>
                            <a:schemeClr val="tx1"/>
                          </a:solidFill>
                        </a:rPr>
                        <a:t>EJE 120i</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Large orders: pick-to-pallet (one order per pallet)</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3</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31%</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200" b="1" dirty="0">
                          <a:solidFill>
                            <a:schemeClr val="tx1"/>
                          </a:solidFill>
                        </a:rPr>
                        <a:t>ERE 225</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Unload trailers/containers, load outbound, dock moves</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2</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14%</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200" b="1" dirty="0">
                          <a:solidFill>
                            <a:schemeClr val="tx1"/>
                          </a:solidFill>
                        </a:rPr>
                        <a:t>Pick trolley (3-tier, 6 totes) + totes</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Small orders: zone batch picking, sorted at the put-wall</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6</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a:t>
                      </a:r>
                      <a:endParaRPr lang="en-US" sz="1200" dirty="0"/>
                    </a:p>
                  </a:txBody>
                  <a:tcPr marL="73152" marR="73152"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bl>
          </a:graphicData>
        </a:graphic>
      </p:graphicFrame>
      <p:sp>
        <p:nvSpPr>
          <p:cNvPr id="7" name="Text 4"/>
          <p:cNvSpPr txBox="1"/>
          <p:nvPr/>
        </p:nvSpPr>
        <p:spPr>
          <a:xfrm>
            <a:off x="548640" y="4343400"/>
            <a:ext cx="6035040" cy="548640"/>
          </a:xfrm>
          <a:prstGeom prst="rect">
            <a:avLst/>
          </a:prstGeom>
          <a:noFill/>
          <a:ln/>
        </p:spPr>
        <p:txBody>
          <a:bodyPr wrap="square" lIns="0" tIns="0" rIns="0" bIns="0" rtlCol="0" anchor="t"/>
          <a:lstStyle/>
          <a:p>
            <a:pPr indent="0" marL="0">
              <a:buNone/>
            </a:pPr>
            <a:r>
              <a:rPr lang="en-US" sz="1100" dirty="0">
                <a:solidFill>
                  <a:schemeClr val="accent2"/>
                </a:solidFill>
              </a:rPr>
              <a:t>Units = recommended fleet, sized for the peak day: peak equipment-hours ÷ (7.5 h × 80% use). Busy = equipment-hours ÷ available hours on an average day.</a:t>
            </a:r>
            <a:endParaRPr lang="en-US" sz="1100" dirty="0"/>
          </a:p>
        </p:txBody>
      </p:sp>
      <p:sp>
        <p:nvSpPr>
          <p:cNvPr id="8" name="Text 5"/>
          <p:cNvSpPr txBox="1"/>
          <p:nvPr/>
        </p:nvSpPr>
        <p:spPr>
          <a:xfrm>
            <a:off x="6949440" y="1737360"/>
            <a:ext cx="4693615" cy="274320"/>
          </a:xfrm>
          <a:prstGeom prst="rect">
            <a:avLst/>
          </a:prstGeom>
          <a:noFill/>
          <a:ln/>
        </p:spPr>
        <p:txBody>
          <a:bodyPr wrap="square" lIns="0" tIns="0" rIns="0" bIns="0" rtlCol="0" anchor="t"/>
          <a:lstStyle/>
          <a:p>
            <a:pPr indent="0" marL="0">
              <a:buNone/>
            </a:pPr>
            <a:r>
              <a:rPr lang="en-US" sz="1300" b="1" dirty="0">
                <a:solidFill>
                  <a:schemeClr val="tx2"/>
                </a:solidFill>
              </a:rPr>
              <a:t>Stress test: what more volume needs</a:t>
            </a:r>
            <a:endParaRPr lang="en-US" sz="1300" dirty="0"/>
          </a:p>
        </p:txBody>
      </p:sp>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6949440" y="2103120"/>
          <a:ext cx="4693615" cy="914400"/>
        </p:xfrm>
        <a:graphic>
          <a:graphicData uri="http://schemas.openxmlformats.org/drawingml/2006/table">
            <a:tbl>
              <a:tblPr/>
              <a:tblGrid>
                <a:gridCol w="868680"/>
                <a:gridCol w="1051560"/>
                <a:gridCol w="914400"/>
                <a:gridCol w="914400"/>
                <a:gridCol w="944575"/>
              </a:tblGrid>
              <a:tr h="0">
                <a:tc>
                  <a:txBody>
                    <a:bodyPr/>
                    <a:lstStyle/>
                    <a:p>
                      <a:pPr algn="l" indent="0" marL="0">
                        <a:buNone/>
                      </a:pPr>
                      <a:r>
                        <a:rPr lang="en-US" sz="1100" b="1" dirty="0">
                          <a:solidFill>
                            <a:schemeClr val="accent2"/>
                          </a:solidFill>
                        </a:rPr>
                        <a:t>Volume</a:t>
                      </a:r>
                      <a:endParaRPr lang="en-US" sz="1100" dirty="0"/>
                    </a:p>
                  </a:txBody>
                  <a:tcPr marL="54864" marR="54864" marT="45720" marB="4572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ctr" indent="0" marL="0">
                        <a:buNone/>
                      </a:pPr>
                      <a:r>
                        <a:rPr lang="en-US" sz="1100" b="1" dirty="0">
                          <a:solidFill>
                            <a:schemeClr val="accent2"/>
                          </a:solidFill>
                        </a:rPr>
                        <a:t>Staff (peak FTE)</a:t>
                      </a:r>
                      <a:endParaRPr lang="en-US" sz="1100" dirty="0"/>
                    </a:p>
                  </a:txBody>
                  <a:tcPr marL="54864" marR="54864" marT="45720" marB="4572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ctr" indent="0" marL="0">
                        <a:buNone/>
                      </a:pPr>
                      <a:r>
                        <a:rPr lang="en-US" sz="1100" b="1" dirty="0">
                          <a:solidFill>
                            <a:schemeClr val="accent2"/>
                          </a:solidFill>
                        </a:rPr>
                        <a:t>Reach trucks</a:t>
                      </a:r>
                      <a:endParaRPr lang="en-US" sz="1100" dirty="0"/>
                    </a:p>
                  </a:txBody>
                  <a:tcPr marL="54864" marR="54864" marT="45720" marB="4572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ctr" indent="0" marL="0">
                        <a:buNone/>
                      </a:pPr>
                      <a:r>
                        <a:rPr lang="en-US" sz="1100" b="1" dirty="0">
                          <a:solidFill>
                            <a:schemeClr val="accent2"/>
                          </a:solidFill>
                        </a:rPr>
                        <a:t>Pallet trucks</a:t>
                      </a:r>
                      <a:endParaRPr lang="en-US" sz="1100" dirty="0"/>
                    </a:p>
                  </a:txBody>
                  <a:tcPr marL="54864" marR="54864" marT="45720" marB="4572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ctr" indent="0" marL="0">
                        <a:buNone/>
                      </a:pPr>
                      <a:r>
                        <a:rPr lang="en-US" sz="1100" b="1" dirty="0">
                          <a:solidFill>
                            <a:schemeClr val="accent2"/>
                          </a:solidFill>
                        </a:rPr>
                        <a:t>Out doors</a:t>
                      </a:r>
                      <a:endParaRPr lang="en-US" sz="1100" dirty="0"/>
                    </a:p>
                  </a:txBody>
                  <a:tcPr marL="54864" marR="54864" marT="45720" marB="4572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0">
                <a:tc>
                  <a:txBody>
                    <a:bodyPr/>
                    <a:lstStyle/>
                    <a:p>
                      <a:pPr indent="0" marL="0">
                        <a:buNone/>
                      </a:pPr>
                      <a:r>
                        <a:rPr lang="en-US" sz="1200" b="1" dirty="0">
                          <a:solidFill>
                            <a:schemeClr val="tx1"/>
                          </a:solidFill>
                        </a:rPr>
                        <a:t>100%</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8.7</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2</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3</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4</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200" b="1" dirty="0">
                          <a:solidFill>
                            <a:schemeClr val="tx1"/>
                          </a:solidFill>
                        </a:rPr>
                        <a:t>150%</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13.1</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3</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4</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5</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200" b="1" dirty="0">
                          <a:solidFill>
                            <a:schemeClr val="tx1"/>
                          </a:solidFill>
                        </a:rPr>
                        <a:t>200%</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17.5</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4</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5</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chemeClr val="accent1"/>
                          </a:solidFill>
                        </a:rPr>
                        <a:t>7</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0">
                <a:tc>
                  <a:txBody>
                    <a:bodyPr/>
                    <a:lstStyle/>
                    <a:p>
                      <a:pPr indent="0" marL="0">
                        <a:buNone/>
                      </a:pPr>
                      <a:r>
                        <a:rPr lang="en-US" sz="1200" b="1" dirty="0">
                          <a:solidFill>
                            <a:schemeClr val="tx1"/>
                          </a:solidFill>
                        </a:rPr>
                        <a:t>250%</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21.8</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4</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6</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chemeClr val="accent1"/>
                          </a:solidFill>
                        </a:rPr>
                        <a:t>8</a:t>
                      </a:r>
                      <a:endParaRPr lang="en-US" sz="1200" dirty="0"/>
                    </a:p>
                  </a:txBody>
                  <a:tcPr marL="54864" marR="54864" marT="45720" marB="45720" anchor="t">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bl>
          </a:graphicData>
        </a:graphic>
      </p:graphicFrame>
      <p:sp>
        <p:nvSpPr>
          <p:cNvPr id="10" name="Text 6"/>
          <p:cNvSpPr txBox="1"/>
          <p:nvPr/>
        </p:nvSpPr>
        <p:spPr>
          <a:xfrm>
            <a:off x="6949440" y="3977640"/>
            <a:ext cx="4693615" cy="548640"/>
          </a:xfrm>
          <a:prstGeom prst="rect">
            <a:avLst/>
          </a:prstGeom>
          <a:noFill/>
          <a:ln/>
        </p:spPr>
        <p:txBody>
          <a:bodyPr wrap="square" lIns="0" tIns="0" rIns="0" bIns="0" rtlCol="0" anchor="t"/>
          <a:lstStyle/>
          <a:p>
            <a:pPr indent="0" marL="0">
              <a:buNone/>
            </a:pPr>
            <a:r>
              <a:rPr lang="en-US" sz="1100" dirty="0">
                <a:solidFill>
                  <a:schemeClr val="accent2"/>
                </a:solidFill>
              </a:rPr>
              <a:t>Every number in the table = today's peak-day need × the volume factor, rounded up. The design has 5 outbound doors; above that, more time slots spread the trailers over the day.</a:t>
            </a:r>
            <a:endParaRPr lang="en-US" sz="11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138160" cy="256032"/>
          </a:xfrm>
          <a:prstGeom prst="rect">
            <a:avLst/>
          </a:prstGeom>
          <a:noFill/>
          <a:ln/>
        </p:spPr>
        <p:txBody>
          <a:bodyPr wrap="square" lIns="0" tIns="0" rIns="0" bIns="0" rtlCol="0" anchor="ctr"/>
          <a:lstStyle/>
          <a:p>
            <a:pPr indent="0" marL="0">
              <a:buNone/>
            </a:pPr>
            <a:r>
              <a:rPr lang="en-US" sz="900" b="1" spc="100" kern="0" dirty="0">
                <a:solidFill>
                  <a:schemeClr val="accent1"/>
                </a:solidFill>
              </a:rPr>
              <a:t>SOURCES</a:t>
            </a:r>
            <a:endParaRPr lang="en-US" sz="900" dirty="0"/>
          </a:p>
        </p:txBody>
      </p:sp>
      <p:sp>
        <p:nvSpPr>
          <p:cNvPr id="3" name="Text 0"/>
          <p:cNvSpPr/>
          <p:nvPr>
            <p:ph idx="101" type="title" hasCustomPrompt="1"/>
          </p:nvPr>
        </p:nvSpPr>
        <p:spPr>
          <a:xfrm>
            <a:off x="548640" y="603504"/>
            <a:ext cx="11094415" cy="960120"/>
          </a:xfrm>
          <a:prstGeom prst="rect">
            <a:avLst/>
          </a:prstGeom>
          <a:noFill/>
          <a:ln/>
        </p:spPr>
        <p:txBody>
          <a:bodyPr wrap="square" lIns="0" tIns="0" rIns="0" bIns="0" rtlCol="0" anchor="t"/>
          <a:lstStyle/>
          <a:p>
            <a:pPr algn="l" indent="0" marL="0">
              <a:buNone/>
            </a:pPr>
            <a:r>
              <a:rPr lang="en-US" sz="2000" b="1" dirty="0">
                <a:solidFill>
                  <a:schemeClr val="tx2"/>
                </a:solidFill>
              </a:rPr>
              <a:t>Sources</a:t>
            </a:r>
            <a:endParaRPr lang="en-US" sz="2000" dirty="0"/>
          </a:p>
        </p:txBody>
      </p:sp>
      <p:sp>
        <p:nvSpPr>
          <p:cNvPr id="4" name="Text 0"/>
          <p:cNvSpPr/>
          <p:nvPr>
            <p:ph idx="102" type="body" hasCustomPrompt="1"/>
          </p:nvPr>
        </p:nvSpPr>
        <p:spPr>
          <a:xfrm>
            <a:off x="548640" y="6400800"/>
            <a:ext cx="7589520" cy="365760"/>
          </a:xfrm>
          <a:prstGeom prst="rect">
            <a:avLst/>
          </a:prstGeom>
          <a:noFill/>
          <a:ln/>
        </p:spPr>
        <p:txBody>
          <a:bodyPr wrap="square" lIns="0" tIns="0" rIns="0" bIns="0" rtlCol="0" anchor="t"/>
          <a:lstStyle/>
          <a:p>
            <a:pPr indent="0" marL="0">
              <a:buNone/>
            </a:pPr>
            <a:r>
              <a:rPr lang="en-US" sz="900" dirty="0">
                <a:solidFill>
                  <a:schemeClr val="accent2"/>
                </a:solidFill>
              </a:rPr>
              <a:t>References in APA 7th edition. Personal communications are cited in the text only.</a:t>
            </a:r>
            <a:endParaRPr lang="en-US" sz="900" dirty="0"/>
          </a:p>
        </p:txBody>
      </p:sp>
      <p:sp>
        <p:nvSpPr>
          <p:cNvPr id="5" name="Text 3"/>
          <p:cNvSpPr txBox="1"/>
          <p:nvPr/>
        </p:nvSpPr>
        <p:spPr>
          <a:xfrm>
            <a:off x="548640" y="1645920"/>
            <a:ext cx="11094415" cy="4526280"/>
          </a:xfrm>
          <a:prstGeom prst="rect">
            <a:avLst/>
          </a:prstGeom>
          <a:noFill/>
          <a:ln/>
        </p:spPr>
        <p:txBody>
          <a:bodyPr wrap="square" lIns="0" tIns="0" rIns="0" bIns="0" rtlCol="0" anchor="t"/>
          <a:lstStyle/>
          <a:p>
            <a:pPr indent="0" marL="0">
              <a:spcAft>
                <a:spcPts val="500"/>
              </a:spcAft>
              <a:buNone/>
            </a:pPr>
            <a:r>
              <a:rPr lang="en-US" sz="1100" dirty="0">
                <a:solidFill>
                  <a:schemeClr val="tx1"/>
                </a:solidFill>
              </a:rPr>
              <a:t>Assa Abloy, &amp; DHL Supply Chain. (2025). </a:t>
            </a:r>
            <a:pPr indent="0" marL="0">
              <a:spcAft>
                <a:spcPts val="500"/>
              </a:spcAft>
              <a:buNone/>
            </a:pPr>
            <a:r>
              <a:rPr lang="en-US" sz="1100" i="1" dirty="0">
                <a:solidFill>
                  <a:schemeClr val="tx1"/>
                </a:solidFill>
              </a:rPr>
              <a:t>Assa Abloy storage details (1 April, 1 May and 1 June 2025) and outbound details (April–June 2025)</a:t>
            </a:r>
            <a:pPr indent="0" marL="0">
              <a:spcAft>
                <a:spcPts val="500"/>
              </a:spcAft>
              <a:buNone/>
            </a:pPr>
            <a:r>
              <a:rPr lang="en-US" sz="1100" dirty="0">
                <a:solidFill>
                  <a:schemeClr val="tx1"/>
                </a:solidFill>
              </a:rPr>
              <a:t> [Unpublished raw data]. DHL Supply Chain, Bemmel.</a:t>
            </a:r>
            <a:endParaRPr lang="en-US" sz="1100" dirty="0"/>
          </a:p>
          <a:p>
            <a:pPr indent="0" marL="0">
              <a:spcAft>
                <a:spcPts val="500"/>
              </a:spcAft>
              <a:buNone/>
            </a:pPr>
            <a:r>
              <a:rPr lang="en-US" sz="1100" dirty="0">
                <a:solidFill>
                  <a:schemeClr val="tx1"/>
                </a:solidFill>
              </a:rPr>
              <a:t>de Koster, R., Le-Duc, T., &amp; Roodbergen, K. J. (2007). Design and control of warehouse order picking: A literature review. </a:t>
            </a:r>
            <a:pPr indent="0" marL="0">
              <a:spcAft>
                <a:spcPts val="500"/>
              </a:spcAft>
              <a:buNone/>
            </a:pPr>
            <a:r>
              <a:rPr lang="en-US" sz="1100" i="1" dirty="0">
                <a:solidFill>
                  <a:schemeClr val="tx1"/>
                </a:solidFill>
              </a:rPr>
              <a:t>European Journal of Operational Research, 182</a:t>
            </a:r>
            <a:pPr indent="0" marL="0">
              <a:spcAft>
                <a:spcPts val="500"/>
              </a:spcAft>
              <a:buNone/>
            </a:pPr>
            <a:r>
              <a:rPr lang="en-US" sz="1100" dirty="0">
                <a:solidFill>
                  <a:schemeClr val="tx1"/>
                </a:solidFill>
              </a:rPr>
              <a:t>(2), 481–501. https://doi.org/10.1016/j.ejor.2006.07.009</a:t>
            </a:r>
            <a:endParaRPr lang="en-US" sz="1100" dirty="0"/>
          </a:p>
          <a:p>
            <a:pPr indent="0" marL="0">
              <a:spcAft>
                <a:spcPts val="500"/>
              </a:spcAft>
              <a:buNone/>
            </a:pPr>
            <a:r>
              <a:rPr lang="en-US" sz="1100" dirty="0">
                <a:solidFill>
                  <a:schemeClr val="tx1"/>
                </a:solidFill>
              </a:rPr>
              <a:t>Extensiv. (n.d.). </a:t>
            </a:r>
            <a:pPr indent="0" marL="0">
              <a:spcAft>
                <a:spcPts val="500"/>
              </a:spcAft>
              <a:buNone/>
            </a:pPr>
            <a:r>
              <a:rPr lang="en-US" sz="1100" i="1" dirty="0">
                <a:solidFill>
                  <a:schemeClr val="tx1"/>
                </a:solidFill>
              </a:rPr>
              <a:t>3PL fulfillment KPIs: Formulas &amp; benchmarks</a:t>
            </a:r>
            <a:pPr indent="0" marL="0">
              <a:spcAft>
                <a:spcPts val="500"/>
              </a:spcAft>
              <a:buNone/>
            </a:pPr>
            <a:r>
              <a:rPr lang="en-US" sz="1100" dirty="0">
                <a:solidFill>
                  <a:schemeClr val="tx1"/>
                </a:solidFill>
              </a:rPr>
              <a:t>. Retrieved October 18, 2026, from https://www.extensiv.com/blog/3pl-fulfillment-kpis-formulas-benchmarks</a:t>
            </a:r>
            <a:endParaRPr lang="en-US" sz="1100" dirty="0"/>
          </a:p>
          <a:p>
            <a:pPr indent="0" marL="0">
              <a:spcAft>
                <a:spcPts val="500"/>
              </a:spcAft>
              <a:buNone/>
            </a:pPr>
            <a:r>
              <a:rPr lang="en-US" sz="1100" dirty="0">
                <a:solidFill>
                  <a:schemeClr val="tx1"/>
                </a:solidFill>
              </a:rPr>
              <a:t>HAN University of Applied Sciences. (2026a). [Lecture slides on warehouse design, layouts, storage and order-picking systems, week 3]. OPERMB04 Operations Management. Unpublished course material.</a:t>
            </a:r>
            <a:endParaRPr lang="en-US" sz="1100" dirty="0"/>
          </a:p>
          <a:p>
            <a:pPr indent="0" marL="0">
              <a:spcAft>
                <a:spcPts val="500"/>
              </a:spcAft>
              <a:buNone/>
            </a:pPr>
            <a:r>
              <a:rPr lang="en-US" sz="1100" dirty="0">
                <a:solidFill>
                  <a:schemeClr val="tx1"/>
                </a:solidFill>
              </a:rPr>
              <a:t>HAN University of Applied Sciences. (2026b). </a:t>
            </a:r>
            <a:pPr indent="0" marL="0">
              <a:spcAft>
                <a:spcPts val="500"/>
              </a:spcAft>
              <a:buNone/>
            </a:pPr>
            <a:r>
              <a:rPr lang="en-US" sz="1100" i="1" dirty="0">
                <a:solidFill>
                  <a:schemeClr val="tx1"/>
                </a:solidFill>
              </a:rPr>
              <a:t>Project DHL on the move: Project OTM</a:t>
            </a:r>
            <a:pPr indent="0" marL="0">
              <a:spcAft>
                <a:spcPts val="500"/>
              </a:spcAft>
              <a:buNone/>
            </a:pPr>
            <a:r>
              <a:rPr lang="en-US" sz="1100" dirty="0">
                <a:solidFill>
                  <a:schemeClr val="tx1"/>
                </a:solidFill>
              </a:rPr>
              <a:t> [Unpublished project brief]. OPERMB04 Operations Management.</a:t>
            </a:r>
            <a:endParaRPr lang="en-US" sz="1100" dirty="0"/>
          </a:p>
          <a:p>
            <a:pPr indent="0" marL="0">
              <a:spcAft>
                <a:spcPts val="500"/>
              </a:spcAft>
              <a:buNone/>
            </a:pPr>
            <a:r>
              <a:rPr lang="en-US" sz="1100" dirty="0">
                <a:solidFill>
                  <a:schemeClr val="tx1"/>
                </a:solidFill>
              </a:rPr>
              <a:t>IndexBox. (n.d.). </a:t>
            </a:r>
            <a:pPr indent="0" marL="0">
              <a:spcAft>
                <a:spcPts val="500"/>
              </a:spcAft>
              <a:buNone/>
            </a:pPr>
            <a:r>
              <a:rPr lang="en-US" sz="1100" i="1" dirty="0">
                <a:solidFill>
                  <a:schemeClr val="tx1"/>
                </a:solidFill>
              </a:rPr>
              <a:t>European Union: Metal racks market analysis, forecast, size, trends and insights</a:t>
            </a:r>
            <a:pPr indent="0" marL="0">
              <a:spcAft>
                <a:spcPts val="500"/>
              </a:spcAft>
              <a:buNone/>
            </a:pPr>
            <a:r>
              <a:rPr lang="en-US" sz="1100" dirty="0">
                <a:solidFill>
                  <a:schemeClr val="tx1"/>
                </a:solidFill>
              </a:rPr>
              <a:t>. Retrieved October 18, 2026, from https://www.indexbox.io/store/european-union-metal-racks-market-analysis-forecast-size-trends-and-insights/</a:t>
            </a:r>
            <a:endParaRPr lang="en-US" sz="1100" dirty="0"/>
          </a:p>
          <a:p>
            <a:pPr indent="0" marL="0">
              <a:spcAft>
                <a:spcPts val="500"/>
              </a:spcAft>
              <a:buNone/>
            </a:pPr>
            <a:r>
              <a:rPr lang="en-US" sz="1100" dirty="0">
                <a:solidFill>
                  <a:schemeClr val="tx1"/>
                </a:solidFill>
              </a:rPr>
              <a:t>Jungheinrich. (n.d.-a). </a:t>
            </a:r>
            <a:pPr indent="0" marL="0">
              <a:spcAft>
                <a:spcPts val="500"/>
              </a:spcAft>
              <a:buNone/>
            </a:pPr>
            <a:r>
              <a:rPr lang="en-US" sz="1100" i="1" dirty="0">
                <a:solidFill>
                  <a:schemeClr val="tx1"/>
                </a:solidFill>
              </a:rPr>
              <a:t>EJE 120i: Technical data (JEHN0398)</a:t>
            </a:r>
            <a:pPr indent="0" marL="0">
              <a:spcAft>
                <a:spcPts val="500"/>
              </a:spcAft>
              <a:buNone/>
            </a:pPr>
            <a:r>
              <a:rPr lang="en-US" sz="1100" dirty="0">
                <a:solidFill>
                  <a:schemeClr val="tx1"/>
                </a:solidFill>
              </a:rPr>
              <a:t> [Data sheet]. Logisnext Americas. Retrieved October 14, 2026, from https://www.logisnextamericas.com/globalassets/migration-blocks/jungheinrich/product-listing/pallet-trucks/eje-120-225/jehn0398---eje-120i-spec-sheet.pdf</a:t>
            </a:r>
            <a:endParaRPr lang="en-US" sz="1100" dirty="0"/>
          </a:p>
          <a:p>
            <a:pPr indent="0" marL="0">
              <a:spcAft>
                <a:spcPts val="500"/>
              </a:spcAft>
              <a:buNone/>
            </a:pPr>
            <a:r>
              <a:rPr lang="en-US" sz="1100" dirty="0">
                <a:solidFill>
                  <a:schemeClr val="tx1"/>
                </a:solidFill>
              </a:rPr>
              <a:t>Jungheinrich. (n.d.-b). </a:t>
            </a:r>
            <a:pPr indent="0" marL="0">
              <a:spcAft>
                <a:spcPts val="500"/>
              </a:spcAft>
              <a:buNone/>
            </a:pPr>
            <a:r>
              <a:rPr lang="en-US" sz="1100" i="1" dirty="0">
                <a:solidFill>
                  <a:schemeClr val="tx1"/>
                </a:solidFill>
              </a:rPr>
              <a:t>ERE 225 rider pallet truck</a:t>
            </a:r>
            <a:pPr indent="0" marL="0">
              <a:spcAft>
                <a:spcPts val="500"/>
              </a:spcAft>
              <a:buNone/>
            </a:pPr>
            <a:r>
              <a:rPr lang="en-US" sz="1100" dirty="0">
                <a:solidFill>
                  <a:schemeClr val="tx1"/>
                </a:solidFill>
              </a:rPr>
              <a:t> [Product listing]. Retrieved October 7, 2026, from https://www.shop.jungheinrich.co.uk/en/ere-225---98280668</a:t>
            </a:r>
            <a:endParaRPr lang="en-US" sz="1100" dirty="0"/>
          </a:p>
          <a:p>
            <a:pPr indent="0" marL="0">
              <a:spcAft>
                <a:spcPts val="500"/>
              </a:spcAft>
              <a:buNone/>
            </a:pPr>
            <a:r>
              <a:rPr lang="en-US" sz="1100" dirty="0">
                <a:solidFill>
                  <a:schemeClr val="tx1"/>
                </a:solidFill>
              </a:rPr>
              <a:t>Jungheinrich. (2019). </a:t>
            </a:r>
            <a:pPr indent="0" marL="0">
              <a:spcAft>
                <a:spcPts val="500"/>
              </a:spcAft>
              <a:buNone/>
            </a:pPr>
            <a:r>
              <a:rPr lang="en-US" sz="1100" i="1" dirty="0">
                <a:solidFill>
                  <a:schemeClr val="tx1"/>
                </a:solidFill>
              </a:rPr>
              <a:t>ETV 216i: Technical data</a:t>
            </a:r>
            <a:pPr indent="0" marL="0">
              <a:spcAft>
                <a:spcPts val="500"/>
              </a:spcAft>
              <a:buNone/>
            </a:pPr>
            <a:r>
              <a:rPr lang="en-US" sz="1100" dirty="0">
                <a:solidFill>
                  <a:schemeClr val="tx1"/>
                </a:solidFill>
              </a:rPr>
              <a:t> [Data sheet]. Retrieved October 7, 2026, from https://www.fallsway.com/hubfs/Fallsway_January2022/Pdf/jungheinrich-ii-etv-216i-spec-sheet-english.pdf</a:t>
            </a:r>
            <a:endParaRPr lang="en-US" sz="1100" dirty="0"/>
          </a:p>
          <a:p>
            <a:pPr indent="0" marL="0">
              <a:spcAft>
                <a:spcPts val="500"/>
              </a:spcAft>
              <a:buNone/>
            </a:pPr>
            <a:r>
              <a:rPr lang="en-US" sz="1100" dirty="0">
                <a:solidFill>
                  <a:schemeClr val="tx1"/>
                </a:solidFill>
              </a:rPr>
              <a:t>Slack, N., Brandon-Jones, A., &amp; Burgess, N. (2022). </a:t>
            </a:r>
            <a:pPr indent="0" marL="0">
              <a:spcAft>
                <a:spcPts val="500"/>
              </a:spcAft>
              <a:buNone/>
            </a:pPr>
            <a:r>
              <a:rPr lang="en-US" sz="1100" i="1" dirty="0">
                <a:solidFill>
                  <a:schemeClr val="tx1"/>
                </a:solidFill>
              </a:rPr>
              <a:t>Operations management</a:t>
            </a:r>
            <a:pPr indent="0" marL="0">
              <a:spcAft>
                <a:spcPts val="500"/>
              </a:spcAft>
              <a:buNone/>
            </a:pPr>
            <a:r>
              <a:rPr lang="en-US" sz="1100" dirty="0">
                <a:solidFill>
                  <a:schemeClr val="tx1"/>
                </a:solidFill>
              </a:rPr>
              <a:t> (10th ed.). Pearson.</a:t>
            </a:r>
            <a:endParaRPr lang="en-US" sz="1100" dirty="0"/>
          </a:p>
          <a:p>
            <a:pPr indent="0" marL="0">
              <a:spcAft>
                <a:spcPts val="500"/>
              </a:spcAft>
              <a:buNone/>
            </a:pPr>
            <a:r>
              <a:rPr lang="en-US" sz="1100" dirty="0">
                <a:solidFill>
                  <a:schemeClr val="tx1"/>
                </a:solidFill>
              </a:rPr>
              <a:t>T-Racking. (n.d.). </a:t>
            </a:r>
            <a:pPr indent="0" marL="0">
              <a:spcAft>
                <a:spcPts val="500"/>
              </a:spcAft>
              <a:buNone/>
            </a:pPr>
            <a:r>
              <a:rPr lang="en-US" sz="1100" i="1" dirty="0">
                <a:solidFill>
                  <a:schemeClr val="tx1"/>
                </a:solidFill>
              </a:rPr>
              <a:t>How much does pallet racking cost?</a:t>
            </a:r>
            <a:pPr indent="0" marL="0">
              <a:spcAft>
                <a:spcPts val="500"/>
              </a:spcAft>
              <a:buNone/>
            </a:pPr>
            <a:r>
              <a:rPr lang="en-US" sz="1100" dirty="0">
                <a:solidFill>
                  <a:schemeClr val="tx1"/>
                </a:solidFill>
              </a:rPr>
              <a:t> Retrieved October 18, 2026, from https://t-racking.com/how-much-does-pallet-racking-cost</a:t>
            </a:r>
            <a:endParaRPr lang="en-US" sz="1100" dirty="0"/>
          </a:p>
        </p:txBody>
      </p:sp>
      <p:sp>
        <p:nvSpPr>
          <p:cNvPr id="25" name="Slide Number Placeholder 0"/>
          <p:cNvSpPr>
            <a:spLocks noGrp="1"/>
          </p:cNvSpPr>
          <p:nvPr>
            <p:ph type="sldNum" sz="quarter" idx="4294967295"/>
          </p:nvPr>
        </p:nvSpPr>
        <p:spPr>
          <a:xfrm>
            <a:off x="11320272" y="6400800"/>
            <a:ext cx="32004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95959"/>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Project OTM for DHL">
  <a:themeElements>
    <a:clrScheme name="Project OTM for DHL">
      <a:dk1>
        <a:srgbClr val="1A1A1A"/>
      </a:dk1>
      <a:lt1>
        <a:srgbClr val="FFFFFF"/>
      </a:lt1>
      <a:dk2>
        <a:srgbClr val="262626"/>
      </a:dk2>
      <a:lt2>
        <a:srgbClr val="F2F2F2"/>
      </a:lt2>
      <a:accent1>
        <a:srgbClr val="D40511"/>
      </a:accent1>
      <a:accent2>
        <a:srgbClr val="595959"/>
      </a:accent2>
      <a:accent3>
        <a:srgbClr val="A6A6A6"/>
      </a:accent3>
      <a:accent4>
        <a:srgbClr val="D9D9D9"/>
      </a:accent4>
      <a:accent5>
        <a:srgbClr val="FFF0B3"/>
      </a:accent5>
      <a:accent6>
        <a:srgbClr val="FFCC00"/>
      </a:accent6>
      <a:hlink>
        <a:srgbClr val="D40511"/>
      </a:hlink>
      <a:folHlink>
        <a:srgbClr val="595959"/>
      </a:folHlink>
    </a:clrScheme>
    <a:fontScheme name="Project OTM for DH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HAN University of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OTM - final presentation for DHL Supply Chain, Group 3</dc:title>
  <dc:subject>Redesign of the Assa Abloy warehouse operated by DHL Supply Chain in Bemmel</dc:subject>
  <dc:creator>Group 3: Vidhi, Gleb, Arnau, Rachel Selvarathnam</dc:creator>
  <cp:lastModifiedBy>Group 3: Vidhi, Gleb, Arnau, Rachel Selvarathnam</cp:lastModifiedBy>
  <cp:revision>1</cp:revision>
  <dcterms:created xsi:type="dcterms:W3CDTF">2026-10-24T16:26:37Z</dcterms:created>
  <dcterms:modified xsi:type="dcterms:W3CDTF">2026-10-24T16:26:37Z</dcterms:modified>
</cp:coreProperties>
</file>