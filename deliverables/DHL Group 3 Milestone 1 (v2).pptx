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754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h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3196" y="1737360"/>
            <a:ext cx="2187702" cy="16459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233007" y="1600200"/>
            <a:ext cx="338328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ssa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1687" y="173736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262626"/>
                </a:solidFill>
                <a:latin typeface="Calibri"/>
              </a:rPr>
              <a:t>Warehouse Design — Milestone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3891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595959"/>
                </a:solidFill>
                <a:latin typeface="Calibri"/>
              </a:rPr>
              <a:t>A better layout for the Assa Abloy warehouse, run by DHL in Bemmel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846320"/>
            <a:ext cx="12191695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Gleb  ·  Rachel Selvarathnam  ·  Arnau  ·  Vidhi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272887" y="4297680"/>
            <a:ext cx="1645920" cy="45720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What's in the Warehouse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products stored and how much stock is on site (3 months of 2025 data)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5,291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Different products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25496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25496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used (peak)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72.7%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Products with 1 pallet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42631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1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21%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1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Stock over 1 year old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199" y="1783080"/>
            <a:ext cx="212140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199" y="1911095"/>
            <a:ext cx="2121408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~3 days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199" y="2450591"/>
            <a:ext cx="2121408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→ shipped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products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5,291 different products</a:t>
            </a:r>
            <a:r>
              <a:rPr sz="1250" b="0">
                <a:solidFill>
                  <a:srgbClr val="262626"/>
                </a:solidFill>
                <a:latin typeface="Calibri"/>
              </a:rPr>
              <a:t> in 11 groups (locks, cylinders, fittings…)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Most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item is about the size of a coffee mug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2,176 (41%) are sold as single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full boxes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 full pallet holds ~1,000 pieces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weighs ~431 kg on average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138 products are hazardous</a:t>
            </a:r>
            <a:r>
              <a:rPr sz="1250" b="0">
                <a:solidFill>
                  <a:srgbClr val="262626"/>
                </a:solidFill>
                <a:latin typeface="Calibri"/>
              </a:rPr>
              <a:t> and must be kept apart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At the busiest moment, ~8,500 pallet spaces were in use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this is our real storage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(~11,000 pallets fit in those spaces — some spaces hold two)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Stock is growing: pallet spaces rose ~8% in 3 months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we must leave room to grow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73% of products need only one pallet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lots of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Same stock spread over more spaces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space is being wasted today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What the Orders Look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How customers order tells us the best way to pick — not how DHL did it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8,781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(3 months)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584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584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39,069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 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50.5%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476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Orders for 1 product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33688" y="178308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33688" y="1911095"/>
            <a:ext cx="260604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33688" y="2450591"/>
            <a:ext cx="260604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Pieces in a typical 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4864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customers 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One "line" = one product on an order</a:t>
            </a:r>
            <a:r>
              <a:rPr sz="1250" b="0">
                <a:solidFill>
                  <a:srgbClr val="262626"/>
                </a:solidFill>
                <a:latin typeface="Calibri"/>
              </a:rPr>
              <a:t> (39,069 lines in total)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Half of all orders (50.5%) are for a single product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Orders are small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 typical line is ~5 pieces, far below a full pallet (~1,000)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Customers across NL, Belgium, Germany, France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an NL hub for Western Europe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063240"/>
            <a:ext cx="5349240" cy="32461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200" y="3172968"/>
            <a:ext cx="118872" cy="30266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20954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So how should we pick?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3666744"/>
            <a:ext cx="4846320" cy="25146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Lots of small orders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let pickers collect several orders in one trip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0">
                <a:solidFill>
                  <a:srgbClr val="262626"/>
                </a:solidFill>
                <a:latin typeface="Calibri"/>
              </a:rPr>
              <a:t>Many single pieces → </a:t>
            </a:r>
            <a:r>
              <a:rPr sz="1250" b="1">
                <a:solidFill>
                  <a:srgbClr val="262626"/>
                </a:solidFill>
                <a:latin typeface="Calibri"/>
              </a:rPr>
              <a:t>keep best-sellers in a small, easy-to-reach picking area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Full-pallet picking is rarely needed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base this on the orders themselves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on how DHL happened to do it before — so the 20% of unlabelled picks don't affect our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Which Products Sell the Most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We ranked every product by how often it's actually ordered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pic>
        <p:nvPicPr>
          <p:cNvPr id="9" name="Picture 8" descr="top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494" y="1783080"/>
            <a:ext cx="5355291" cy="4114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720840" y="1783080"/>
            <a:ext cx="4892040" cy="21488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02552" y="1892807"/>
            <a:ext cx="118872" cy="19293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6872" y="1929384"/>
            <a:ext cx="44348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80/20 rule — even stronger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59" y="2386584"/>
            <a:ext cx="4389120" cy="1417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A — the stars: 13%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80% of what ships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B — steady: 20%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15%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•  </a:t>
            </a:r>
            <a:r>
              <a:rPr sz="1300" b="0">
                <a:solidFill>
                  <a:srgbClr val="262626"/>
                </a:solidFill>
                <a:latin typeface="Calibri"/>
              </a:rPr>
              <a:t>C — slow: 67% of products = </a:t>
            </a:r>
            <a:r>
              <a:rPr sz="1300" b="1">
                <a:solidFill>
                  <a:srgbClr val="262626"/>
                </a:solidFill>
                <a:latin typeface="Calibri"/>
              </a:rPr>
              <a:t>only 5%</a:t>
            </a:r>
          </a:p>
        </p:txBody>
      </p:sp>
      <p:pic>
        <p:nvPicPr>
          <p:cNvPr id="14" name="Picture 13" descr="pare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254" y="4069080"/>
            <a:ext cx="308721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" y="6080760"/>
            <a:ext cx="11155680" cy="4572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40511"/>
                </a:solidFill>
                <a:latin typeface="Calibri"/>
              </a:rPr>
              <a:t>Today only about half the products are stored by how often they sell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so many best-sellers sit far from the door. They should move closer.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Busy Days vs Normal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warehouse must cope with the busiest days, not just the average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411358" y="329184"/>
            <a:ext cx="1219809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39374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67390" y="329184"/>
            <a:ext cx="927201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A NORMAL DAY VS THE BUSIEST DAY</a:t>
            </a:r>
          </a:p>
        </p:txBody>
      </p:sp>
      <p:pic>
        <p:nvPicPr>
          <p:cNvPr id="10" name="Picture 9" descr="peak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154" y="2011680"/>
            <a:ext cx="4793370" cy="2880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892040"/>
            <a:ext cx="5486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Pieces are shown ÷100 so all four bars fit on one scale.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64208"/>
            <a:ext cx="502920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THE NUMBERS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46520" y="2011680"/>
          <a:ext cx="516636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37260"/>
                <a:gridCol w="937260"/>
                <a:gridCol w="937260"/>
                <a:gridCol w="937260"/>
              </a:tblGrid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Normal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Busiest day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much more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54864" marR="36576" marT="18288" marB="18288" anchor="ctr">
                    <a:solidFill>
                      <a:srgbClr val="D40511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 lines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1,171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1.8×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Pieces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22,269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63,469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2.9×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27-May-25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Orders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Shipments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1.7×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29-Apr-25</a:t>
                      </a:r>
                    </a:p>
                  </a:txBody>
                  <a:tcPr marL="54864" marR="36576" marT="18288" marB="18288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446520" y="3977639"/>
            <a:ext cx="516636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62626"/>
                </a:solidFill>
                <a:latin typeface="Calibri"/>
              </a:rPr>
              <a:t>Plan for the busy days. </a:t>
            </a:r>
            <a:r>
              <a:rPr sz="1250" b="0">
                <a:solidFill>
                  <a:srgbClr val="262626"/>
                </a:solidFill>
                <a:latin typeface="Calibri"/>
              </a:rPr>
              <a:t>On the busiest day the warehouse shipped nearly 3× the usual pieces, so it needs spare capacity.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weeks too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262626"/>
                </a:solidFill>
                <a:latin typeface="Calibri"/>
              </a:rPr>
              <a:t>The busiest week handled </a:t>
            </a:r>
            <a:r>
              <a:rPr sz="1150" b="1">
                <a:solidFill>
                  <a:srgbClr val="262626"/>
                </a:solidFill>
                <a:latin typeface="Calibri"/>
              </a:rPr>
              <a:t>3,563 lines</a:t>
            </a:r>
            <a:r>
              <a:rPr sz="1150" b="0">
                <a:solidFill>
                  <a:srgbClr val="262626"/>
                </a:solidFill>
                <a:latin typeface="Calibri"/>
              </a:rPr>
              <a:t> vs ~2,791 normally — a busy spell, not just one day.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257800"/>
            <a:ext cx="5349240" cy="123444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45352" y="5367528"/>
            <a:ext cx="118872" cy="101498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5404104"/>
            <a:ext cx="489204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Busy times of day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5861304"/>
            <a:ext cx="484632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>
                <a:solidFill>
                  <a:srgbClr val="262626"/>
                </a:solidFill>
                <a:latin typeface="Calibri"/>
              </a:rPr>
              <a:t>Picking is busiest around 08:00.</a:t>
            </a:r>
            <a:r>
              <a:rPr sz="1150" b="0">
                <a:solidFill>
                  <a:srgbClr val="262626"/>
                </a:solidFill>
                <a:latin typeface="Calibri"/>
              </a:rPr>
              <a:t> The warehouse runs Mon–Fri, no weekends.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How Much Storage We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Sizing the warehouse on solid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~8,500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Pallet spaces at peak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11296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1296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~9,500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1296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Spaces we'll build for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55664" y="1783080"/>
            <a:ext cx="274320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>
            <a:outerShdw blurRad="60000" dist="30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1911095"/>
            <a:ext cx="2743200" cy="5029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D40511"/>
                </a:solidFill>
                <a:latin typeface="Calibr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2404872"/>
            <a:ext cx="2743200" cy="292608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Calibri"/>
              </a:rPr>
              <a:t>Levels high (up to 12.2 m)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017520"/>
            <a:ext cx="5029200" cy="251460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8640" y="3127248"/>
            <a:ext cx="118872" cy="2295144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163824"/>
            <a:ext cx="45720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we sized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" y="3621024"/>
            <a:ext cx="4526280" cy="178308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The busiest day used ~8,500 pallet spaces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that's the real need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We plan for ~9,500</a:t>
            </a:r>
            <a:r>
              <a:rPr sz="1250" b="0">
                <a:solidFill>
                  <a:srgbClr val="262626"/>
                </a:solidFill>
                <a:latin typeface="Calibri"/>
              </a:rPr>
              <a:t> so racks are never 100% full (easier to work)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Growth is handled by tall racks</a:t>
            </a:r>
            <a:r>
              <a:rPr sz="1250" b="0">
                <a:solidFill>
                  <a:srgbClr val="262626"/>
                </a:solidFill>
                <a:latin typeface="Calibri"/>
              </a:rPr>
              <a:t>, not by adding a big safety number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>
                <a:solidFill>
                  <a:srgbClr val="6B7280"/>
                </a:solidFill>
                <a:latin typeface="Calibri"/>
              </a:rPr>
              <a:t>•  </a:t>
            </a:r>
            <a:r>
              <a:rPr sz="1250" b="1">
                <a:solidFill>
                  <a:srgbClr val="262626"/>
                </a:solidFill>
                <a:latin typeface="Calibri"/>
              </a:rPr>
              <a:t>This replaces our earlier 14,074</a:t>
            </a:r>
            <a:r>
              <a:rPr sz="1250" b="0">
                <a:solidFill>
                  <a:srgbClr val="262626"/>
                </a:solidFill>
                <a:latin typeface="Calibri"/>
              </a:rPr>
              <a:t> — too high, per the feedback</a:t>
            </a:r>
          </a:p>
        </p:txBody>
      </p:sp>
      <p:pic>
        <p:nvPicPr>
          <p:cNvPr id="22" name="Picture 21" descr="fea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021" y="2926080"/>
            <a:ext cx="4471277" cy="26974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5504688"/>
            <a:ext cx="576072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Floor space each storage style needs vs the 7,000 m² limit.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806440"/>
            <a:ext cx="10881360" cy="658368"/>
          </a:xfrm>
          <a:prstGeom prst="roundRect">
            <a:avLst>
              <a:gd name="adj" fmla="val 14000"/>
            </a:avLst>
          </a:prstGeom>
          <a:solidFill>
            <a:srgbClr val="FFCC00"/>
          </a:solidFill>
          <a:ln>
            <a:noFill/>
          </a:ln>
          <a:effectLst>
            <a:outerShdw blurRad="70000" dist="38000" dir="5400000" rotWithShape="0">
              <a:srgbClr val="9AA0A6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424160" cy="658368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Two-deep racking fills only ~61% of the space</a:t>
            </a:r>
            <a:r>
              <a:rPr sz="1300" b="0">
                <a:solidFill>
                  <a:srgbClr val="262626"/>
                </a:solidFill>
                <a:latin typeface="Calibri"/>
              </a:rPr>
              <a:t> — plenty of room. So we choose on efficiency, not just fitting in.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Three Options — and Why We Pick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Every choice works together across the whole warehouse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737360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1828800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A — Keep it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194560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Normal racks, narrow aisles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 orders one by 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~72% of the space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Cheapest, but most walking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64408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FF7DB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3355848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355848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B — Best balance  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721608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Two-deep racks + fast-pick area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Pickers work zones, many orders/trip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~61%, room to grow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Best mix of space &amp; effort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791456"/>
            <a:ext cx="3246120" cy="1417320"/>
          </a:xfrm>
          <a:prstGeom prst="roundRect">
            <a:avLst>
              <a:gd name="adj" fmla="val 70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48640" y="4882896"/>
            <a:ext cx="109728" cy="1234440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882896"/>
            <a:ext cx="2880360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62626"/>
                </a:solidFill>
                <a:latin typeface="Calibri"/>
              </a:rPr>
              <a:t>Option C — 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48656"/>
            <a:ext cx="2788920" cy="91440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Very narrow aisles + machines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Machines bring items to pickers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Uses ~48% (tightest)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· </a:t>
            </a:r>
            <a:r>
              <a:rPr sz="1100" b="0">
                <a:solidFill>
                  <a:srgbClr val="262626"/>
                </a:solidFill>
                <a:latin typeface="Calibri"/>
              </a:rPr>
              <a:t>Most expensive &amp; complex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1691639"/>
            <a:ext cx="7498079" cy="32004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40511"/>
                </a:solidFill>
                <a:latin typeface="Calibri"/>
              </a:rPr>
              <a:t>WHY OPTION B — WHAT WE FOUND → WHAT WE DECIDED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0" y="212140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Many slow sellers + need room to grow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12140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07808" y="212140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589520" y="219456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0" y="212140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Store pallets two-deep — saves space, less walking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2779776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24528" y="2779776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Lots of single pieces and small orders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2779776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07808" y="2779776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89520" y="285292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779776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A small fast-pick area near the door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0" y="3438144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24528" y="3438144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Best-sellers stored in the wrong places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3438144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07808" y="3438144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589520" y="3511296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3438144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Put the most-ordered items closest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14800" y="4096512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24528" y="4096512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Half of orders are for one product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0" y="4096512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07808" y="4096512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589520" y="4169664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0" y="4096512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Pickers collect several orders per trip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14800" y="4754879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24528" y="4754879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Some hazardous and some very long items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23760" y="4754879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607808" y="4754879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589520" y="4828031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0" y="4754879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Separate area + special long-item racks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0" y="5413248"/>
            <a:ext cx="3063240" cy="603504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24528" y="5413248"/>
            <a:ext cx="28803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262626"/>
                </a:solidFill>
                <a:latin typeface="Calibri"/>
              </a:rPr>
              <a:t>Busiest day ~3× the average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5413248"/>
            <a:ext cx="365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D40511"/>
                </a:solidFill>
                <a:latin typeface="Calibri"/>
              </a:rPr>
              <a:t>→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07808" y="5413248"/>
            <a:ext cx="4005072" cy="603504"/>
          </a:xfrm>
          <a:prstGeom prst="roundRect">
            <a:avLst>
              <a:gd name="adj" fmla="val 10000"/>
            </a:avLst>
          </a:prstGeom>
          <a:solidFill>
            <a:srgbClr val="FFF7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589520" y="54864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0" y="5413248"/>
            <a:ext cx="3794760" cy="60350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1">
                <a:solidFill>
                  <a:srgbClr val="262626"/>
                </a:solidFill>
                <a:latin typeface="Calibri"/>
              </a:rPr>
              <a:t>Size the pack &amp; ship area for busy days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56032"/>
            <a:ext cx="10515600" cy="8229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262626"/>
                </a:solidFill>
                <a:latin typeface="Calibri"/>
              </a:rPr>
              <a:t>Our Recommended Layout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3504" y="1078992"/>
            <a:ext cx="100584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95959"/>
                </a:solidFill>
                <a:latin typeface="Calibri"/>
              </a:rPr>
              <a:t>The full floor plan, drawn to scale, showing how goods move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1481328"/>
            <a:ext cx="1234440" cy="50292"/>
          </a:xfrm>
          <a:prstGeom prst="rect">
            <a:avLst/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873691" y="329184"/>
            <a:ext cx="1757476" cy="329184"/>
          </a:xfrm>
          <a:prstGeom prst="roundRect">
            <a:avLst>
              <a:gd name="adj" fmla="val 50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01707" y="457200"/>
            <a:ext cx="82296" cy="82296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29723" y="329184"/>
            <a:ext cx="1464868" cy="329184"/>
          </a:xfrm>
          <a:prstGeom prst="rect">
            <a:avLst/>
          </a:prstGeom>
          <a:noFill/>
        </p:spPr>
        <p:txBody>
          <a:bodyPr wrap="square" anchor="ctr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40511"/>
                </a:solidFill>
                <a:latin typeface="Calibri"/>
              </a:rPr>
              <a:t>RECOMMENDATION</a:t>
            </a:r>
          </a:p>
        </p:txBody>
      </p:sp>
      <p:pic>
        <p:nvPicPr>
          <p:cNvPr id="9" name="Picture 8" descr="order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646" y="1600200"/>
            <a:ext cx="5178626" cy="4937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0" y="173736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11312" y="184708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D405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88366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The areas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34086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Two-deep racks for the many slow 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Special racks for odd or long items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A fast-pick area for the best-sellers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Goods-in, returns, packing, shipping, offices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4206240"/>
            <a:ext cx="3429000" cy="2331720"/>
          </a:xfrm>
          <a:prstGeom prst="roundRect">
            <a:avLst>
              <a:gd name="adj" fmla="val 5500"/>
            </a:avLst>
          </a:prstGeom>
          <a:solidFill>
            <a:srgbClr val="F2F2F2"/>
          </a:solidFill>
          <a:ln>
            <a:noFill/>
          </a:ln>
          <a:effectLst>
            <a:outerShdw blurRad="70000" dist="38000" dir="5400000" rotWithShape="0">
              <a:srgbClr val="9AA0A6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11312" y="4315968"/>
            <a:ext cx="118872" cy="2112263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85632" y="4352544"/>
            <a:ext cx="2971800" cy="36576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62626"/>
                </a:solidFill>
                <a:latin typeface="Calibri"/>
              </a:rPr>
              <a:t>How goods move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09744"/>
            <a:ext cx="2926080" cy="1600199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In → put away → refill → pick → pack → out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0">
                <a:solidFill>
                  <a:srgbClr val="262626"/>
                </a:solidFill>
                <a:latin typeface="Calibri"/>
              </a:rPr>
              <a:t>Best-sellers picked from the fast-pick area up front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Goods-in and goods-out at opposite ends</a:t>
            </a:r>
            <a:r>
              <a:rPr sz="1130" b="0">
                <a:solidFill>
                  <a:srgbClr val="262626"/>
                </a:solidFill>
                <a:latin typeface="Calibri"/>
              </a:rPr>
              <a:t> → simple, straight flow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130" b="0">
                <a:solidFill>
                  <a:srgbClr val="6B7280"/>
                </a:solidFill>
                <a:latin typeface="Calibri"/>
              </a:rPr>
              <a:t>•  </a:t>
            </a:r>
            <a:r>
              <a:rPr sz="1130" b="1">
                <a:solidFill>
                  <a:srgbClr val="262626"/>
                </a:solidFill>
                <a:latin typeface="Calibri"/>
              </a:rPr>
              <a:t>Uses 6,541 m² (93% of the limit)</a:t>
            </a:r>
            <a:r>
              <a:rPr sz="1130" b="0">
                <a:solidFill>
                  <a:srgbClr val="262626"/>
                </a:solidFill>
                <a:latin typeface="Calibri"/>
              </a:rPr>
              <a:t>, with room to grow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77724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Project OTM — Assa Abloy @ DHL Bemmel · Deliverable 1 (Analysis)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51615" y="6473952"/>
            <a:ext cx="457200" cy="274320"/>
          </a:xfrm>
          <a:prstGeom prst="rect">
            <a:avLst/>
          </a:prstGeom>
          <a:noFill/>
        </p:spPr>
        <p:txBody>
          <a:bodyPr wrap="square" anchor="t" lIns="54864" rIns="54864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