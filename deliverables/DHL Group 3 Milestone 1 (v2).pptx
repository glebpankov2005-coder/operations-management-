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75407" y="160020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h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196" y="1737360"/>
            <a:ext cx="2187702" cy="1645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33007" y="160020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ssa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1687" y="173736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262626"/>
                </a:solidFill>
                <a:latin typeface="Calibri"/>
              </a:rPr>
              <a:t>Warehouse Design — Milestone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389120"/>
            <a:ext cx="12191695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595959"/>
                </a:solidFill>
                <a:latin typeface="Calibri"/>
              </a:rPr>
              <a:t>A better layout for the Assa Abloy warehouse, run by DHL in Bemmel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846320"/>
            <a:ext cx="12191695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Gleb  ·  Rachel Selvarathnam  ·  Arnau  ·  Vidhi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72887" y="4297680"/>
            <a:ext cx="1645920" cy="4572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What's in the Warehouse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The products stored and how much stock is on site (3 months of 2025 data)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5,291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Different products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25496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~8,500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25496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Pallet spaces used (peak)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4064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72.7%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Products with 1 pallet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42631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631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21%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1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Stock over 1 year old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199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199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~3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199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 → shipped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The products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5,291 different products</a:t>
            </a:r>
            <a:r>
              <a:rPr sz="1250" b="0">
                <a:solidFill>
                  <a:srgbClr val="262626"/>
                </a:solidFill>
                <a:latin typeface="Calibri"/>
              </a:rPr>
              <a:t> in 11 groups (locks, cylinders, fittings…)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Most are small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a typical item is about the size of a coffee mug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2,176 (41%) are sold as single pieces</a:t>
            </a:r>
            <a:r>
              <a:rPr sz="1250" b="0">
                <a:solidFill>
                  <a:srgbClr val="262626"/>
                </a:solidFill>
                <a:latin typeface="Calibri"/>
              </a:rPr>
              <a:t>, not full boxes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A full pallet holds ~1,000 pieces</a:t>
            </a:r>
            <a:r>
              <a:rPr sz="1250" b="0">
                <a:solidFill>
                  <a:srgbClr val="262626"/>
                </a:solidFill>
                <a:latin typeface="Calibri"/>
              </a:rPr>
              <a:t> and weighs ~431 kg on average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138 products are hazardous</a:t>
            </a:r>
            <a:r>
              <a:rPr sz="1250" b="0">
                <a:solidFill>
                  <a:srgbClr val="262626"/>
                </a:solidFill>
                <a:latin typeface="Calibri"/>
              </a:rPr>
              <a:t> and must be kept apart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048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7220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The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At the busiest moment, ~8,500 pallet spaces were in use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this is our real storage need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(~11,000 pallets fit in those spaces — some spaces hold two)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Stock is growing: pallet spaces rose ~8% in 3 months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we must leave room to grow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73% of products need only one pallet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lots of slow sellers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Same stock spread over more spaces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space is being wasted today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What the Orders Look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How customers order tells us the best way to pick — not how DHL did it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8,781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Orders (3 months)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39,069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 lines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76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50.5%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Orders for 1 product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3368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368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Pieces in a typical 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How customers order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One "line" = one product on an order</a:t>
            </a:r>
            <a:r>
              <a:rPr sz="1250" b="0">
                <a:solidFill>
                  <a:srgbClr val="262626"/>
                </a:solidFill>
                <a:latin typeface="Calibri"/>
              </a:rPr>
              <a:t> (39,069 lines in total)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Half of all orders (50.5%) are for a single product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Orders are small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a typical line is ~5 pieces, far below a full pallet (~1,000)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Customers across NL, Belgium, Germany, France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an NL hub for Western Europe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7220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So how should we pick?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80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Lots of small orders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let pickers collect several orders in one trip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Many single pieces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keep best-sellers in a small, easy-to-reach picking area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Full-pallet picking is rarely needed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We base this on the orders themselves</a:t>
            </a:r>
            <a:r>
              <a:rPr sz="1250" b="0">
                <a:solidFill>
                  <a:srgbClr val="262626"/>
                </a:solidFill>
                <a:latin typeface="Calibri"/>
              </a:rPr>
              <a:t>, not on how DHL happened to do it before — so the 20% of unlabelled picks don't affect our design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Which Products Sell the Most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We ranked every product by how often it's actually ordered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pic>
        <p:nvPicPr>
          <p:cNvPr id="9" name="Picture 8" descr="top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494" y="1783080"/>
            <a:ext cx="5355291" cy="4114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720840" y="1783080"/>
            <a:ext cx="4892040" cy="214884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02552" y="1892807"/>
            <a:ext cx="118872" cy="1929384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76872" y="1929384"/>
            <a:ext cx="44348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The 80/20 rule — even stronger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386584"/>
            <a:ext cx="4389120" cy="1417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A — the stars: 13% of products = </a:t>
            </a:r>
            <a:r>
              <a:rPr sz="1300" b="1">
                <a:solidFill>
                  <a:srgbClr val="262626"/>
                </a:solidFill>
                <a:latin typeface="Calibri"/>
              </a:rPr>
              <a:t>80% of what ships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B — steady: 20% of products = </a:t>
            </a:r>
            <a:r>
              <a:rPr sz="1300" b="1">
                <a:solidFill>
                  <a:srgbClr val="262626"/>
                </a:solidFill>
                <a:latin typeface="Calibri"/>
              </a:rPr>
              <a:t>15%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C — slow: 67% of products = </a:t>
            </a:r>
            <a:r>
              <a:rPr sz="1300" b="1">
                <a:solidFill>
                  <a:srgbClr val="262626"/>
                </a:solidFill>
                <a:latin typeface="Calibri"/>
              </a:rPr>
              <a:t>only 5%</a:t>
            </a:r>
          </a:p>
        </p:txBody>
      </p:sp>
      <p:pic>
        <p:nvPicPr>
          <p:cNvPr id="14" name="Picture 13" descr="pa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254" y="4069080"/>
            <a:ext cx="3087210" cy="1965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6080760"/>
            <a:ext cx="11155680" cy="457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40511"/>
                </a:solidFill>
                <a:latin typeface="Calibri"/>
              </a:rPr>
              <a:t>Today only about half the products are stored by how often they sell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so many best-sellers sit far from the door. They should move closer.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Busy Days vs Normal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The warehouse must cope with the busiest days, not just the average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50292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A NORMAL DAY VS THE BUSIEST DAY</a:t>
            </a:r>
          </a:p>
        </p:txBody>
      </p:sp>
      <p:pic>
        <p:nvPicPr>
          <p:cNvPr id="10" name="Picture 9" descr="pea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54" y="2011680"/>
            <a:ext cx="4793370" cy="2880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4892040"/>
            <a:ext cx="5486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Pieces are shown ÷100 so all four bars fit on one scale.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64208"/>
            <a:ext cx="50292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THE NUMBERS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2011680"/>
          <a:ext cx="516636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37260"/>
                <a:gridCol w="937260"/>
                <a:gridCol w="937260"/>
                <a:gridCol w="93726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Normal day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Busiest day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How much more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Order lines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1,171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1.8×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27-May-25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Pieces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22,269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63,469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2.9×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27-May-25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1.7×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29-Apr-25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Shipments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134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1.7×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29-Apr-25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46520" y="3977639"/>
            <a:ext cx="516636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Calibri"/>
              </a:rPr>
              <a:t>Plan for the busy days. </a:t>
            </a:r>
            <a:r>
              <a:rPr sz="1250" b="0">
                <a:solidFill>
                  <a:srgbClr val="262626"/>
                </a:solidFill>
                <a:latin typeface="Calibri"/>
              </a:rPr>
              <a:t>On the busiest day the warehouse shipped nearly 3× the usual pieces, so it needs spare capacity.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257800"/>
            <a:ext cx="5349240" cy="123444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5367528"/>
            <a:ext cx="118872" cy="1014984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40410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Busy weeks too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5861304"/>
            <a:ext cx="484632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>
                <a:solidFill>
                  <a:srgbClr val="262626"/>
                </a:solidFill>
                <a:latin typeface="Calibri"/>
              </a:rPr>
              <a:t>The busiest week handled </a:t>
            </a:r>
            <a:r>
              <a:rPr sz="1150" b="1">
                <a:solidFill>
                  <a:srgbClr val="262626"/>
                </a:solidFill>
                <a:latin typeface="Calibri"/>
              </a:rPr>
              <a:t>3,563 lines</a:t>
            </a:r>
            <a:r>
              <a:rPr sz="1150" b="0">
                <a:solidFill>
                  <a:srgbClr val="262626"/>
                </a:solidFill>
                <a:latin typeface="Calibri"/>
              </a:rPr>
              <a:t> vs ~2,791 normally — a busy spell, not just one day.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5257800"/>
            <a:ext cx="5349240" cy="123444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45352" y="5367528"/>
            <a:ext cx="118872" cy="1014984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540410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Busy times of 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5861304"/>
            <a:ext cx="484632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262626"/>
                </a:solidFill>
                <a:latin typeface="Calibri"/>
              </a:rPr>
              <a:t>Picking is busiest around 08:00.</a:t>
            </a:r>
            <a:r>
              <a:rPr sz="1150" b="0">
                <a:solidFill>
                  <a:srgbClr val="262626"/>
                </a:solidFill>
                <a:latin typeface="Calibri"/>
              </a:rPr>
              <a:t> The warehouse runs Mon–Fri, no weekends.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How Much Storage We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Sizing the warehouse on solid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3691" y="329184"/>
            <a:ext cx="1757476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01707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29723" y="329184"/>
            <a:ext cx="1464868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RECOMMENDATION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~8,500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Pallet spaces at peak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296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~9,500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1296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Spaces we'll build for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5664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Levels high (up to 12.2 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017520"/>
            <a:ext cx="5029200" cy="251460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3127248"/>
            <a:ext cx="118872" cy="2295144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163824"/>
            <a:ext cx="45720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How we sized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" y="3621024"/>
            <a:ext cx="4526280" cy="1783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The busiest day used ~8,500 pallet spaces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that's the real need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We plan for ~9,500</a:t>
            </a:r>
            <a:r>
              <a:rPr sz="1250" b="0">
                <a:solidFill>
                  <a:srgbClr val="262626"/>
                </a:solidFill>
                <a:latin typeface="Calibri"/>
              </a:rPr>
              <a:t> so racks are never 100% full (easier to work)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Growth is handled by tall racks</a:t>
            </a:r>
            <a:r>
              <a:rPr sz="1250" b="0">
                <a:solidFill>
                  <a:srgbClr val="262626"/>
                </a:solidFill>
                <a:latin typeface="Calibri"/>
              </a:rPr>
              <a:t>, not by adding a big safety number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This replaces our earlier 14,074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too high, per the feedback</a:t>
            </a:r>
          </a:p>
        </p:txBody>
      </p:sp>
      <p:pic>
        <p:nvPicPr>
          <p:cNvPr id="22" name="Picture 21" descr="fea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4021" y="2926080"/>
            <a:ext cx="4471277" cy="26974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852160" y="5504688"/>
            <a:ext cx="576072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Floor space each storage style needs vs the 7,000 m² limit.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806440"/>
            <a:ext cx="10881360" cy="658368"/>
          </a:xfrm>
          <a:prstGeom prst="roundRect">
            <a:avLst>
              <a:gd name="adj" fmla="val 14000"/>
            </a:avLst>
          </a:prstGeom>
          <a:solidFill>
            <a:srgbClr val="FFCC00"/>
          </a:solidFill>
          <a:ln>
            <a:noFill/>
          </a:ln>
          <a:effectLst>
            <a:outerShdw blurRad="70000" dist="38000" dir="5400000" rotWithShape="0">
              <a:srgbClr val="9AA0A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806440"/>
            <a:ext cx="10424160" cy="658368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Two-deep racking fills only ~61% of the space</a:t>
            </a:r>
            <a:r>
              <a:rPr sz="1300" b="0">
                <a:solidFill>
                  <a:srgbClr val="262626"/>
                </a:solidFill>
                <a:latin typeface="Calibri"/>
              </a:rPr>
              <a:t> — plenty of room. So we choose on efficiency, not just fitting in.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Three Options — and Why We Pick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Every choice works together across the whole warehouse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3691" y="329184"/>
            <a:ext cx="1757476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01707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29723" y="329184"/>
            <a:ext cx="1464868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RECOMMENDATION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37360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28800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A — Keep it simple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94560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Normal racks, narrow aisles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Pick orders one by one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Uses ~72% of the space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Cheapest, but most walking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64408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FF7DB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355848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355848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B — Best balance 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21608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Two-deep racks + fast-pick area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Pickers work zones, many orders/trip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Uses ~61%, room to grow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Best mix of space &amp; effort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91456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4882896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882896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C — Automated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48656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Very narrow aisles + machines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Machines bring items to pickers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Uses ~48% (tightest)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Most expensive &amp; complex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1691639"/>
            <a:ext cx="7498079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WHY OPTION B — WHAT WE FOUND → WHAT WE DECIDED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2121408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Many slow sellers + need room to grow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2121408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07808" y="2121408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219456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2121408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Store pallets two-deep — saves space, less walking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0" y="2779776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24528" y="2779776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Lots of single pieces and small orders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2779776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07808" y="2779776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589520" y="2852928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2779776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A small fast-pick area near the door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0" y="3438144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24528" y="3438144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Best-sellers stored in the wrong places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3438144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07808" y="3438144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589520" y="3511296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0" y="3438144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Put the most-ordered items closest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4800" y="4096512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24528" y="4096512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Half of orders are for one product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0" y="4096512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07808" y="4096512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589520" y="4169664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4096512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Pickers collect several orders per trip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00" y="4754879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24528" y="4754879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Some hazardous and some very long items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60" y="4754879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07808" y="4754879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589520" y="4828031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0" y="4754879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Separate area + special long-item racks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0" y="5413248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24528" y="5413248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Busiest day ~3× the average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0" y="5413248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07808" y="5413248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589520" y="548640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0" y="5413248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Size the pack &amp; ship area for busy days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Our Recommended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The full floor plan, drawn to scale, showing how goods move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3691" y="329184"/>
            <a:ext cx="1757476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01707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29723" y="329184"/>
            <a:ext cx="1464868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RECOMMENDATION</a:t>
            </a:r>
          </a:p>
        </p:txBody>
      </p:sp>
      <p:pic>
        <p:nvPicPr>
          <p:cNvPr id="9" name="Picture 8" descr="order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993" y="1600200"/>
            <a:ext cx="6267932" cy="49377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0" y="1737360"/>
            <a:ext cx="3429000" cy="23317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11312" y="1847088"/>
            <a:ext cx="118872" cy="21122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883664"/>
            <a:ext cx="29718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The areas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340864"/>
            <a:ext cx="2926080" cy="160019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Two-deep racks for the many slow sellers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Special racks for odd or long items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A fast-pick area for the best-sellers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Goods-in, returns, packing, shipping, offices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206240"/>
            <a:ext cx="3429000" cy="23317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11312" y="4315968"/>
            <a:ext cx="118872" cy="21122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5632" y="4352544"/>
            <a:ext cx="29718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How goods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809744"/>
            <a:ext cx="2926080" cy="160019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In → put away → refill → pick → pack → out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Returns and pass-through goods handled separately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Goods-in and goods-out at opposite ends</a:t>
            </a:r>
            <a:r>
              <a:rPr sz="1130" b="0">
                <a:solidFill>
                  <a:srgbClr val="262626"/>
                </a:solidFill>
                <a:latin typeface="Calibri"/>
              </a:rPr>
              <a:t> → simple, straight flow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Uses 6,541 m² (93% of the limit)</a:t>
            </a:r>
            <a:r>
              <a:rPr sz="1130" b="0">
                <a:solidFill>
                  <a:srgbClr val="262626"/>
                </a:solidFill>
                <a:latin typeface="Calibri"/>
              </a:rPr>
              <a:t>, with room to grow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