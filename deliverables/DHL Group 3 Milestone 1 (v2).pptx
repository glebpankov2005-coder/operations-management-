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75407" y="1600200"/>
            <a:ext cx="33832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0000" dist="38000" dir="5400000" rotWithShape="0">
              <a:srgbClr val="9AA0A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h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196" y="1737360"/>
            <a:ext cx="2187702" cy="1645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33007" y="1600200"/>
            <a:ext cx="33832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0000" dist="38000" dir="5400000" rotWithShape="0">
              <a:srgbClr val="9AA0A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ssa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687" y="173736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  <a:latin typeface="Calibri"/>
              </a:rPr>
              <a:t>Warehouse Design — Milestone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389120"/>
            <a:ext cx="12191695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595959"/>
                </a:solidFill>
                <a:latin typeface="Calibri"/>
              </a:rPr>
              <a:t>A better layout for the Assa Abloy warehouse, run by DHL in Bemmel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846320"/>
            <a:ext cx="12191695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Gleb  ·  Rachel Selvarathnam  ·  Arnau  ·  Vidhi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72887" y="4297680"/>
            <a:ext cx="1645920" cy="45720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51560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62626"/>
                </a:solidFill>
                <a:latin typeface="Calibri"/>
              </a:rPr>
              <a:t>What's in the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78992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Calibri"/>
              </a:rPr>
              <a:t>The products stored and how much stock is on site (3 months of 2025 data)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481328"/>
            <a:ext cx="1234440" cy="50292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11358" y="329184"/>
            <a:ext cx="1219809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39374" y="4572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7390" y="329184"/>
            <a:ext cx="927201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40511"/>
                </a:solidFill>
                <a:latin typeface="Calibri"/>
              </a:rPr>
              <a:t>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2121408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60000" dist="30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11095"/>
            <a:ext cx="2121408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D40511"/>
                </a:solidFill>
                <a:latin typeface="Calibri"/>
              </a:rPr>
              <a:t>5,291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50591"/>
            <a:ext cx="2121408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Different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5496" y="1783080"/>
            <a:ext cx="2121408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60000" dist="30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5496" y="1911095"/>
            <a:ext cx="2121408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D40511"/>
                </a:solidFill>
                <a:latin typeface="Calibri"/>
              </a:rPr>
              <a:t>~8,500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496" y="2450591"/>
            <a:ext cx="2121408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Pallet spaces used (peak)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783080"/>
            <a:ext cx="2121408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60000" dist="30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4064" y="1911095"/>
            <a:ext cx="2121408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D40511"/>
                </a:solidFill>
                <a:latin typeface="Calibri"/>
              </a:rPr>
              <a:t>72.7%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2450591"/>
            <a:ext cx="2121408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Products with 1 pallet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2631" y="1783080"/>
            <a:ext cx="2121408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60000" dist="30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631" y="1911095"/>
            <a:ext cx="2121408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D40511"/>
                </a:solidFill>
                <a:latin typeface="Calibri"/>
              </a:rPr>
              <a:t>21%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2450591"/>
            <a:ext cx="2121408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Stock over 1 year 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199" y="1783080"/>
            <a:ext cx="2121408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60000" dist="30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199" y="1911095"/>
            <a:ext cx="2121408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D40511"/>
                </a:solidFill>
                <a:latin typeface="Calibri"/>
              </a:rPr>
              <a:t>~3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199" y="2450591"/>
            <a:ext cx="2121408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Order → shipped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063240"/>
            <a:ext cx="5349240" cy="3246120"/>
          </a:xfrm>
          <a:prstGeom prst="roundRect">
            <a:avLst>
              <a:gd name="adj" fmla="val 5500"/>
            </a:avLst>
          </a:prstGeom>
          <a:solidFill>
            <a:srgbClr val="F2F2F2"/>
          </a:solidFill>
          <a:ln>
            <a:noFill/>
          </a:ln>
          <a:effectLst>
            <a:outerShdw blurRad="70000" dist="38000" dir="5400000" rotWithShape="0">
              <a:srgbClr val="9AA0A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172968"/>
            <a:ext cx="118872" cy="3026663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209544"/>
            <a:ext cx="48920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The 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3666744"/>
            <a:ext cx="4846320" cy="2514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5,291 different products</a:t>
            </a:r>
            <a:r>
              <a:rPr sz="1250" b="0">
                <a:solidFill>
                  <a:srgbClr val="262626"/>
                </a:solidFill>
                <a:latin typeface="Calibri"/>
              </a:rPr>
              <a:t> in 11 groups (locks, cylinders, fittings…)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Most are small</a:t>
            </a:r>
            <a:r>
              <a:rPr sz="1250" b="0">
                <a:solidFill>
                  <a:srgbClr val="262626"/>
                </a:solidFill>
                <a:latin typeface="Calibri"/>
              </a:rPr>
              <a:t> — a typical item is about the size of a coffee mug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2,176 (41%) are sold as single pieces</a:t>
            </a:r>
            <a:r>
              <a:rPr sz="1250" b="0">
                <a:solidFill>
                  <a:srgbClr val="262626"/>
                </a:solidFill>
                <a:latin typeface="Calibri"/>
              </a:rPr>
              <a:t>, not full boxes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A full pallet holds ~1,000 pieces</a:t>
            </a:r>
            <a:r>
              <a:rPr sz="1250" b="0">
                <a:solidFill>
                  <a:srgbClr val="262626"/>
                </a:solidFill>
                <a:latin typeface="Calibri"/>
              </a:rPr>
              <a:t> and weighs ~431 kg on average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138 products are hazardous</a:t>
            </a:r>
            <a:r>
              <a:rPr sz="1250" b="0">
                <a:solidFill>
                  <a:srgbClr val="262626"/>
                </a:solidFill>
                <a:latin typeface="Calibri"/>
              </a:rPr>
              <a:t> and must be kept apart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063240"/>
            <a:ext cx="5349240" cy="3246120"/>
          </a:xfrm>
          <a:prstGeom prst="roundRect">
            <a:avLst>
              <a:gd name="adj" fmla="val 5500"/>
            </a:avLst>
          </a:prstGeom>
          <a:solidFill>
            <a:srgbClr val="F2F2F2"/>
          </a:solidFill>
          <a:ln>
            <a:noFill/>
          </a:ln>
          <a:effectLst>
            <a:outerShdw blurRad="70000" dist="38000" dir="5400000" rotWithShape="0">
              <a:srgbClr val="9AA0A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72200" y="3172968"/>
            <a:ext cx="118872" cy="3026663"/>
          </a:xfrm>
          <a:prstGeom prst="roundRect">
            <a:avLst>
              <a:gd name="adj" fmla="val 50000"/>
            </a:avLst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209544"/>
            <a:ext cx="48920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The stock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7" y="3666744"/>
            <a:ext cx="4846320" cy="2514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At the busiest moment, ~8,500 pallet spaces were in use</a:t>
            </a:r>
            <a:r>
              <a:rPr sz="1250" b="0">
                <a:solidFill>
                  <a:srgbClr val="262626"/>
                </a:solidFill>
                <a:latin typeface="Calibri"/>
              </a:rPr>
              <a:t> — this is our real storage need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0">
                <a:solidFill>
                  <a:srgbClr val="262626"/>
                </a:solidFill>
                <a:latin typeface="Calibri"/>
              </a:rPr>
              <a:t>(~11,000 pallets fit in those spaces — some spaces hold two)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Stock is growing: pallet spaces rose ~8% in 3 months</a:t>
            </a:r>
            <a:r>
              <a:rPr sz="1250" b="0">
                <a:solidFill>
                  <a:srgbClr val="262626"/>
                </a:solidFill>
                <a:latin typeface="Calibri"/>
              </a:rPr>
              <a:t> — we must leave room to grow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73% of products need only one pallet</a:t>
            </a:r>
            <a:r>
              <a:rPr sz="1250" b="0">
                <a:solidFill>
                  <a:srgbClr val="262626"/>
                </a:solidFill>
                <a:latin typeface="Calibri"/>
              </a:rPr>
              <a:t> — lots of slow sellers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0">
                <a:solidFill>
                  <a:srgbClr val="262626"/>
                </a:solidFill>
                <a:latin typeface="Calibri"/>
              </a:rPr>
              <a:t>Same stock spread over more spaces → </a:t>
            </a:r>
            <a:r>
              <a:rPr sz="1250" b="1">
                <a:solidFill>
                  <a:srgbClr val="262626"/>
                </a:solidFill>
                <a:latin typeface="Calibri"/>
              </a:rPr>
              <a:t>space is being wasted today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Project OTM — Assa Abloy @ DHL Bemmel · Deliverable 1 (Analysis)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51560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62626"/>
                </a:solidFill>
                <a:latin typeface="Calibri"/>
              </a:rPr>
              <a:t>What the Orders Look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78992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Calibri"/>
              </a:rPr>
              <a:t>How customers order tells us the best way to pick — not how DHL did it before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481328"/>
            <a:ext cx="1234440" cy="50292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11358" y="329184"/>
            <a:ext cx="1219809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39374" y="4572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7390" y="329184"/>
            <a:ext cx="927201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40511"/>
                </a:solidFill>
                <a:latin typeface="Calibri"/>
              </a:rPr>
              <a:t>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60000" dist="30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11095"/>
            <a:ext cx="260604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D40511"/>
                </a:solidFill>
                <a:latin typeface="Calibri"/>
              </a:rPr>
              <a:t>8,781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50591"/>
            <a:ext cx="2606040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Orders (3 months)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8308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60000" dist="30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911095"/>
            <a:ext cx="260604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D40511"/>
                </a:solidFill>
                <a:latin typeface="Calibri"/>
              </a:rPr>
              <a:t>39,069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450591"/>
            <a:ext cx="2606040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Order 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8308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60000" dist="30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911095"/>
            <a:ext cx="260604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D40511"/>
                </a:solidFill>
                <a:latin typeface="Calibri"/>
              </a:rPr>
              <a:t>50.5%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450591"/>
            <a:ext cx="2606040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Orders for 1 product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783080"/>
            <a:ext cx="26060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60000" dist="30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3688" y="1911095"/>
            <a:ext cx="260604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D40511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450591"/>
            <a:ext cx="2606040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Pieces in a typical 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63240"/>
            <a:ext cx="5349240" cy="3246120"/>
          </a:xfrm>
          <a:prstGeom prst="roundRect">
            <a:avLst>
              <a:gd name="adj" fmla="val 5500"/>
            </a:avLst>
          </a:prstGeom>
          <a:solidFill>
            <a:srgbClr val="F2F2F2"/>
          </a:solidFill>
          <a:ln>
            <a:noFill/>
          </a:ln>
          <a:effectLst>
            <a:outerShdw blurRad="70000" dist="38000" dir="5400000" rotWithShape="0">
              <a:srgbClr val="9AA0A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172968"/>
            <a:ext cx="118872" cy="3026663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209544"/>
            <a:ext cx="48920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How customers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666744"/>
            <a:ext cx="4846320" cy="2514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One "line" = one product on an order</a:t>
            </a:r>
            <a:r>
              <a:rPr sz="1250" b="0">
                <a:solidFill>
                  <a:srgbClr val="262626"/>
                </a:solidFill>
                <a:latin typeface="Calibri"/>
              </a:rPr>
              <a:t> (39,069 lines in total)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Half of all orders (50.5%) are for a single product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Orders are small</a:t>
            </a:r>
            <a:r>
              <a:rPr sz="1250" b="0">
                <a:solidFill>
                  <a:srgbClr val="262626"/>
                </a:solidFill>
                <a:latin typeface="Calibri"/>
              </a:rPr>
              <a:t> — a typical line is ~5 pieces, far below a full pallet (~1,000)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Customers across NL, Belgium, Germany, France</a:t>
            </a:r>
            <a:r>
              <a:rPr sz="1250" b="0">
                <a:solidFill>
                  <a:srgbClr val="262626"/>
                </a:solidFill>
                <a:latin typeface="Calibri"/>
              </a:rPr>
              <a:t> — an NL hub for Western Europe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063240"/>
            <a:ext cx="5349240" cy="3246120"/>
          </a:xfrm>
          <a:prstGeom prst="roundRect">
            <a:avLst>
              <a:gd name="adj" fmla="val 5500"/>
            </a:avLst>
          </a:prstGeom>
          <a:solidFill>
            <a:srgbClr val="F2F2F2"/>
          </a:solidFill>
          <a:ln>
            <a:noFill/>
          </a:ln>
          <a:effectLst>
            <a:outerShdw blurRad="70000" dist="38000" dir="5400000" rotWithShape="0">
              <a:srgbClr val="9AA0A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3172968"/>
            <a:ext cx="118872" cy="3026663"/>
          </a:xfrm>
          <a:prstGeom prst="roundRect">
            <a:avLst>
              <a:gd name="adj" fmla="val 50000"/>
            </a:avLst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209544"/>
            <a:ext cx="48920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So how should we pick?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3666744"/>
            <a:ext cx="4846320" cy="25146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0">
                <a:solidFill>
                  <a:srgbClr val="262626"/>
                </a:solidFill>
                <a:latin typeface="Calibri"/>
              </a:rPr>
              <a:t>Lots of small orders → </a:t>
            </a:r>
            <a:r>
              <a:rPr sz="1250" b="1">
                <a:solidFill>
                  <a:srgbClr val="262626"/>
                </a:solidFill>
                <a:latin typeface="Calibri"/>
              </a:rPr>
              <a:t>let pickers collect several orders in one trip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0">
                <a:solidFill>
                  <a:srgbClr val="262626"/>
                </a:solidFill>
                <a:latin typeface="Calibri"/>
              </a:rPr>
              <a:t>Many single pieces → </a:t>
            </a:r>
            <a:r>
              <a:rPr sz="1250" b="1">
                <a:solidFill>
                  <a:srgbClr val="262626"/>
                </a:solidFill>
                <a:latin typeface="Calibri"/>
              </a:rPr>
              <a:t>keep best-sellers in a small, easy-to-reach picking area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Full-pallet picking is rarely needed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We base this on the orders themselves</a:t>
            </a:r>
            <a:r>
              <a:rPr sz="1250" b="0">
                <a:solidFill>
                  <a:srgbClr val="262626"/>
                </a:solidFill>
                <a:latin typeface="Calibri"/>
              </a:rPr>
              <a:t>, not on how DHL happened to do it before — so the 20% of unlabelled picks don't affect our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Project OTM — Assa Abloy @ DHL Bemmel · Deliverable 1 (Analysis)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51560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62626"/>
                </a:solidFill>
                <a:latin typeface="Calibri"/>
              </a:rPr>
              <a:t>Which Products Sell the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78992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Calibri"/>
              </a:rPr>
              <a:t>We ranked every product by how often it's actually ordered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481328"/>
            <a:ext cx="1234440" cy="50292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11358" y="329184"/>
            <a:ext cx="1219809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39374" y="4572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7390" y="329184"/>
            <a:ext cx="927201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40511"/>
                </a:solidFill>
                <a:latin typeface="Calibri"/>
              </a:rPr>
              <a:t>ANALYSIS</a:t>
            </a:r>
          </a:p>
        </p:txBody>
      </p:sp>
      <p:pic>
        <p:nvPicPr>
          <p:cNvPr id="9" name="Picture 8" descr="to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94" y="1783080"/>
            <a:ext cx="5355291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720840" y="1783080"/>
            <a:ext cx="4892040" cy="2148840"/>
          </a:xfrm>
          <a:prstGeom prst="roundRect">
            <a:avLst>
              <a:gd name="adj" fmla="val 5500"/>
            </a:avLst>
          </a:prstGeom>
          <a:solidFill>
            <a:srgbClr val="F2F2F2"/>
          </a:solidFill>
          <a:ln>
            <a:noFill/>
          </a:ln>
          <a:effectLst>
            <a:outerShdw blurRad="70000" dist="38000" dir="5400000" rotWithShape="0">
              <a:srgbClr val="9AA0A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02552" y="1892807"/>
            <a:ext cx="118872" cy="1929384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1929384"/>
            <a:ext cx="44348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The 80/20 rule — even stronger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386584"/>
            <a:ext cx="4389120" cy="1417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 </a:t>
            </a:r>
            <a:r>
              <a:rPr sz="1300" b="0">
                <a:solidFill>
                  <a:srgbClr val="262626"/>
                </a:solidFill>
                <a:latin typeface="Calibri"/>
              </a:rPr>
              <a:t>A — the stars: 13% of products = </a:t>
            </a:r>
            <a:r>
              <a:rPr sz="1300" b="1">
                <a:solidFill>
                  <a:srgbClr val="262626"/>
                </a:solidFill>
                <a:latin typeface="Calibri"/>
              </a:rPr>
              <a:t>80% of what ships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 </a:t>
            </a:r>
            <a:r>
              <a:rPr sz="1300" b="0">
                <a:solidFill>
                  <a:srgbClr val="262626"/>
                </a:solidFill>
                <a:latin typeface="Calibri"/>
              </a:rPr>
              <a:t>B — steady: 20% of products = </a:t>
            </a:r>
            <a:r>
              <a:rPr sz="1300" b="1">
                <a:solidFill>
                  <a:srgbClr val="262626"/>
                </a:solidFill>
                <a:latin typeface="Calibri"/>
              </a:rPr>
              <a:t>15%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 </a:t>
            </a:r>
            <a:r>
              <a:rPr sz="1300" b="0">
                <a:solidFill>
                  <a:srgbClr val="262626"/>
                </a:solidFill>
                <a:latin typeface="Calibri"/>
              </a:rPr>
              <a:t>C — slow: 67% of products = </a:t>
            </a:r>
            <a:r>
              <a:rPr sz="1300" b="1">
                <a:solidFill>
                  <a:srgbClr val="262626"/>
                </a:solidFill>
                <a:latin typeface="Calibri"/>
              </a:rPr>
              <a:t>only 5%</a:t>
            </a:r>
          </a:p>
        </p:txBody>
      </p:sp>
      <p:pic>
        <p:nvPicPr>
          <p:cNvPr id="14" name="Picture 13" descr="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254" y="4069080"/>
            <a:ext cx="3087210" cy="1965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080760"/>
            <a:ext cx="11155680" cy="4572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40511"/>
                </a:solidFill>
                <a:latin typeface="Calibri"/>
              </a:rPr>
              <a:t>Today only about half the products are stored by how often they sell</a:t>
            </a:r>
            <a:r>
              <a:rPr sz="1250" b="0">
                <a:solidFill>
                  <a:srgbClr val="262626"/>
                </a:solidFill>
                <a:latin typeface="Calibri"/>
              </a:rPr>
              <a:t> — so many best-sellers sit far from the door. They should move closer.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Project OTM — Assa Abloy @ DHL Bemmel · Deliverable 1 (Analysis)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51560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62626"/>
                </a:solidFill>
                <a:latin typeface="Calibri"/>
              </a:rPr>
              <a:t>Busy Days vs Normal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78992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Calibri"/>
              </a:rPr>
              <a:t>The warehouse must cope with the busiest days, not just the average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481328"/>
            <a:ext cx="1234440" cy="50292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11358" y="329184"/>
            <a:ext cx="1219809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39374" y="4572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7390" y="329184"/>
            <a:ext cx="927201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40511"/>
                </a:solidFill>
                <a:latin typeface="Calibri"/>
              </a:rP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5029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0511"/>
                </a:solidFill>
                <a:latin typeface="Calibri"/>
              </a:rPr>
              <a:t>A NORMAL DAY VS THE BUSIEST DAY</a:t>
            </a:r>
          </a:p>
        </p:txBody>
      </p:sp>
      <p:pic>
        <p:nvPicPr>
          <p:cNvPr id="10" name="Picture 9" descr="pea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54" y="2011680"/>
            <a:ext cx="4793370" cy="2880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4892040"/>
            <a:ext cx="5486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Pieces are shown ÷100 so all four bars fit on one scale.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64208"/>
            <a:ext cx="502920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0511"/>
                </a:solidFill>
                <a:latin typeface="Calibri"/>
              </a:rPr>
              <a:t>THE NUMBERS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2011680"/>
          <a:ext cx="516636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937260"/>
                <a:gridCol w="937260"/>
                <a:gridCol w="937260"/>
                <a:gridCol w="937260"/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D405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Normal day</a:t>
                      </a:r>
                    </a:p>
                  </a:txBody>
                  <a:tcPr marL="54864" marR="36576" marT="18288" marB="18288" anchor="ctr">
                    <a:solidFill>
                      <a:srgbClr val="D405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Busiest day</a:t>
                      </a:r>
                    </a:p>
                  </a:txBody>
                  <a:tcPr marL="54864" marR="36576" marT="18288" marB="18288" anchor="ctr">
                    <a:solidFill>
                      <a:srgbClr val="D405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How much more</a:t>
                      </a:r>
                    </a:p>
                  </a:txBody>
                  <a:tcPr marL="54864" marR="36576" marT="18288" marB="18288" anchor="ctr">
                    <a:solidFill>
                      <a:srgbClr val="D405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54864" marR="36576" marT="18288" marB="18288" anchor="ctr">
                    <a:solidFill>
                      <a:srgbClr val="D4051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Calibri"/>
                        </a:rPr>
                        <a:t>Order lines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1,171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1.8×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27-May-25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Calibri"/>
                        </a:rPr>
                        <a:t>Pieces</a:t>
                      </a:r>
                    </a:p>
                  </a:txBody>
                  <a:tcPr marL="54864" marR="36576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22,269</a:t>
                      </a:r>
                    </a:p>
                  </a:txBody>
                  <a:tcPr marL="54864" marR="36576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63,469</a:t>
                      </a:r>
                    </a:p>
                  </a:txBody>
                  <a:tcPr marL="54864" marR="36576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2.9×</a:t>
                      </a:r>
                    </a:p>
                  </a:txBody>
                  <a:tcPr marL="54864" marR="36576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27-May-25</a:t>
                      </a:r>
                    </a:p>
                  </a:txBody>
                  <a:tcPr marL="54864" marR="36576" marT="18288" marB="18288" anchor="ctr">
                    <a:solidFill>
                      <a:srgbClr val="F5F5F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1.7×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29-Apr-25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62626"/>
                          </a:solidFill>
                          <a:latin typeface="Calibri"/>
                        </a:rPr>
                        <a:t>Shipments</a:t>
                      </a:r>
                    </a:p>
                  </a:txBody>
                  <a:tcPr marL="54864" marR="36576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134</a:t>
                      </a:r>
                    </a:p>
                  </a:txBody>
                  <a:tcPr marL="54864" marR="36576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229</a:t>
                      </a:r>
                    </a:p>
                  </a:txBody>
                  <a:tcPr marL="54864" marR="36576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1.7×</a:t>
                      </a:r>
                    </a:p>
                  </a:txBody>
                  <a:tcPr marL="54864" marR="36576" marT="18288" marB="18288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29-Apr-25</a:t>
                      </a:r>
                    </a:p>
                  </a:txBody>
                  <a:tcPr marL="54864" marR="36576" marT="18288" marB="18288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46520" y="3977639"/>
            <a:ext cx="516636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62626"/>
                </a:solidFill>
                <a:latin typeface="Calibri"/>
              </a:rPr>
              <a:t>Plan for the busy days. </a:t>
            </a:r>
            <a:r>
              <a:rPr sz="1250" b="0">
                <a:solidFill>
                  <a:srgbClr val="262626"/>
                </a:solidFill>
                <a:latin typeface="Calibri"/>
              </a:rPr>
              <a:t>On the busiest day the warehouse shipped nearly 3× the usual pieces, so it needs spare capacity.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257800"/>
            <a:ext cx="5349240" cy="1234440"/>
          </a:xfrm>
          <a:prstGeom prst="roundRect">
            <a:avLst>
              <a:gd name="adj" fmla="val 5500"/>
            </a:avLst>
          </a:prstGeom>
          <a:solidFill>
            <a:srgbClr val="F2F2F2"/>
          </a:solidFill>
          <a:ln>
            <a:noFill/>
          </a:ln>
          <a:effectLst>
            <a:outerShdw blurRad="70000" dist="38000" dir="5400000" rotWithShape="0">
              <a:srgbClr val="9AA0A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5367528"/>
            <a:ext cx="118872" cy="1014984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04104"/>
            <a:ext cx="48920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  <a:latin typeface="Calibri"/>
              </a:rPr>
              <a:t>Busy weeks too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861304"/>
            <a:ext cx="484632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The busiest week handled </a:t>
            </a:r>
            <a:r>
              <a:rPr sz="1150" b="1">
                <a:solidFill>
                  <a:srgbClr val="262626"/>
                </a:solidFill>
                <a:latin typeface="Calibri"/>
              </a:rPr>
              <a:t>3,563 lines</a:t>
            </a:r>
            <a:r>
              <a:rPr sz="1150" b="0">
                <a:solidFill>
                  <a:srgbClr val="262626"/>
                </a:solidFill>
                <a:latin typeface="Calibri"/>
              </a:rPr>
              <a:t> vs ~2,791 normally — a busy spell, not just one day.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5257800"/>
            <a:ext cx="5349240" cy="1234440"/>
          </a:xfrm>
          <a:prstGeom prst="roundRect">
            <a:avLst>
              <a:gd name="adj" fmla="val 5500"/>
            </a:avLst>
          </a:prstGeom>
          <a:solidFill>
            <a:srgbClr val="F2F2F2"/>
          </a:solidFill>
          <a:ln>
            <a:noFill/>
          </a:ln>
          <a:effectLst>
            <a:outerShdw blurRad="70000" dist="38000" dir="5400000" rotWithShape="0">
              <a:srgbClr val="9AA0A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5352" y="5367528"/>
            <a:ext cx="118872" cy="1014984"/>
          </a:xfrm>
          <a:prstGeom prst="roundRect">
            <a:avLst>
              <a:gd name="adj" fmla="val 50000"/>
            </a:avLst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5404104"/>
            <a:ext cx="489204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  <a:latin typeface="Calibri"/>
              </a:rPr>
              <a:t>Why 08:00 is the busiest hour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5861304"/>
            <a:ext cx="484632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62626"/>
                </a:solidFill>
                <a:latin typeface="Calibri"/>
              </a:rPr>
              <a:t>It's the order release, not demand.</a:t>
            </a:r>
            <a:r>
              <a:rPr sz="1150" b="0">
                <a:solidFill>
                  <a:srgbClr val="262626"/>
                </a:solidFill>
                <a:latin typeface="Calibri"/>
              </a:rPr>
              <a:t> Afternoon orders are released at 16:00–17:00 and picked next morning. Mon–Fri only.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Project OTM — Assa Abloy @ DHL Bemmel · Deliverable 1 (Analysis)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51560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62626"/>
                </a:solidFill>
                <a:latin typeface="Calibri"/>
              </a:rPr>
              <a:t>How Much Storage We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78992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Calibri"/>
              </a:rPr>
              <a:t>Sizing the warehouse on solid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481328"/>
            <a:ext cx="1234440" cy="50292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3691" y="329184"/>
            <a:ext cx="1757476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01707" y="4572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29723" y="329184"/>
            <a:ext cx="1464868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40511"/>
                </a:solidFill>
                <a:latin typeface="Calibri"/>
              </a:rPr>
              <a:t>RECOMMENDATION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2743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60000" dist="30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11095"/>
            <a:ext cx="274320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D40511"/>
                </a:solidFill>
                <a:latin typeface="Calibri"/>
              </a:rPr>
              <a:t>~8,500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04872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Pallet spaces at peak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1783080"/>
            <a:ext cx="2743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60000" dist="30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911095"/>
            <a:ext cx="274320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D40511"/>
                </a:solidFill>
                <a:latin typeface="Calibri"/>
              </a:rPr>
              <a:t>~9,500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404872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Spaces we'll build for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55664" y="1783080"/>
            <a:ext cx="274320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>
            <a:outerShdw blurRad="60000" dist="30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911095"/>
            <a:ext cx="2743200" cy="5029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D40511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404872"/>
            <a:ext cx="2743200" cy="292608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Levels high (up to 12.2 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017520"/>
            <a:ext cx="5029200" cy="2514600"/>
          </a:xfrm>
          <a:prstGeom prst="roundRect">
            <a:avLst>
              <a:gd name="adj" fmla="val 5500"/>
            </a:avLst>
          </a:prstGeom>
          <a:solidFill>
            <a:srgbClr val="F2F2F2"/>
          </a:solidFill>
          <a:ln>
            <a:noFill/>
          </a:ln>
          <a:effectLst>
            <a:outerShdw blurRad="70000" dist="38000" dir="5400000" rotWithShape="0">
              <a:srgbClr val="9AA0A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127248"/>
            <a:ext cx="118872" cy="2295144"/>
          </a:xfrm>
          <a:prstGeom prst="roundRect">
            <a:avLst>
              <a:gd name="adj" fmla="val 50000"/>
            </a:avLst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63824"/>
            <a:ext cx="45720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How we sized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621024"/>
            <a:ext cx="4526280" cy="178308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The busiest day used ~8,500 pallet spaces</a:t>
            </a:r>
            <a:r>
              <a:rPr sz="1250" b="0">
                <a:solidFill>
                  <a:srgbClr val="262626"/>
                </a:solidFill>
                <a:latin typeface="Calibri"/>
              </a:rPr>
              <a:t> — that's the real need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We plan for ~9,500</a:t>
            </a:r>
            <a:r>
              <a:rPr sz="1250" b="0">
                <a:solidFill>
                  <a:srgbClr val="262626"/>
                </a:solidFill>
                <a:latin typeface="Calibri"/>
              </a:rPr>
              <a:t> so racks are never 100% full (easier to work)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Growth is handled by tall racks</a:t>
            </a:r>
            <a:r>
              <a:rPr sz="1250" b="0">
                <a:solidFill>
                  <a:srgbClr val="262626"/>
                </a:solidFill>
                <a:latin typeface="Calibri"/>
              </a:rPr>
              <a:t>, not by adding a big safety number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•  </a:t>
            </a:r>
            <a:r>
              <a:rPr sz="1250" b="1">
                <a:solidFill>
                  <a:srgbClr val="262626"/>
                </a:solidFill>
                <a:latin typeface="Calibri"/>
              </a:rPr>
              <a:t>This replaces our earlier 14,074</a:t>
            </a:r>
            <a:r>
              <a:rPr sz="1250" b="0">
                <a:solidFill>
                  <a:srgbClr val="262626"/>
                </a:solidFill>
                <a:latin typeface="Calibri"/>
              </a:rPr>
              <a:t> — too high, per the feedback</a:t>
            </a:r>
          </a:p>
        </p:txBody>
      </p:sp>
      <p:pic>
        <p:nvPicPr>
          <p:cNvPr id="22" name="Picture 21" descr="fea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021" y="2926080"/>
            <a:ext cx="4471277" cy="2697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52160" y="5504688"/>
            <a:ext cx="576072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Floor space each storage style needs vs the 7,000 m² limit.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806440"/>
            <a:ext cx="10881360" cy="658368"/>
          </a:xfrm>
          <a:prstGeom prst="roundRect">
            <a:avLst>
              <a:gd name="adj" fmla="val 14000"/>
            </a:avLst>
          </a:prstGeom>
          <a:solidFill>
            <a:srgbClr val="FFCC00"/>
          </a:solidFill>
          <a:ln>
            <a:noFill/>
          </a:ln>
          <a:effectLst>
            <a:outerShdw blurRad="70000" dist="38000" dir="5400000" rotWithShape="0">
              <a:srgbClr val="9AA0A6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806440"/>
            <a:ext cx="10424160" cy="65836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  <a:latin typeface="Calibri"/>
              </a:rPr>
              <a:t>Two-deep racking fills only ~61% of the space</a:t>
            </a:r>
            <a:r>
              <a:rPr sz="1300" b="0">
                <a:solidFill>
                  <a:srgbClr val="262626"/>
                </a:solidFill>
                <a:latin typeface="Calibri"/>
              </a:rPr>
              <a:t> — plenty of room. So we choose on efficiency, not just fitting 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51560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62626"/>
                </a:solidFill>
                <a:latin typeface="Calibri"/>
              </a:rPr>
              <a:t>Three Options — and Why We Pick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78992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Calibri"/>
              </a:rPr>
              <a:t>Every choice works together across the whole warehouse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481328"/>
            <a:ext cx="1234440" cy="50292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3691" y="329184"/>
            <a:ext cx="1757476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01707" y="4572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29723" y="329184"/>
            <a:ext cx="1464868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40511"/>
                </a:solidFill>
                <a:latin typeface="Calibri"/>
              </a:rPr>
              <a:t>RECOMMENDATION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3246120" cy="1417320"/>
          </a:xfrm>
          <a:prstGeom prst="roundRect">
            <a:avLst>
              <a:gd name="adj" fmla="val 7000"/>
            </a:avLst>
          </a:prstGeom>
          <a:solidFill>
            <a:srgbClr val="F2F2F2"/>
          </a:solidFill>
          <a:ln>
            <a:noFill/>
          </a:ln>
          <a:effectLst>
            <a:outerShdw blurRad="70000" dist="38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109728" cy="123444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28800"/>
            <a:ext cx="288036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  <a:latin typeface="Calibri"/>
              </a:rPr>
              <a:t>Option A — Keep it simple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2788920" cy="9144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· </a:t>
            </a:r>
            <a:r>
              <a:rPr sz="1100" b="0">
                <a:solidFill>
                  <a:srgbClr val="262626"/>
                </a:solidFill>
                <a:latin typeface="Calibri"/>
              </a:rPr>
              <a:t>Normal racks, narrow aisles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· </a:t>
            </a:r>
            <a:r>
              <a:rPr sz="1100" b="0">
                <a:solidFill>
                  <a:srgbClr val="262626"/>
                </a:solidFill>
                <a:latin typeface="Calibri"/>
              </a:rPr>
              <a:t>Pick orders one by 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· </a:t>
            </a:r>
            <a:r>
              <a:rPr sz="1100" b="0">
                <a:solidFill>
                  <a:srgbClr val="262626"/>
                </a:solidFill>
                <a:latin typeface="Calibri"/>
              </a:rPr>
              <a:t>Uses ~72% of the space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· </a:t>
            </a:r>
            <a:r>
              <a:rPr sz="1100" b="0">
                <a:solidFill>
                  <a:srgbClr val="262626"/>
                </a:solidFill>
                <a:latin typeface="Calibri"/>
              </a:rPr>
              <a:t>Cheapest, but most walking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64408"/>
            <a:ext cx="3246120" cy="1417320"/>
          </a:xfrm>
          <a:prstGeom prst="roundRect">
            <a:avLst>
              <a:gd name="adj" fmla="val 7000"/>
            </a:avLst>
          </a:prstGeom>
          <a:solidFill>
            <a:srgbClr val="FFF7DB"/>
          </a:solidFill>
          <a:ln>
            <a:noFill/>
          </a:ln>
          <a:effectLst>
            <a:outerShdw blurRad="70000" dist="38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355848"/>
            <a:ext cx="109728" cy="1234440"/>
          </a:xfrm>
          <a:prstGeom prst="roundRect">
            <a:avLst>
              <a:gd name="adj" fmla="val 50000"/>
            </a:avLst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355848"/>
            <a:ext cx="288036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  <a:latin typeface="Calibri"/>
              </a:rPr>
              <a:t>Option B — Best balance 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21608"/>
            <a:ext cx="2788920" cy="9144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· </a:t>
            </a:r>
            <a:r>
              <a:rPr sz="1100" b="0">
                <a:solidFill>
                  <a:srgbClr val="262626"/>
                </a:solidFill>
                <a:latin typeface="Calibri"/>
              </a:rPr>
              <a:t>Two-deep racks + fast-pick area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· </a:t>
            </a:r>
            <a:r>
              <a:rPr sz="1100" b="0">
                <a:solidFill>
                  <a:srgbClr val="262626"/>
                </a:solidFill>
                <a:latin typeface="Calibri"/>
              </a:rPr>
              <a:t>Pickers work zones, many orders/trip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· </a:t>
            </a:r>
            <a:r>
              <a:rPr sz="1100" b="0">
                <a:solidFill>
                  <a:srgbClr val="262626"/>
                </a:solidFill>
                <a:latin typeface="Calibri"/>
              </a:rPr>
              <a:t>Uses ~61%, room to grow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· </a:t>
            </a:r>
            <a:r>
              <a:rPr sz="1100" b="0">
                <a:solidFill>
                  <a:srgbClr val="262626"/>
                </a:solidFill>
                <a:latin typeface="Calibri"/>
              </a:rPr>
              <a:t>Best mix of space &amp; effort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91456"/>
            <a:ext cx="3246120" cy="1417320"/>
          </a:xfrm>
          <a:prstGeom prst="roundRect">
            <a:avLst>
              <a:gd name="adj" fmla="val 7000"/>
            </a:avLst>
          </a:prstGeom>
          <a:solidFill>
            <a:srgbClr val="F2F2F2"/>
          </a:solidFill>
          <a:ln>
            <a:noFill/>
          </a:ln>
          <a:effectLst>
            <a:outerShdw blurRad="70000" dist="38000" dir="5400000" rotWithShape="0">
              <a:srgbClr val="9AA0A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882896"/>
            <a:ext cx="109728" cy="123444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882896"/>
            <a:ext cx="2880360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62626"/>
                </a:solidFill>
                <a:latin typeface="Calibri"/>
              </a:rPr>
              <a:t>Option C — 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48656"/>
            <a:ext cx="2788920" cy="91440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· </a:t>
            </a:r>
            <a:r>
              <a:rPr sz="1100" b="0">
                <a:solidFill>
                  <a:srgbClr val="262626"/>
                </a:solidFill>
                <a:latin typeface="Calibri"/>
              </a:rPr>
              <a:t>Very narrow aisles + machines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· </a:t>
            </a:r>
            <a:r>
              <a:rPr sz="1100" b="0">
                <a:solidFill>
                  <a:srgbClr val="262626"/>
                </a:solidFill>
                <a:latin typeface="Calibri"/>
              </a:rPr>
              <a:t>Machines bring items to pickers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· </a:t>
            </a:r>
            <a:r>
              <a:rPr sz="1100" b="0">
                <a:solidFill>
                  <a:srgbClr val="262626"/>
                </a:solidFill>
                <a:latin typeface="Calibri"/>
              </a:rPr>
              <a:t>Uses ~48% (tightest)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· </a:t>
            </a:r>
            <a:r>
              <a:rPr sz="1100" b="0">
                <a:solidFill>
                  <a:srgbClr val="262626"/>
                </a:solidFill>
                <a:latin typeface="Calibri"/>
              </a:rPr>
              <a:t>Most expensive &amp; complex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1691639"/>
            <a:ext cx="7498079" cy="32004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40511"/>
                </a:solidFill>
                <a:latin typeface="Calibri"/>
              </a:rPr>
              <a:t>WHY OPTION B — WHAT WE FOUND → WHAT WE DECIDED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2121408"/>
            <a:ext cx="3063240" cy="60350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4528" y="2121408"/>
            <a:ext cx="28803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62626"/>
                </a:solidFill>
                <a:latin typeface="Calibri"/>
              </a:rPr>
              <a:t>Many slow sellers + need room to grow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121408"/>
            <a:ext cx="3657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0511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2121408"/>
            <a:ext cx="4005072" cy="603504"/>
          </a:xfrm>
          <a:prstGeom prst="roundRect">
            <a:avLst>
              <a:gd name="adj" fmla="val 10000"/>
            </a:avLst>
          </a:prstGeom>
          <a:solidFill>
            <a:srgbClr val="FFF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0" y="2194560"/>
            <a:ext cx="73152" cy="457200"/>
          </a:xfrm>
          <a:prstGeom prst="roundRect">
            <a:avLst>
              <a:gd name="adj" fmla="val 50000"/>
            </a:avLst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121408"/>
            <a:ext cx="37947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>
                <a:solidFill>
                  <a:srgbClr val="262626"/>
                </a:solidFill>
                <a:latin typeface="Calibri"/>
              </a:rPr>
              <a:t>Store pallets two-deep — saves space, less walking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2779776"/>
            <a:ext cx="3063240" cy="60350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24528" y="2779776"/>
            <a:ext cx="28803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62626"/>
                </a:solidFill>
                <a:latin typeface="Calibri"/>
              </a:rPr>
              <a:t>Lots of single pieces and small 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779776"/>
            <a:ext cx="3657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0511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07808" y="2779776"/>
            <a:ext cx="4005072" cy="603504"/>
          </a:xfrm>
          <a:prstGeom prst="roundRect">
            <a:avLst>
              <a:gd name="adj" fmla="val 10000"/>
            </a:avLst>
          </a:prstGeom>
          <a:solidFill>
            <a:srgbClr val="FFF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89520" y="2852928"/>
            <a:ext cx="73152" cy="457200"/>
          </a:xfrm>
          <a:prstGeom prst="roundRect">
            <a:avLst>
              <a:gd name="adj" fmla="val 50000"/>
            </a:avLst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779776"/>
            <a:ext cx="37947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>
                <a:solidFill>
                  <a:srgbClr val="262626"/>
                </a:solidFill>
                <a:latin typeface="Calibri"/>
              </a:rPr>
              <a:t>A small fast-pick area near the door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0" y="3438144"/>
            <a:ext cx="3063240" cy="60350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24528" y="3438144"/>
            <a:ext cx="28803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62626"/>
                </a:solidFill>
                <a:latin typeface="Calibri"/>
              </a:rPr>
              <a:t>Best-sellers stored in the wrong places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3438144"/>
            <a:ext cx="3657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0511"/>
                </a:solidFill>
                <a:latin typeface="Calibr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07808" y="3438144"/>
            <a:ext cx="4005072" cy="603504"/>
          </a:xfrm>
          <a:prstGeom prst="roundRect">
            <a:avLst>
              <a:gd name="adj" fmla="val 10000"/>
            </a:avLst>
          </a:prstGeom>
          <a:solidFill>
            <a:srgbClr val="FFF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89520" y="3511296"/>
            <a:ext cx="73152" cy="457200"/>
          </a:xfrm>
          <a:prstGeom prst="roundRect">
            <a:avLst>
              <a:gd name="adj" fmla="val 50000"/>
            </a:avLst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3438144"/>
            <a:ext cx="37947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>
                <a:solidFill>
                  <a:srgbClr val="262626"/>
                </a:solidFill>
                <a:latin typeface="Calibri"/>
              </a:rPr>
              <a:t>Put the most-ordered items closest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0" y="4096512"/>
            <a:ext cx="3063240" cy="60350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24528" y="4096512"/>
            <a:ext cx="28803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62626"/>
                </a:solidFill>
                <a:latin typeface="Calibri"/>
              </a:rPr>
              <a:t>Half of orders are for one product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4096512"/>
            <a:ext cx="3657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0511"/>
                </a:solidFill>
                <a:latin typeface="Calibr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07808" y="4096512"/>
            <a:ext cx="4005072" cy="603504"/>
          </a:xfrm>
          <a:prstGeom prst="roundRect">
            <a:avLst>
              <a:gd name="adj" fmla="val 10000"/>
            </a:avLst>
          </a:prstGeom>
          <a:solidFill>
            <a:srgbClr val="FFF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589520" y="4169664"/>
            <a:ext cx="73152" cy="457200"/>
          </a:xfrm>
          <a:prstGeom prst="roundRect">
            <a:avLst>
              <a:gd name="adj" fmla="val 50000"/>
            </a:avLst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4096512"/>
            <a:ext cx="37947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>
                <a:solidFill>
                  <a:srgbClr val="262626"/>
                </a:solidFill>
                <a:latin typeface="Calibri"/>
              </a:rPr>
              <a:t>Pickers collect several orders per trip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0" y="4754879"/>
            <a:ext cx="3063240" cy="60350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24528" y="4754879"/>
            <a:ext cx="28803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62626"/>
                </a:solidFill>
                <a:latin typeface="Calibri"/>
              </a:rPr>
              <a:t>Some hazardous and some very long items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754879"/>
            <a:ext cx="3657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0511"/>
                </a:solidFill>
                <a:latin typeface="Calibri"/>
              </a:rP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07808" y="4754879"/>
            <a:ext cx="4005072" cy="603504"/>
          </a:xfrm>
          <a:prstGeom prst="roundRect">
            <a:avLst>
              <a:gd name="adj" fmla="val 10000"/>
            </a:avLst>
          </a:prstGeom>
          <a:solidFill>
            <a:srgbClr val="FFF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589520" y="4828031"/>
            <a:ext cx="73152" cy="457200"/>
          </a:xfrm>
          <a:prstGeom prst="roundRect">
            <a:avLst>
              <a:gd name="adj" fmla="val 50000"/>
            </a:avLst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4754879"/>
            <a:ext cx="37947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>
                <a:solidFill>
                  <a:srgbClr val="262626"/>
                </a:solidFill>
                <a:latin typeface="Calibri"/>
              </a:rPr>
              <a:t>Separate area + special long-item racks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0" y="5413248"/>
            <a:ext cx="3063240" cy="60350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24528" y="5413248"/>
            <a:ext cx="28803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>
                <a:solidFill>
                  <a:srgbClr val="262626"/>
                </a:solidFill>
                <a:latin typeface="Calibri"/>
              </a:rPr>
              <a:t>Busiest day ~3× the average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5413248"/>
            <a:ext cx="3657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40511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07808" y="5413248"/>
            <a:ext cx="4005072" cy="603504"/>
          </a:xfrm>
          <a:prstGeom prst="roundRect">
            <a:avLst>
              <a:gd name="adj" fmla="val 10000"/>
            </a:avLst>
          </a:prstGeom>
          <a:solidFill>
            <a:srgbClr val="FFF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589520" y="5486400"/>
            <a:ext cx="73152" cy="457200"/>
          </a:xfrm>
          <a:prstGeom prst="roundRect">
            <a:avLst>
              <a:gd name="adj" fmla="val 50000"/>
            </a:avLst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0" y="5413248"/>
            <a:ext cx="3794760" cy="60350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1">
                <a:solidFill>
                  <a:srgbClr val="262626"/>
                </a:solidFill>
                <a:latin typeface="Calibri"/>
              </a:rPr>
              <a:t>Size the pack &amp; ship area for busy days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Project OTM — Assa Abloy @ DHL Bemmel · Deliverable 1 (Analysis)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515600" cy="8229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62626"/>
                </a:solidFill>
                <a:latin typeface="Calibri"/>
              </a:rPr>
              <a:t>Our Recommended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078992"/>
            <a:ext cx="100584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Calibri"/>
              </a:rPr>
              <a:t>The full floor plan, drawn to scale, showing how goods move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481328"/>
            <a:ext cx="1234440" cy="50292"/>
          </a:xfrm>
          <a:prstGeom prst="rect">
            <a:avLst/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3691" y="329184"/>
            <a:ext cx="1757476" cy="329184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01707" y="4572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29723" y="329184"/>
            <a:ext cx="1464868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D40511"/>
                </a:solidFill>
                <a:latin typeface="Calibri"/>
              </a:rPr>
              <a:t>RECOMMENDATION</a:t>
            </a:r>
          </a:p>
        </p:txBody>
      </p:sp>
      <p:pic>
        <p:nvPicPr>
          <p:cNvPr id="9" name="Picture 8" descr="layout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975" y="1371600"/>
            <a:ext cx="5066528" cy="4937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737360"/>
            <a:ext cx="3429000" cy="2331720"/>
          </a:xfrm>
          <a:prstGeom prst="roundRect">
            <a:avLst>
              <a:gd name="adj" fmla="val 5500"/>
            </a:avLst>
          </a:prstGeom>
          <a:solidFill>
            <a:srgbClr val="F2F2F2"/>
          </a:solidFill>
          <a:ln>
            <a:noFill/>
          </a:ln>
          <a:effectLst>
            <a:outerShdw blurRad="70000" dist="38000" dir="5400000" rotWithShape="0">
              <a:srgbClr val="9AA0A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11312" y="1847088"/>
            <a:ext cx="118872" cy="2112263"/>
          </a:xfrm>
          <a:prstGeom prst="roundRect">
            <a:avLst>
              <a:gd name="adj" fmla="val 50000"/>
            </a:avLst>
          </a:prstGeom>
          <a:solidFill>
            <a:srgbClr val="D40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1883664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The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340864"/>
            <a:ext cx="2926080" cy="1600199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0">
                <a:solidFill>
                  <a:srgbClr val="6B7280"/>
                </a:solidFill>
                <a:latin typeface="Calibri"/>
              </a:rPr>
              <a:t>•  </a:t>
            </a:r>
            <a:r>
              <a:rPr sz="1130" b="0">
                <a:solidFill>
                  <a:srgbClr val="262626"/>
                </a:solidFill>
                <a:latin typeface="Calibri"/>
              </a:rPr>
              <a:t>Two-deep racks for the many slow sellers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0">
                <a:solidFill>
                  <a:srgbClr val="6B7280"/>
                </a:solidFill>
                <a:latin typeface="Calibri"/>
              </a:rPr>
              <a:t>•  </a:t>
            </a:r>
            <a:r>
              <a:rPr sz="1130" b="0">
                <a:solidFill>
                  <a:srgbClr val="262626"/>
                </a:solidFill>
                <a:latin typeface="Calibri"/>
              </a:rPr>
              <a:t>Special racks for odd or long items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0">
                <a:solidFill>
                  <a:srgbClr val="6B7280"/>
                </a:solidFill>
                <a:latin typeface="Calibri"/>
              </a:rPr>
              <a:t>•  </a:t>
            </a:r>
            <a:r>
              <a:rPr sz="1130" b="0">
                <a:solidFill>
                  <a:srgbClr val="262626"/>
                </a:solidFill>
                <a:latin typeface="Calibri"/>
              </a:rPr>
              <a:t>A fast-pick area for the best-sellers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0">
                <a:solidFill>
                  <a:srgbClr val="6B7280"/>
                </a:solidFill>
                <a:latin typeface="Calibri"/>
              </a:rPr>
              <a:t>•  </a:t>
            </a:r>
            <a:r>
              <a:rPr sz="1130" b="0">
                <a:solidFill>
                  <a:srgbClr val="262626"/>
                </a:solidFill>
                <a:latin typeface="Calibri"/>
              </a:rPr>
              <a:t>Goods-in, returns, packing, shipping, offices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206240"/>
            <a:ext cx="3429000" cy="2331720"/>
          </a:xfrm>
          <a:prstGeom prst="roundRect">
            <a:avLst>
              <a:gd name="adj" fmla="val 5500"/>
            </a:avLst>
          </a:prstGeom>
          <a:solidFill>
            <a:srgbClr val="F2F2F2"/>
          </a:solidFill>
          <a:ln>
            <a:noFill/>
          </a:ln>
          <a:effectLst>
            <a:outerShdw blurRad="70000" dist="38000" dir="5400000" rotWithShape="0">
              <a:srgbClr val="9AA0A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11312" y="4315968"/>
            <a:ext cx="118872" cy="2112263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4352544"/>
            <a:ext cx="2971800" cy="36576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  <a:latin typeface="Calibri"/>
              </a:rPr>
              <a:t>How goods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809744"/>
            <a:ext cx="2926080" cy="1600199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0">
                <a:solidFill>
                  <a:srgbClr val="6B7280"/>
                </a:solidFill>
                <a:latin typeface="Calibri"/>
              </a:rPr>
              <a:t>•  </a:t>
            </a:r>
            <a:r>
              <a:rPr sz="1130" b="1">
                <a:solidFill>
                  <a:srgbClr val="262626"/>
                </a:solidFill>
                <a:latin typeface="Calibri"/>
              </a:rPr>
              <a:t>In → put away → refill → pick → pack → out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0">
                <a:solidFill>
                  <a:srgbClr val="6B7280"/>
                </a:solidFill>
                <a:latin typeface="Calibri"/>
              </a:rPr>
              <a:t>•  </a:t>
            </a:r>
            <a:r>
              <a:rPr sz="1130" b="0">
                <a:solidFill>
                  <a:srgbClr val="262626"/>
                </a:solidFill>
                <a:latin typeface="Calibri"/>
              </a:rPr>
              <a:t>Best-sellers picked from the fast-pick area up front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0">
                <a:solidFill>
                  <a:srgbClr val="6B7280"/>
                </a:solidFill>
                <a:latin typeface="Calibri"/>
              </a:rPr>
              <a:t>•  </a:t>
            </a:r>
            <a:r>
              <a:rPr sz="1130" b="1">
                <a:solidFill>
                  <a:srgbClr val="262626"/>
                </a:solidFill>
                <a:latin typeface="Calibri"/>
              </a:rPr>
              <a:t>3 receiving doors (west) + 5 shipping (east)</a:t>
            </a:r>
            <a:r>
              <a:rPr sz="1130" b="0">
                <a:solidFill>
                  <a:srgbClr val="262626"/>
                </a:solidFill>
                <a:latin typeface="Calibri"/>
              </a:rPr>
              <a:t> → straight-through flow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0">
                <a:solidFill>
                  <a:srgbClr val="6B7280"/>
                </a:solidFill>
                <a:latin typeface="Calibri"/>
              </a:rPr>
              <a:t>•  </a:t>
            </a:r>
            <a:r>
              <a:rPr sz="1130" b="1">
                <a:solidFill>
                  <a:srgbClr val="262626"/>
                </a:solidFill>
                <a:latin typeface="Calibri"/>
              </a:rPr>
              <a:t>Uses 6,541 m² (93% of the limit)</a:t>
            </a:r>
            <a:r>
              <a:rPr sz="1130" b="0">
                <a:solidFill>
                  <a:srgbClr val="262626"/>
                </a:solidFill>
                <a:latin typeface="Calibri"/>
              </a:rPr>
              <a:t>, with room to grow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Project OTM — Assa Abloy @ DHL Bemmel · Deliverable 1 (Analysis)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</p:spPr>
        <p:txBody>
          <a:bodyPr wrap="square" anchor="t" lIns="54864" rIns="54864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