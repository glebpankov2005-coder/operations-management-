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595959"/>
                </a:solidFill>
                <a:latin typeface="Calibri"/>
              </a:rPr>
              <a:t>A better layout for the Assa Abloy warehouse, run by DHL 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What's in the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products stored and how much stock is on site (3 months of 2025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Different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used (peak)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Products with 1 pallet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Stock over 1 year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~3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→ shipped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different products</a:t>
            </a:r>
            <a:r>
              <a:rPr sz="1250" b="0">
                <a:solidFill>
                  <a:srgbClr val="262626"/>
                </a:solidFill>
                <a:latin typeface="Calibri"/>
              </a:rPr>
              <a:t> in 11 groups (locks, cylinders, fittings…)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Most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item is about the size of a coffee mug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sold as single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full boxes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 full pallet holds ~1,000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weighs ~431 kg on average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products are hazardous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must be kept apart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At the busiest moment, ~8,500 pallet spaces were in use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this is our real storage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(~11,000 pallets fit in those spaces — some spaces hold two)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Stock is growing: pallet spaces rose ~8% in 3 months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we must leave room to grow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73% of products need only one 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lots of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Same stock spread over more spaces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space is being wasted today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How customers order tells us the best way to pick — not how DHL did it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(3 months)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for 1 product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Pieces in a typical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customers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One "line" = one product on an order</a:t>
            </a:r>
            <a:r>
              <a:rPr sz="1250" b="0">
                <a:solidFill>
                  <a:srgbClr val="262626"/>
                </a:solidFill>
                <a:latin typeface="Calibri"/>
              </a:rPr>
              <a:t> (39,069 lines in total)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Half of all orders (50.5%) are for a single product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Orders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line is ~5 pieces, far below a full pallet (~1,000)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Customers across NL, Belgium, Germany, France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an NL hub for Western Europe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So how should we pick?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Lots of small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let pickers collect several orders in one trip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single pieces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keep best-sellers in a small, easy-to-reach picking area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picking is rarely needed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base this on the orders themselves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on how DHL happened to do it before — so the 20% of unlabelled picks don't affect our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Which Products Sell the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We ranked every product by how often it's actually ordered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pic>
        <p:nvPicPr>
          <p:cNvPr id="9" name="Picture 8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94" y="1783080"/>
            <a:ext cx="5355291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1783080"/>
            <a:ext cx="4892040" cy="21488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02552" y="1892807"/>
            <a:ext cx="118872" cy="19293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80/20 rule — even stronger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386584"/>
            <a:ext cx="4389120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the stars: 13%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80% of what ships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steady: 20%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slow: 67%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only 5%</a:t>
            </a:r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254" y="4069080"/>
            <a:ext cx="308721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Today only about half the products are stored by how often they sell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many best-sellers sit far from the door. They should move closer.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Busy Days vs Normal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warehouse must cope with the busiest days, not just the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 NORMAL DAY VS THE BUSIEST DAY</a:t>
            </a:r>
          </a:p>
        </p:txBody>
      </p:sp>
      <p:pic>
        <p:nvPicPr>
          <p:cNvPr id="10" name="Picture 9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4" y="2011680"/>
            <a:ext cx="4793370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89204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Pieces are shown ÷100 so all four bars fit on one scale.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THE NUMBERS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2011680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Normal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Busiest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much more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Pieces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2.9×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46520" y="3977639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Plan for the busy days. </a:t>
            </a:r>
            <a:r>
              <a:rPr sz="1250" b="0">
                <a:solidFill>
                  <a:srgbClr val="262626"/>
                </a:solidFill>
                <a:latin typeface="Calibri"/>
              </a:rPr>
              <a:t>On the busiest day the warehouse shipped nearly 3× the usual pieces, so it needs spare capacity.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weeks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262626"/>
                </a:solidFill>
                <a:latin typeface="Calibri"/>
              </a:rPr>
              <a:t>The busiest week handled </a:t>
            </a: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vs ~2,791 normally — a busy spell, not just one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times of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Picking is busiest around 08:00.</a:t>
            </a:r>
            <a:r>
              <a:rPr sz="1150" b="0">
                <a:solidFill>
                  <a:srgbClr val="262626"/>
                </a:solidFill>
                <a:latin typeface="Calibri"/>
              </a:rPr>
              <a:t> The warehouse runs Mon–Fri, no weekends.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How Much Storage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the warehouse on solid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at peak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Spaces we'll build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high (up to 12.2 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we sized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The busiest day used ~8,500 pallet spaces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that's the real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plan for ~9,500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so racks are never 100% full (easier to work)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Growth is handled by tall racks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by adding a big safety number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This replaces our earlier 14,074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too high, per the feedback</a:t>
            </a:r>
          </a:p>
        </p:txBody>
      </p:sp>
      <p:pic>
        <p:nvPicPr>
          <p:cNvPr id="22" name="Picture 21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21" y="2926080"/>
            <a:ext cx="4471277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Floor space each storage style needs vs the 7,000 m² limit.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Two-deep racking fills only ~61% of the space</a:t>
            </a:r>
            <a:r>
              <a:rPr sz="1300" b="0">
                <a:solidFill>
                  <a:srgbClr val="262626"/>
                </a:solidFill>
                <a:latin typeface="Calibri"/>
              </a:rPr>
              <a:t> — plenty of room. So we choose on efficiency, not just fitting 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Three Options — and Why We Pick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Every choice works together across the whole warehouse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Keep it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Normal racks, narrow aisles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 orders one by 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~72% of the space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Cheapest, but most walking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Best balance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Two-deep racks + fast-pick area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Pickers work zones, many orders/trip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~61%, room to 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mix of space &amp;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Very narrow aisles + machines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Machines bring items to pickers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~48% (tightest)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Most expensive &amp; complex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WHAT WE FOUND → WHAT WE DECIDED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Many slow sellers + need room to grow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Store pallets two-deep — saves space, less walking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Lots of single pieces and small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A small fast-pick area near the door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Best-sellers stored in the wrong 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Put the most-ordered items closest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Half of orders are for one product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Pickers collect several orders per trip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Some hazardous and some very long items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Separate area + special long-item racks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Busiest day ~3× the average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Size the pack &amp; ship area for busy 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Our Recommended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full floor plan, drawn to scale, showing how goods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pic>
        <p:nvPicPr>
          <p:cNvPr id="9" name="Picture 8" descr="layou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684" y="1417320"/>
            <a:ext cx="5463110" cy="5212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Two-deep racks for the many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Special racks for odd or long items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A fast-pick area for the best-sellers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Goods-in, returns, packing, shipping, offices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goods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In → put away → refill → pick → pack → out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Best-sellers picked from the fast-pick area up front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Goods-in and goods-out at opposite ends</a:t>
            </a:r>
            <a:r>
              <a:rPr sz="1130" b="0">
                <a:solidFill>
                  <a:srgbClr val="262626"/>
                </a:solidFill>
                <a:latin typeface="Calibri"/>
              </a:rPr>
              <a:t> → simple, straight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Uses 6,541 m² (93% of the limit)</a:t>
            </a:r>
            <a:r>
              <a:rPr sz="1130" b="0">
                <a:solidFill>
                  <a:srgbClr val="262626"/>
                </a:solidFill>
                <a:latin typeface="Calibri"/>
              </a:rPr>
              <a:t>, with room to grow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