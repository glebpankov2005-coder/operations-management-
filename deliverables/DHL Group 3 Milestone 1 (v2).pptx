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754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h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196" y="1737360"/>
            <a:ext cx="2187702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30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687" y="173736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62626"/>
                </a:solidFill>
                <a:latin typeface="Calibri"/>
              </a:rPr>
              <a:t>Warehouse Design — Milestone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Deliverable 1 · Analysis &amp; Design Direction   ·   </a:t>
            </a:r>
            <a:r>
              <a:rPr sz="1400" b="0">
                <a:solidFill>
                  <a:srgbClr val="595959"/>
                </a:solidFill>
                <a:latin typeface="Calibri"/>
              </a:rPr>
              <a:t>Assa Abloy operation, DHL Supply Chain Bemmel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Gleb  ·  Rachel Selvarathnam  ·  Arnau  ·  Vidhi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72887" y="4297680"/>
            <a:ext cx="1645920" cy="457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SKU &amp; Inventory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Warehouse profile — Assa Abloy operation, DHL Supply Chain Bemmel  |  Q2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5,291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SKUs in stock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5496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Peak pallet positions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SKUs with 1 load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631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1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21%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1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Loads &gt; 1 year 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199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78.3 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Average lead time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Inventory &amp; storage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5,291 SKUs</a:t>
            </a:r>
            <a:r>
              <a:rPr sz="1250" b="0">
                <a:solidFill>
                  <a:srgbClr val="262626"/>
                </a:solidFill>
                <a:latin typeface="Calibri"/>
              </a:rPr>
              <a:t> across 11 product families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3,115 have a case pack; </a:t>
            </a:r>
            <a:r>
              <a:rPr sz="1250" b="1">
                <a:solidFill>
                  <a:srgbClr val="262626"/>
                </a:solidFill>
                <a:latin typeface="Calibri"/>
              </a:rPr>
              <a:t>2,176 (41%) are each-only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real each-pick demand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Small items: </a:t>
            </a:r>
            <a:r>
              <a:rPr sz="1250" b="1">
                <a:solidFill>
                  <a:srgbClr val="262626"/>
                </a:solidFill>
                <a:latin typeface="Calibri"/>
              </a:rPr>
              <a:t>median volume 0.0005 m³ (~500 cm³)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Median 1,000 units/pallet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; median pallet weight </a:t>
            </a:r>
            <a:r>
              <a:rPr sz="1250" b="1">
                <a:solidFill>
                  <a:srgbClr val="262626"/>
                </a:solidFill>
                <a:latin typeface="Calibri"/>
              </a:rPr>
              <a:t>431 kg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Pallet types: </a:t>
            </a:r>
            <a:r>
              <a:rPr sz="1250" b="1">
                <a:solidFill>
                  <a:srgbClr val="262626"/>
                </a:solidFill>
                <a:latin typeface="Calibri"/>
              </a:rPr>
              <a:t>EURO 2,864, K3 2,040, XLONG 168</a:t>
            </a:r>
            <a:r>
              <a:rPr sz="1250" b="0">
                <a:solidFill>
                  <a:srgbClr val="262626"/>
                </a:solidFill>
                <a:latin typeface="Calibri"/>
              </a:rPr>
              <a:t> (+K1/K2/K5/CONS)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138 hazardous SKUs</a:t>
            </a:r>
            <a:r>
              <a:rPr sz="1250" b="0">
                <a:solidFill>
                  <a:srgbClr val="262626"/>
                </a:solidFill>
                <a:latin typeface="Calibri"/>
              </a:rPr>
              <a:t> need segregation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Storage-position requirement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Occupied locations grew </a:t>
            </a:r>
            <a:r>
              <a:rPr sz="1250" b="1">
                <a:solidFill>
                  <a:srgbClr val="262626"/>
                </a:solidFill>
                <a:latin typeface="Calibri"/>
              </a:rPr>
              <a:t>7,715 → 8,512</a:t>
            </a:r>
            <a:r>
              <a:rPr sz="1250" b="0">
                <a:solidFill>
                  <a:srgbClr val="262626"/>
                </a:solidFill>
                <a:latin typeface="Calibri"/>
              </a:rPr>
              <a:t> (Apr→Jun); cube +15%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Peak pallet positions ≈ 8,512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the storage baseline (not the 11,015 loads)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72.7% of SKUs occupy a single load</a:t>
            </a:r>
            <a:r>
              <a:rPr sz="1250" b="0">
                <a:solidFill>
                  <a:srgbClr val="262626"/>
                </a:solidFill>
                <a:latin typeface="Calibri"/>
              </a:rPr>
              <a:t>; median 1 load/SKU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Stock flat ~2.9M units while loads rose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some positions under-utilised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11,015 loads across 8,512 locations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some already hold &gt;1 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Order &amp; Picking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Pick method chosen from the client's orders — not past DHL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8,781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(Q2)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39,069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Single-line orders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Median units /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What the orders look like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8,781 orders · 39,069 lines</a:t>
            </a:r>
            <a:r>
              <a:rPr sz="1250" b="0">
                <a:solidFill>
                  <a:srgbClr val="262626"/>
                </a:solidFill>
                <a:latin typeface="Calibri"/>
              </a:rPr>
              <a:t> over the quarter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50.5% single-line orders</a:t>
            </a:r>
            <a:r>
              <a:rPr sz="1250" b="0">
                <a:solidFill>
                  <a:srgbClr val="262626"/>
                </a:solidFill>
                <a:latin typeface="Calibri"/>
              </a:rPr>
              <a:t>; </a:t>
            </a:r>
            <a:r>
              <a:rPr sz="1250" b="1">
                <a:solidFill>
                  <a:srgbClr val="262626"/>
                </a:solidFill>
                <a:latin typeface="Calibri"/>
              </a:rPr>
              <a:t>23.6% single-unit lines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small-order-heavy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Lines/order: median 1, mean 4.45</a:t>
            </a:r>
            <a:r>
              <a:rPr sz="1250" b="0">
                <a:solidFill>
                  <a:srgbClr val="262626"/>
                </a:solidFill>
                <a:latin typeface="Calibri"/>
              </a:rPr>
              <a:t>; units/line: median 5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Lines are small: </a:t>
            </a:r>
            <a:r>
              <a:rPr sz="1250" b="1">
                <a:solidFill>
                  <a:srgbClr val="262626"/>
                </a:solidFill>
                <a:latin typeface="Calibri"/>
              </a:rPr>
              <a:t>median 5 units/line vs ~1,000/pallet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case &amp; piece, not pallet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Channels NLD/EDC/BEL/DIRECT/AMADE — </a:t>
            </a:r>
            <a:r>
              <a:rPr sz="1250" b="1">
                <a:solidFill>
                  <a:srgbClr val="262626"/>
                </a:solidFill>
                <a:latin typeface="Calibri"/>
              </a:rPr>
              <a:t>an NL hub serving W-Europe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Pick method derived from demand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Many small / single-line orders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zone + batch/wave picking</a:t>
            </a:r>
            <a:r>
              <a:rPr sz="1250" b="0">
                <a:solidFill>
                  <a:srgbClr val="262626"/>
                </a:solidFill>
                <a:latin typeface="Calibri"/>
              </a:rPr>
              <a:t> (biggest labour lever)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Real each demand (41% each-only, median 5 u/line)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forward-pick module</a:t>
            </a:r>
            <a:r>
              <a:rPr sz="1250" b="0">
                <a:solidFill>
                  <a:srgbClr val="262626"/>
                </a:solidFill>
                <a:latin typeface="Calibri"/>
              </a:rPr>
              <a:t> for fast case/each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Full-pallet only where line qty ≈ pallet qty</a:t>
            </a:r>
            <a:r>
              <a:rPr sz="1250" b="0">
                <a:solidFill>
                  <a:srgbClr val="262626"/>
                </a:solidFill>
                <a:latin typeface="Calibri"/>
              </a:rPr>
              <a:t> (rare)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Decided from </a:t>
            </a:r>
            <a:r>
              <a:rPr sz="1250" b="1">
                <a:solidFill>
                  <a:srgbClr val="262626"/>
                </a:solidFill>
                <a:latin typeface="Calibri"/>
              </a:rPr>
              <a:t>order composition, not WMS pick-type flags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so the 20% unlabelled 'Other' does not drive the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Demand-Based ABC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Prioritising SKUs by actual outbound demand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pic>
        <p:nvPicPr>
          <p:cNvPr id="9" name="Picture 8" descr="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87" y="1783080"/>
            <a:ext cx="5593304" cy="4297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1783080"/>
            <a:ext cx="4892040" cy="196596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02552" y="1892807"/>
            <a:ext cx="118872" cy="174650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1929384"/>
            <a:ext cx="44348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ABC split (by demand)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386584"/>
            <a:ext cx="4389120" cy="123443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A — 13.0% of SKUs → </a:t>
            </a:r>
            <a:r>
              <a:rPr sz="1300" b="1">
                <a:solidFill>
                  <a:srgbClr val="262626"/>
                </a:solidFill>
                <a:latin typeface="Calibri"/>
              </a:rPr>
              <a:t>80.0% of demand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B — 19.7% of SKUs → </a:t>
            </a:r>
            <a:r>
              <a:rPr sz="1300" b="1">
                <a:solidFill>
                  <a:srgbClr val="262626"/>
                </a:solidFill>
                <a:latin typeface="Calibri"/>
              </a:rPr>
              <a:t>15.0% of demand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C — 67.3% of SKUs → </a:t>
            </a:r>
            <a:r>
              <a:rPr sz="1300" b="1">
                <a:solidFill>
                  <a:srgbClr val="262626"/>
                </a:solidFill>
                <a:latin typeface="Calibri"/>
              </a:rPr>
              <a:t>5.0% of demand</a:t>
            </a:r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663" y="3886200"/>
            <a:ext cx="3374393" cy="2148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40511"/>
                </a:solidFill>
                <a:latin typeface="Calibri"/>
              </a:rPr>
              <a:t>Only 48.6% of SKUs agree with the current WMS class</a:t>
            </a:r>
            <a:r>
              <a:rPr sz="1250" b="0">
                <a:solidFill>
                  <a:srgbClr val="262626"/>
                </a:solidFill>
                <a:latin typeface="Calibri"/>
              </a:rPr>
              <a:t> → fast movers still sit far from dispatch; re-slot to demand.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Peak Demand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34440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AVERAGE VS PEAK, BY METRIC</a:t>
            </a:r>
          </a:p>
        </p:txBody>
      </p:sp>
      <p:pic>
        <p:nvPicPr>
          <p:cNvPr id="8" name="Picture 7" descr="pea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13" y="1600200"/>
            <a:ext cx="5402052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5486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Units shown ÷100 so all four metrics sit on a comparable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PEAK ACTIVITY DETAIL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46520" y="1627632"/>
          <a:ext cx="5166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37260"/>
                <a:gridCol w="937260"/>
                <a:gridCol w="937260"/>
                <a:gridCol w="93726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Average/day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Peak/day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Peak÷Avg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 date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 lines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1,171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1.83×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Units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22,269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63,469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2.85×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1.74×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Shipments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46520" y="3611880"/>
            <a:ext cx="516636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Calibri"/>
              </a:rPr>
              <a:t>Design to peak, not average. </a:t>
            </a:r>
            <a:r>
              <a:rPr sz="1250" b="0">
                <a:solidFill>
                  <a:srgbClr val="262626"/>
                </a:solidFill>
                <a:latin typeface="Calibri"/>
              </a:rPr>
              <a:t>Units peak 2.85× vs order lines 1.83× — sizing on lines alone understates pick/pack and MHE surges.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Weekly peak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3,563 lines</a:t>
            </a:r>
            <a:r>
              <a:rPr sz="1150" b="0">
                <a:solidFill>
                  <a:srgbClr val="262626"/>
                </a:solidFill>
                <a:latin typeface="Calibri"/>
              </a:rPr>
              <a:t> in the week of 01-Jun vs ~2,791 average — a sustained surge, not one spike 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5352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Intraday peak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Picking peaks ~08:00</a:t>
            </a:r>
            <a:r>
              <a:rPr sz="1150" b="0">
                <a:solidFill>
                  <a:srgbClr val="262626"/>
                </a:solidFill>
                <a:latin typeface="Calibri"/>
              </a:rPr>
              <a:t>. Mon–Fri only (no weekend); weekday volumes otherwise even.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Storage Sizing &amp;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Sizing to the defensible pallet-position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Peak positions (occupied)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~9,500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Design target (÷90% util.)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5664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Levels under 12.2 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17520"/>
            <a:ext cx="5029200" cy="251460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127248"/>
            <a:ext cx="118872" cy="229514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63824"/>
            <a:ext cx="4572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Position basis (corrected)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621024"/>
            <a:ext cx="4526280" cy="1783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Baseline = peak occupied locations ≈ 8,512</a:t>
            </a:r>
            <a:r>
              <a:rPr sz="1250" b="0">
                <a:solidFill>
                  <a:srgbClr val="262626"/>
                </a:solidFill>
                <a:latin typeface="Calibri"/>
              </a:rPr>
              <a:t> (not the 11,015 loads)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Design provision ≈ 9,500</a:t>
            </a:r>
            <a:r>
              <a:rPr sz="1250" b="0">
                <a:solidFill>
                  <a:srgbClr val="262626"/>
                </a:solidFill>
                <a:latin typeface="Calibri"/>
              </a:rPr>
              <a:t> at 90% working utilisation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+8.2%/qtr growth </a:t>
            </a:r>
            <a:r>
              <a:rPr sz="1250" b="1">
                <a:solidFill>
                  <a:srgbClr val="262626"/>
                </a:solidFill>
                <a:latin typeface="Calibri"/>
              </a:rPr>
              <a:t>absorbed by rack headroom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an inflated count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Retires the earlier 14,074 figure</a:t>
            </a:r>
            <a:r>
              <a:rPr sz="1250" b="0">
                <a:solidFill>
                  <a:srgbClr val="262626"/>
                </a:solidFill>
                <a:latin typeface="Calibri"/>
              </a:rPr>
              <a:t> (indefensible +5,574 buffer)</a:t>
            </a:r>
          </a:p>
        </p:txBody>
      </p:sp>
      <p:pic>
        <p:nvPicPr>
          <p:cNvPr id="22" name="Picture 21" descr="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847" y="2926080"/>
            <a:ext cx="4487625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5504688"/>
            <a:ext cx="576072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Storage + 35% functional allowance, scaled to ~9,500 positions.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806440"/>
            <a:ext cx="10881360" cy="658368"/>
          </a:xfrm>
          <a:prstGeom prst="roundRect">
            <a:avLst>
              <a:gd name="adj" fmla="val 14000"/>
            </a:avLst>
          </a:prstGeom>
          <a:solidFill>
            <a:srgbClr val="FFCC00"/>
          </a:solidFill>
          <a:ln>
            <a:noFill/>
          </a:ln>
          <a:effectLst>
            <a:outerShdw blurRad="70000" dist="38000" dir="5400000" rotWithShape="0">
              <a:srgbClr val="9AA0A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424160" cy="65836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Even without a growth buffer, double-deep uses only ~61% of the envelope</a:t>
            </a:r>
            <a:r>
              <a:rPr sz="1300" b="0">
                <a:solidFill>
                  <a:srgbClr val="262626"/>
                </a:solidFill>
                <a:latin typeface="Calibri"/>
              </a:rPr>
              <a:t> → ample headroom; the choice is driven by productivity, not just fit.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Design Options &amp; Why Option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Aligned choices across receiving, storage, picking &amp; shipping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A — Conventional+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Narrow-aisle selective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Discrete + batch picking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≈72% of envelope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Lowest CAPEX · most travel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64408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FF7DB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355848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355848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B — Hybrid Density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21608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Double-deep + forward pick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Zone + batch/wave picking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≈61% of envelope · room to grow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Best space/productivity balance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91456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882896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882896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C — Semi-Automated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VNA + automated smalls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Goods-to-person / PTL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≈48% of envelope (densest)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Highest CAPEX &amp; complexity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1691639"/>
            <a:ext cx="7498079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WHY OPTION B — DATA FINDING → DESIGN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2140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73% single-load C tail + growth headroom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12140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212140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219456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12140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Double-deep reserve — dense, few aisles, low travel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2779776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779776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41% each-only, small lines &amp;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779776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2779776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28529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779776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Forward-pick module (carton-flow) for fast case/each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3438144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3438144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Only 48.6% ABC agreement with WMS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3438144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07808" y="3438144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9520" y="3511296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3438144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Demand-based velocity slotting (golden zone)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0" y="4096512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24528" y="4096512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50% single-line orders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096512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7808" y="4096512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589520" y="4169664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96512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Zone + batch/wave picking — biggest labour lever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4754879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4528" y="4754879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138 hazardous + 168 XLONG pallets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754879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07808" y="4754879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589520" y="4828031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4754879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Segregation + cantilever for long goods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0" y="541324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4528" y="541324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Peak 2.85× units vs average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541324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07808" y="541324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89520" y="54864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0" y="541324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Pick/pack area &amp; MHE sized to peak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Recommended Layout — Option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Rack-level floor plan with full order flow, to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pic>
        <p:nvPicPr>
          <p:cNvPr id="9" name="Picture 8" descr="order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683" y="1600200"/>
            <a:ext cx="6610552" cy="4937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173736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11312" y="184708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88366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Zoning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34086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Double-deep reserve (A/B) for the C tail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Selective + cantilever for irregular / XLONG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Forward-pick module for A/B fast movers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Receiving · Returns/VAS · Pack · Ship · Offices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431596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435254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Flow &amp; 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0974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Receive → putaway → replenish → pick → pack → ship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Returns (7–9) and cross-dock handled separately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3 receiving + 3 shipping docks</a:t>
            </a:r>
            <a:r>
              <a:rPr sz="1130" b="0">
                <a:solidFill>
                  <a:srgbClr val="262626"/>
                </a:solidFill>
                <a:latin typeface="Calibri"/>
              </a:rPr>
              <a:t>, opposite ends → straight-through flow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6,541 m² footprint</a:t>
            </a:r>
            <a:r>
              <a:rPr sz="1130" b="0">
                <a:solidFill>
                  <a:srgbClr val="262626"/>
                </a:solidFill>
                <a:latin typeface="Calibri"/>
              </a:rPr>
              <a:t> (93%); ~9,500 positions with headroom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